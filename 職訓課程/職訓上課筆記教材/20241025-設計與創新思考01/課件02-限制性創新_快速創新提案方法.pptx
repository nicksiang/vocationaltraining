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7" r:id="rId1"/>
  </p:sldMasterIdLst>
  <p:sldIdLst>
    <p:sldId id="256" r:id="rId2"/>
    <p:sldId id="257" r:id="rId3"/>
    <p:sldId id="287" r:id="rId4"/>
    <p:sldId id="289" r:id="rId5"/>
    <p:sldId id="290" r:id="rId6"/>
    <p:sldId id="291" r:id="rId7"/>
    <p:sldId id="292" r:id="rId8"/>
    <p:sldId id="258" r:id="rId9"/>
    <p:sldId id="259" r:id="rId10"/>
    <p:sldId id="294" r:id="rId11"/>
    <p:sldId id="270" r:id="rId12"/>
    <p:sldId id="274" r:id="rId13"/>
    <p:sldId id="277" r:id="rId14"/>
    <p:sldId id="260" r:id="rId15"/>
    <p:sldId id="285" r:id="rId16"/>
    <p:sldId id="281" r:id="rId17"/>
    <p:sldId id="280" r:id="rId18"/>
    <p:sldId id="272" r:id="rId19"/>
    <p:sldId id="267" r:id="rId20"/>
    <p:sldId id="261" r:id="rId21"/>
    <p:sldId id="282" r:id="rId22"/>
    <p:sldId id="279" r:id="rId23"/>
    <p:sldId id="275" r:id="rId24"/>
    <p:sldId id="268" r:id="rId25"/>
    <p:sldId id="264" r:id="rId26"/>
    <p:sldId id="262" r:id="rId27"/>
    <p:sldId id="266" r:id="rId28"/>
    <p:sldId id="263" r:id="rId29"/>
    <p:sldId id="276" r:id="rId30"/>
    <p:sldId id="271" r:id="rId31"/>
    <p:sldId id="269" r:id="rId32"/>
    <p:sldId id="265" r:id="rId33"/>
    <p:sldId id="283" r:id="rId34"/>
    <p:sldId id="284" r:id="rId35"/>
    <p:sldId id="278" r:id="rId36"/>
    <p:sldId id="293" r:id="rId3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2" d="100"/>
          <a:sy n="72" d="100"/>
        </p:scale>
        <p:origin x="81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zh-TW" altLang="en-US"/>
              <a:t>按一下以編輯母片標題樣式</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zh-TW" altLang="en-US"/>
              <a:t>按一下以編輯母片副標題樣式</a:t>
            </a:r>
            <a:endParaRPr lang="en-US" dirty="0"/>
          </a:p>
        </p:txBody>
      </p:sp>
      <p:sp>
        <p:nvSpPr>
          <p:cNvPr id="4" name="Date Placeholder 3"/>
          <p:cNvSpPr>
            <a:spLocks noGrp="1"/>
          </p:cNvSpPr>
          <p:nvPr>
            <p:ph type="dt" sz="half" idx="10"/>
          </p:nvPr>
        </p:nvSpPr>
        <p:spPr/>
        <p:txBody>
          <a:bodyPr/>
          <a:lstStyle>
            <a:lvl1pPr algn="l">
              <a:defRPr/>
            </a:lvl1pPr>
          </a:lstStyle>
          <a:p>
            <a:fld id="{BA033194-052E-4CE9-885F-A340CE8D4AE7}" type="datetimeFigureOut">
              <a:rPr lang="zh-TW" altLang="en-US" smtClean="0"/>
              <a:t>2020/9/17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83C81BD-71D4-4777-B01F-9A367A1995D1}" type="slidenum">
              <a:rPr lang="zh-TW" altLang="en-US" smtClean="0"/>
              <a:t>‹#›</a:t>
            </a:fld>
            <a:endParaRPr lang="zh-TW" alt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04408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BA033194-052E-4CE9-885F-A340CE8D4AE7}" type="datetimeFigureOut">
              <a:rPr lang="zh-TW" altLang="en-US" smtClean="0"/>
              <a:t>2020/9/17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83C81BD-71D4-4777-B01F-9A367A1995D1}" type="slidenum">
              <a:rPr lang="zh-TW" altLang="en-US" smtClean="0"/>
              <a:t>‹#›</a:t>
            </a:fld>
            <a:endParaRPr lang="zh-TW" altLang="en-US"/>
          </a:p>
        </p:txBody>
      </p:sp>
    </p:spTree>
    <p:extLst>
      <p:ext uri="{BB962C8B-B14F-4D97-AF65-F5344CB8AC3E}">
        <p14:creationId xmlns:p14="http://schemas.microsoft.com/office/powerpoint/2010/main" val="3975228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zh-TW" altLang="en-US"/>
              <a:t>按一下以編輯母片標題樣式</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BA033194-052E-4CE9-885F-A340CE8D4AE7}" type="datetimeFigureOut">
              <a:rPr lang="zh-TW" altLang="en-US" smtClean="0"/>
              <a:t>2020/9/17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83C81BD-71D4-4777-B01F-9A367A1995D1}" type="slidenum">
              <a:rPr lang="zh-TW" altLang="en-US" smtClean="0"/>
              <a:t>‹#›</a:t>
            </a:fld>
            <a:endParaRPr lang="zh-TW" alt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2294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BA033194-052E-4CE9-885F-A340CE8D4AE7}" type="datetimeFigureOut">
              <a:rPr lang="zh-TW" altLang="en-US" smtClean="0"/>
              <a:t>2020/9/17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83C81BD-71D4-4777-B01F-9A367A1995D1}" type="slidenum">
              <a:rPr lang="zh-TW" altLang="en-US" smtClean="0"/>
              <a:t>‹#›</a:t>
            </a:fld>
            <a:endParaRPr lang="zh-TW" altLang="en-US"/>
          </a:p>
        </p:txBody>
      </p:sp>
    </p:spTree>
    <p:extLst>
      <p:ext uri="{BB962C8B-B14F-4D97-AF65-F5344CB8AC3E}">
        <p14:creationId xmlns:p14="http://schemas.microsoft.com/office/powerpoint/2010/main" val="1702883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1024128" y="2967788"/>
            <a:ext cx="4754880" cy="3341572"/>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zh-TW" altLang="en-US"/>
              <a:t>編輯母片文字樣式</a:t>
            </a:r>
          </a:p>
        </p:txBody>
      </p:sp>
      <p:sp>
        <p:nvSpPr>
          <p:cNvPr id="6" name="Content Placeholder 5"/>
          <p:cNvSpPr>
            <a:spLocks noGrp="1"/>
          </p:cNvSpPr>
          <p:nvPr>
            <p:ph sz="quarter" idx="4"/>
          </p:nvPr>
        </p:nvSpPr>
        <p:spPr>
          <a:xfrm>
            <a:off x="5990888" y="2967788"/>
            <a:ext cx="4754880" cy="3341572"/>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BA033194-052E-4CE9-885F-A340CE8D4AE7}" type="datetimeFigureOut">
              <a:rPr lang="zh-TW" altLang="en-US" smtClean="0"/>
              <a:t>2020/9/17</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383C81BD-71D4-4777-B01F-9A367A1995D1}" type="slidenum">
              <a:rPr lang="zh-TW" altLang="en-US" smtClean="0"/>
              <a:t>‹#›</a:t>
            </a:fld>
            <a:endParaRPr lang="zh-TW" altLang="en-US"/>
          </a:p>
        </p:txBody>
      </p:sp>
    </p:spTree>
    <p:extLst>
      <p:ext uri="{BB962C8B-B14F-4D97-AF65-F5344CB8AC3E}">
        <p14:creationId xmlns:p14="http://schemas.microsoft.com/office/powerpoint/2010/main" val="3546745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BA033194-052E-4CE9-885F-A340CE8D4AE7}" type="datetimeFigureOut">
              <a:rPr lang="zh-TW" altLang="en-US" smtClean="0"/>
              <a:t>2020/9/17</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383C81BD-71D4-4777-B01F-9A367A1995D1}" type="slidenum">
              <a:rPr lang="zh-TW" altLang="en-US" smtClean="0"/>
              <a:t>‹#›</a:t>
            </a:fld>
            <a:endParaRPr lang="zh-TW" altLang="en-US"/>
          </a:p>
        </p:txBody>
      </p:sp>
    </p:spTree>
    <p:extLst>
      <p:ext uri="{BB962C8B-B14F-4D97-AF65-F5344CB8AC3E}">
        <p14:creationId xmlns:p14="http://schemas.microsoft.com/office/powerpoint/2010/main" val="3086836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033194-052E-4CE9-885F-A340CE8D4AE7}" type="datetimeFigureOut">
              <a:rPr lang="zh-TW" altLang="en-US" smtClean="0"/>
              <a:t>2020/9/17</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383C81BD-71D4-4777-B01F-9A367A1995D1}" type="slidenum">
              <a:rPr lang="zh-TW" altLang="en-US" smtClean="0"/>
              <a:t>‹#›</a:t>
            </a:fld>
            <a:endParaRPr lang="zh-TW" altLang="en-US"/>
          </a:p>
        </p:txBody>
      </p:sp>
    </p:spTree>
    <p:extLst>
      <p:ext uri="{BB962C8B-B14F-4D97-AF65-F5344CB8AC3E}">
        <p14:creationId xmlns:p14="http://schemas.microsoft.com/office/powerpoint/2010/main" val="1943904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zh-TW" altLang="en-US"/>
              <a:t>按一下以編輯母片標題樣式</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5" name="Date Placeholder 4"/>
          <p:cNvSpPr>
            <a:spLocks noGrp="1"/>
          </p:cNvSpPr>
          <p:nvPr>
            <p:ph type="dt" sz="half" idx="10"/>
          </p:nvPr>
        </p:nvSpPr>
        <p:spPr/>
        <p:txBody>
          <a:bodyPr/>
          <a:lstStyle/>
          <a:p>
            <a:fld id="{BA033194-052E-4CE9-885F-A340CE8D4AE7}" type="datetimeFigureOut">
              <a:rPr lang="zh-TW" altLang="en-US" smtClean="0"/>
              <a:t>2020/9/17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83C81BD-71D4-4777-B01F-9A367A1995D1}" type="slidenum">
              <a:rPr lang="zh-TW" altLang="en-US" smtClean="0"/>
              <a:t>‹#›</a:t>
            </a:fld>
            <a:endParaRPr lang="zh-TW" altLang="en-US"/>
          </a:p>
        </p:txBody>
      </p:sp>
    </p:spTree>
    <p:extLst>
      <p:ext uri="{BB962C8B-B14F-4D97-AF65-F5344CB8AC3E}">
        <p14:creationId xmlns:p14="http://schemas.microsoft.com/office/powerpoint/2010/main" val="24166772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BA033194-052E-4CE9-885F-A340CE8D4AE7}" type="datetimeFigureOut">
              <a:rPr lang="zh-TW" altLang="en-US" smtClean="0"/>
              <a:t>2020/9/17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83C81BD-71D4-4777-B01F-9A367A1995D1}" type="slidenum">
              <a:rPr lang="zh-TW" altLang="en-US" smtClean="0"/>
              <a:t>‹#›</a:t>
            </a:fld>
            <a:endParaRPr lang="zh-TW" alt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6150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BA033194-052E-4CE9-885F-A340CE8D4AE7}" type="datetimeFigureOut">
              <a:rPr lang="zh-TW" altLang="en-US" smtClean="0"/>
              <a:t>2020/9/17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83C81BD-71D4-4777-B01F-9A367A1995D1}" type="slidenum">
              <a:rPr lang="zh-TW" altLang="en-US" smtClean="0"/>
              <a:t>‹#›</a:t>
            </a:fld>
            <a:endParaRPr lang="zh-TW" altLang="en-US"/>
          </a:p>
        </p:txBody>
      </p:sp>
    </p:spTree>
    <p:extLst>
      <p:ext uri="{BB962C8B-B14F-4D97-AF65-F5344CB8AC3E}">
        <p14:creationId xmlns:p14="http://schemas.microsoft.com/office/powerpoint/2010/main" val="1595452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BA033194-052E-4CE9-885F-A340CE8D4AE7}" type="datetimeFigureOut">
              <a:rPr lang="zh-TW" altLang="en-US" smtClean="0"/>
              <a:t>2020/9/17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83C81BD-71D4-4777-B01F-9A367A1995D1}" type="slidenum">
              <a:rPr lang="zh-TW" altLang="en-US" smtClean="0"/>
              <a:t>‹#›</a:t>
            </a:fld>
            <a:endParaRPr lang="zh-TW" alt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3476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BA033194-052E-4CE9-885F-A340CE8D4AE7}" type="datetimeFigureOut">
              <a:rPr lang="zh-TW" altLang="en-US" smtClean="0"/>
              <a:t>2020/9/17</a:t>
            </a:fld>
            <a:endParaRPr lang="zh-TW" alt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zh-TW" alt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383C81BD-71D4-4777-B01F-9A367A1995D1}" type="slidenum">
              <a:rPr lang="zh-TW" altLang="en-US" smtClean="0"/>
              <a:t>‹#›</a:t>
            </a:fld>
            <a:endParaRPr lang="zh-TW" alt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673757"/>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hyperlink" Target="https://www.youtube.com/watch?v=tjJYxntEFRw"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dirty="0"/>
              <a:t>封閉性創新</a:t>
            </a:r>
            <a:br>
              <a:rPr lang="en-US" altLang="zh-TW" dirty="0"/>
            </a:br>
            <a:r>
              <a:rPr lang="zh-TW" altLang="en-US" dirty="0"/>
              <a:t>快速提案方法</a:t>
            </a:r>
          </a:p>
        </p:txBody>
      </p:sp>
      <p:sp>
        <p:nvSpPr>
          <p:cNvPr id="3" name="副標題 2"/>
          <p:cNvSpPr>
            <a:spLocks noGrp="1"/>
          </p:cNvSpPr>
          <p:nvPr>
            <p:ph type="subTitle" idx="1"/>
          </p:nvPr>
        </p:nvSpPr>
        <p:spPr>
          <a:xfrm>
            <a:off x="8610600" y="4960137"/>
            <a:ext cx="3422374" cy="1463040"/>
          </a:xfrm>
        </p:spPr>
        <p:txBody>
          <a:bodyPr>
            <a:noAutofit/>
          </a:bodyPr>
          <a:lstStyle/>
          <a:p>
            <a:r>
              <a:rPr lang="zh-TW" altLang="en-US" sz="2000" dirty="0"/>
              <a:t>白乃遠 老師</a:t>
            </a:r>
            <a:endParaRPr lang="en-US" altLang="zh-TW" sz="2000" dirty="0"/>
          </a:p>
          <a:p>
            <a:r>
              <a:rPr lang="en-US" altLang="zh-TW" sz="2000" dirty="0"/>
              <a:t>Line</a:t>
            </a:r>
            <a:r>
              <a:rPr lang="zh-TW" altLang="en-US" sz="2000" dirty="0"/>
              <a:t>：</a:t>
            </a:r>
            <a:r>
              <a:rPr lang="en-US" altLang="zh-TW" sz="2000" dirty="0" err="1"/>
              <a:t>billy_pai</a:t>
            </a:r>
            <a:endParaRPr lang="en-US" altLang="zh-TW" sz="2000" dirty="0"/>
          </a:p>
          <a:p>
            <a:r>
              <a:rPr lang="en-US" altLang="zh-TW" sz="2000" dirty="0"/>
              <a:t>FB</a:t>
            </a:r>
            <a:r>
              <a:rPr lang="zh-TW" altLang="en-US" sz="2000" dirty="0"/>
              <a:t>：</a:t>
            </a:r>
            <a:r>
              <a:rPr lang="en-US" altLang="zh-TW" sz="2000" dirty="0"/>
              <a:t>Pai</a:t>
            </a:r>
            <a:r>
              <a:rPr lang="zh-TW" altLang="en-US" sz="2000" dirty="0"/>
              <a:t> </a:t>
            </a:r>
            <a:r>
              <a:rPr lang="en-US" altLang="zh-TW" sz="2000" dirty="0"/>
              <a:t>Xiao Pai </a:t>
            </a:r>
          </a:p>
          <a:p>
            <a:r>
              <a:rPr lang="en-US" altLang="zh-TW" sz="2000" dirty="0"/>
              <a:t>Mail</a:t>
            </a:r>
            <a:r>
              <a:rPr lang="zh-TW" altLang="en-US" sz="2000" dirty="0"/>
              <a:t>：</a:t>
            </a:r>
            <a:r>
              <a:rPr lang="en-US" altLang="zh-TW" sz="2000" dirty="0"/>
              <a:t>billy_pai@hotmail.com</a:t>
            </a:r>
            <a:endParaRPr lang="zh-TW" altLang="en-US" sz="2000" dirty="0"/>
          </a:p>
        </p:txBody>
      </p:sp>
    </p:spTree>
    <p:extLst>
      <p:ext uri="{BB962C8B-B14F-4D97-AF65-F5344CB8AC3E}">
        <p14:creationId xmlns:p14="http://schemas.microsoft.com/office/powerpoint/2010/main" val="2091538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封閉性創新的原則</a:t>
            </a:r>
          </a:p>
        </p:txBody>
      </p:sp>
      <p:sp>
        <p:nvSpPr>
          <p:cNvPr id="3" name="內容版面配置區 2"/>
          <p:cNvSpPr>
            <a:spLocks noGrp="1"/>
          </p:cNvSpPr>
          <p:nvPr>
            <p:ph idx="1"/>
          </p:nvPr>
        </p:nvSpPr>
        <p:spPr/>
        <p:txBody>
          <a:bodyPr/>
          <a:lstStyle/>
          <a:p>
            <a:r>
              <a:rPr lang="en-US" altLang="zh-TW" dirty="0"/>
              <a:t>01.</a:t>
            </a:r>
            <a:r>
              <a:rPr lang="zh-TW" altLang="en-US" dirty="0"/>
              <a:t>用限制的概念思考，而非用自由的概念思考。</a:t>
            </a:r>
            <a:endParaRPr lang="en-US" altLang="zh-TW" dirty="0"/>
          </a:p>
          <a:p>
            <a:r>
              <a:rPr lang="en-US" altLang="zh-TW" dirty="0"/>
              <a:t>02.</a:t>
            </a:r>
            <a:r>
              <a:rPr lang="zh-TW" altLang="en-US" dirty="0"/>
              <a:t>用應用的概念思考，而非用發明的概念思考。</a:t>
            </a:r>
            <a:endParaRPr lang="en-US" altLang="zh-TW" dirty="0"/>
          </a:p>
          <a:p>
            <a:r>
              <a:rPr lang="en-US" altLang="zh-TW" dirty="0"/>
              <a:t>03.</a:t>
            </a:r>
            <a:r>
              <a:rPr lang="zh-TW" altLang="en-US" dirty="0"/>
              <a:t>用分析的概念思考，而非用直覺的概念思考。</a:t>
            </a:r>
            <a:endParaRPr lang="en-US" altLang="zh-TW" dirty="0"/>
          </a:p>
          <a:p>
            <a:r>
              <a:rPr lang="en-US" altLang="zh-TW" dirty="0"/>
              <a:t>04.</a:t>
            </a:r>
            <a:r>
              <a:rPr lang="zh-TW" altLang="en-US" dirty="0"/>
              <a:t>不是解決問題，而是用其他方法來應用更多問題 </a:t>
            </a:r>
            <a:r>
              <a:rPr lang="en-US" altLang="zh-TW" dirty="0"/>
              <a:t>(</a:t>
            </a:r>
            <a:r>
              <a:rPr lang="zh-TW" altLang="en-US" dirty="0"/>
              <a:t>重點</a:t>
            </a:r>
            <a:r>
              <a:rPr lang="en-US" altLang="zh-TW" dirty="0"/>
              <a:t>)</a:t>
            </a:r>
            <a:r>
              <a:rPr lang="zh-TW" altLang="en-US" dirty="0"/>
              <a:t>。</a:t>
            </a:r>
          </a:p>
        </p:txBody>
      </p:sp>
    </p:spTree>
    <p:extLst>
      <p:ext uri="{BB962C8B-B14F-4D97-AF65-F5344CB8AC3E}">
        <p14:creationId xmlns:p14="http://schemas.microsoft.com/office/powerpoint/2010/main" val="20124040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找出更有可能性的細節 </a:t>
            </a:r>
            <a:r>
              <a:rPr lang="en-US" altLang="zh-TW" dirty="0"/>
              <a:t>(</a:t>
            </a:r>
            <a:r>
              <a:rPr lang="zh-TW" altLang="en-US" dirty="0"/>
              <a:t>分析矩陣</a:t>
            </a:r>
            <a:r>
              <a:rPr lang="en-US" altLang="zh-TW" dirty="0"/>
              <a:t>)</a:t>
            </a:r>
            <a:endParaRPr lang="zh-TW" altLang="en-US" dirty="0"/>
          </a:p>
        </p:txBody>
      </p:sp>
      <p:sp>
        <p:nvSpPr>
          <p:cNvPr id="3" name="內容版面配置區 2"/>
          <p:cNvSpPr>
            <a:spLocks noGrp="1"/>
          </p:cNvSpPr>
          <p:nvPr>
            <p:ph idx="1"/>
          </p:nvPr>
        </p:nvSpPr>
        <p:spPr>
          <a:xfrm>
            <a:off x="838200" y="1549580"/>
            <a:ext cx="10515600" cy="4351338"/>
          </a:xfrm>
        </p:spPr>
        <p:txBody>
          <a:bodyPr/>
          <a:lstStyle/>
          <a:p>
            <a:r>
              <a:rPr lang="zh-TW" altLang="en-US" dirty="0"/>
              <a:t>作法：</a:t>
            </a:r>
            <a:endParaRPr lang="en-US" altLang="zh-TW" dirty="0"/>
          </a:p>
          <a:p>
            <a:r>
              <a:rPr lang="zh-TW" altLang="en-US" dirty="0"/>
              <a:t>以橫軸為應用專案 </a:t>
            </a:r>
            <a:r>
              <a:rPr lang="en-US" altLang="zh-TW" dirty="0"/>
              <a:t>(</a:t>
            </a:r>
            <a:r>
              <a:rPr lang="zh-TW" altLang="en-US" dirty="0"/>
              <a:t>食衣住行育樂</a:t>
            </a:r>
            <a:r>
              <a:rPr lang="en-US" altLang="zh-TW" dirty="0"/>
              <a:t>)</a:t>
            </a:r>
          </a:p>
          <a:p>
            <a:r>
              <a:rPr lang="zh-TW" altLang="en-US" dirty="0"/>
              <a:t>以縱軸為特性項目 </a:t>
            </a:r>
            <a:r>
              <a:rPr lang="en-US" altLang="zh-TW" dirty="0"/>
              <a:t>(</a:t>
            </a:r>
            <a:r>
              <a:rPr lang="zh-TW" altLang="en-US" dirty="0"/>
              <a:t>物理、化學、沾黏、重複性、單體、複體</a:t>
            </a:r>
            <a:r>
              <a:rPr lang="en-US" altLang="zh-TW" dirty="0"/>
              <a:t>)</a:t>
            </a:r>
          </a:p>
          <a:p>
            <a:r>
              <a:rPr lang="zh-TW" altLang="en-US" dirty="0"/>
              <a:t>矩陣分析法：筷子聯想</a:t>
            </a:r>
          </a:p>
        </p:txBody>
      </p:sp>
      <p:graphicFrame>
        <p:nvGraphicFramePr>
          <p:cNvPr id="4" name="表格 3"/>
          <p:cNvGraphicFramePr>
            <a:graphicFrameLocks noGrp="1"/>
          </p:cNvGraphicFramePr>
          <p:nvPr>
            <p:extLst>
              <p:ext uri="{D42A27DB-BD31-4B8C-83A1-F6EECF244321}">
                <p14:modId xmlns:p14="http://schemas.microsoft.com/office/powerpoint/2010/main" val="340097622"/>
              </p:ext>
            </p:extLst>
          </p:nvPr>
        </p:nvGraphicFramePr>
        <p:xfrm>
          <a:off x="4951562" y="3171877"/>
          <a:ext cx="5555411" cy="3453210"/>
        </p:xfrm>
        <a:graphic>
          <a:graphicData uri="http://schemas.openxmlformats.org/drawingml/2006/table">
            <a:tbl>
              <a:tblPr firstRow="1" firstCol="1" bandRow="1">
                <a:tableStyleId>{5C22544A-7EE6-4342-B048-85BDC9FD1C3A}</a:tableStyleId>
              </a:tblPr>
              <a:tblGrid>
                <a:gridCol w="925460">
                  <a:extLst>
                    <a:ext uri="{9D8B030D-6E8A-4147-A177-3AD203B41FA5}">
                      <a16:colId xmlns:a16="http://schemas.microsoft.com/office/drawing/2014/main" val="20000"/>
                    </a:ext>
                  </a:extLst>
                </a:gridCol>
                <a:gridCol w="1098971">
                  <a:extLst>
                    <a:ext uri="{9D8B030D-6E8A-4147-A177-3AD203B41FA5}">
                      <a16:colId xmlns:a16="http://schemas.microsoft.com/office/drawing/2014/main" val="20001"/>
                    </a:ext>
                  </a:extLst>
                </a:gridCol>
                <a:gridCol w="990667">
                  <a:extLst>
                    <a:ext uri="{9D8B030D-6E8A-4147-A177-3AD203B41FA5}">
                      <a16:colId xmlns:a16="http://schemas.microsoft.com/office/drawing/2014/main" val="20002"/>
                    </a:ext>
                  </a:extLst>
                </a:gridCol>
                <a:gridCol w="688067">
                  <a:extLst>
                    <a:ext uri="{9D8B030D-6E8A-4147-A177-3AD203B41FA5}">
                      <a16:colId xmlns:a16="http://schemas.microsoft.com/office/drawing/2014/main" val="20003"/>
                    </a:ext>
                  </a:extLst>
                </a:gridCol>
                <a:gridCol w="926123">
                  <a:extLst>
                    <a:ext uri="{9D8B030D-6E8A-4147-A177-3AD203B41FA5}">
                      <a16:colId xmlns:a16="http://schemas.microsoft.com/office/drawing/2014/main" val="20004"/>
                    </a:ext>
                  </a:extLst>
                </a:gridCol>
                <a:gridCol w="926123">
                  <a:extLst>
                    <a:ext uri="{9D8B030D-6E8A-4147-A177-3AD203B41FA5}">
                      <a16:colId xmlns:a16="http://schemas.microsoft.com/office/drawing/2014/main" val="20005"/>
                    </a:ext>
                  </a:extLst>
                </a:gridCol>
              </a:tblGrid>
              <a:tr h="218243">
                <a:tc>
                  <a:txBody>
                    <a:bodyPr/>
                    <a:lstStyle/>
                    <a:p>
                      <a:pPr>
                        <a:spcAft>
                          <a:spcPts val="0"/>
                        </a:spcAft>
                      </a:pPr>
                      <a:r>
                        <a:rPr lang="en-US" sz="1700" kern="100" dirty="0">
                          <a:effectLst/>
                        </a:rPr>
                        <a:t> </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zh-TW" sz="1700" kern="100" dirty="0">
                          <a:effectLst/>
                        </a:rPr>
                        <a:t>食</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zh-TW" sz="1700" kern="100" dirty="0">
                          <a:effectLst/>
                        </a:rPr>
                        <a:t>衣</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zh-TW" sz="1700" kern="100" dirty="0">
                          <a:effectLst/>
                        </a:rPr>
                        <a:t>住</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zh-TW" sz="1700" kern="100" dirty="0">
                          <a:effectLst/>
                        </a:rPr>
                        <a:t>行</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zh-TW" sz="1700" kern="100" dirty="0">
                          <a:effectLst/>
                        </a:rPr>
                        <a:t>樂</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extLst>
                  <a:ext uri="{0D108BD9-81ED-4DB2-BD59-A6C34878D82A}">
                    <a16:rowId xmlns:a16="http://schemas.microsoft.com/office/drawing/2014/main" val="10000"/>
                  </a:ext>
                </a:extLst>
              </a:tr>
              <a:tr h="280372">
                <a:tc>
                  <a:txBody>
                    <a:bodyPr/>
                    <a:lstStyle/>
                    <a:p>
                      <a:pPr>
                        <a:spcAft>
                          <a:spcPts val="0"/>
                        </a:spcAft>
                      </a:pPr>
                      <a:r>
                        <a:rPr lang="zh-TW" sz="1700" kern="100" dirty="0">
                          <a:effectLst/>
                        </a:rPr>
                        <a:t>單體</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zh-TW" sz="1700" kern="100" dirty="0">
                          <a:effectLst/>
                        </a:rPr>
                        <a:t>戳食物</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en-US" sz="1700" kern="100" dirty="0">
                          <a:effectLst/>
                        </a:rPr>
                        <a:t> </a:t>
                      </a:r>
                      <a:r>
                        <a:rPr lang="zh-TW" altLang="en-US" sz="1700" kern="100" dirty="0">
                          <a:effectLst/>
                        </a:rPr>
                        <a:t>熨燙線</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en-US" sz="1700" kern="100" dirty="0">
                          <a:effectLst/>
                        </a:rPr>
                        <a:t> </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en-US" sz="1700" kern="100" dirty="0">
                          <a:effectLst/>
                        </a:rPr>
                        <a:t> </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en-US" sz="1700" kern="100" dirty="0">
                          <a:effectLst/>
                        </a:rPr>
                        <a:t> </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extLst>
                  <a:ext uri="{0D108BD9-81ED-4DB2-BD59-A6C34878D82A}">
                    <a16:rowId xmlns:a16="http://schemas.microsoft.com/office/drawing/2014/main" val="10001"/>
                  </a:ext>
                </a:extLst>
              </a:tr>
              <a:tr h="841118">
                <a:tc>
                  <a:txBody>
                    <a:bodyPr/>
                    <a:lstStyle/>
                    <a:p>
                      <a:pPr>
                        <a:spcAft>
                          <a:spcPts val="0"/>
                        </a:spcAft>
                      </a:pPr>
                      <a:r>
                        <a:rPr lang="zh-TW" sz="1700" kern="100" dirty="0">
                          <a:effectLst/>
                        </a:rPr>
                        <a:t>複體</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zh-TW" sz="1700" kern="100" dirty="0">
                          <a:effectLst/>
                        </a:rPr>
                        <a:t>夾食物</a:t>
                      </a:r>
                      <a:endParaRPr lang="zh-TW" sz="1000" kern="100" dirty="0">
                        <a:effectLst/>
                      </a:endParaRPr>
                    </a:p>
                    <a:p>
                      <a:pPr>
                        <a:spcAft>
                          <a:spcPts val="0"/>
                        </a:spcAft>
                      </a:pPr>
                      <a:r>
                        <a:rPr lang="zh-TW" sz="1700" kern="100" dirty="0">
                          <a:effectLst/>
                        </a:rPr>
                        <a:t>夾不能吃的食物</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en-US" sz="1700" kern="100" dirty="0">
                          <a:effectLst/>
                        </a:rPr>
                        <a:t> </a:t>
                      </a:r>
                      <a:r>
                        <a:rPr lang="zh-TW" altLang="en-US" sz="1700" kern="100" dirty="0">
                          <a:effectLst/>
                        </a:rPr>
                        <a:t>衣架</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en-US" sz="1700" kern="100" dirty="0">
                          <a:effectLst/>
                        </a:rPr>
                        <a:t> </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en-US" sz="1700" kern="100" dirty="0">
                          <a:effectLst/>
                        </a:rPr>
                        <a:t> </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en-US" sz="1700" kern="100" dirty="0">
                          <a:effectLst/>
                        </a:rPr>
                        <a:t> </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extLst>
                  <a:ext uri="{0D108BD9-81ED-4DB2-BD59-A6C34878D82A}">
                    <a16:rowId xmlns:a16="http://schemas.microsoft.com/office/drawing/2014/main" val="10002"/>
                  </a:ext>
                </a:extLst>
              </a:tr>
              <a:tr h="654730">
                <a:tc>
                  <a:txBody>
                    <a:bodyPr/>
                    <a:lstStyle/>
                    <a:p>
                      <a:pPr>
                        <a:spcAft>
                          <a:spcPts val="0"/>
                        </a:spcAft>
                      </a:pPr>
                      <a:r>
                        <a:rPr lang="zh-TW" sz="1700" kern="100" dirty="0">
                          <a:effectLst/>
                        </a:rPr>
                        <a:t>物理應用</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zh-TW" sz="1700" kern="100" dirty="0">
                          <a:effectLst/>
                        </a:rPr>
                        <a:t>蒸籠架</a:t>
                      </a:r>
                      <a:endParaRPr lang="zh-TW" sz="1000" kern="100" dirty="0">
                        <a:effectLst/>
                      </a:endParaRPr>
                    </a:p>
                    <a:p>
                      <a:pPr>
                        <a:spcAft>
                          <a:spcPts val="0"/>
                        </a:spcAft>
                      </a:pPr>
                      <a:r>
                        <a:rPr lang="en-US" sz="1700" kern="100" dirty="0">
                          <a:effectLst/>
                        </a:rPr>
                        <a:t> </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en-US" sz="1700" kern="100" dirty="0">
                          <a:effectLst/>
                        </a:rPr>
                        <a:t> </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en-US" sz="1700" kern="100" dirty="0">
                          <a:effectLst/>
                        </a:rPr>
                        <a:t> </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en-US" sz="1700" kern="100" dirty="0">
                          <a:effectLst/>
                        </a:rPr>
                        <a:t> </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zh-TW" sz="1700" kern="100" dirty="0">
                          <a:effectLst/>
                        </a:rPr>
                        <a:t>飛鏢</a:t>
                      </a:r>
                      <a:endParaRPr lang="zh-TW" sz="1000" kern="100" dirty="0">
                        <a:effectLst/>
                      </a:endParaRPr>
                    </a:p>
                    <a:p>
                      <a:pPr>
                        <a:spcAft>
                          <a:spcPts val="0"/>
                        </a:spcAft>
                      </a:pPr>
                      <a:r>
                        <a:rPr lang="zh-TW" sz="1700" kern="100" dirty="0">
                          <a:effectLst/>
                        </a:rPr>
                        <a:t>兇器</a:t>
                      </a:r>
                      <a:endParaRPr lang="zh-TW" sz="1000" kern="100" dirty="0">
                        <a:effectLst/>
                      </a:endParaRPr>
                    </a:p>
                    <a:p>
                      <a:pPr>
                        <a:spcAft>
                          <a:spcPts val="0"/>
                        </a:spcAft>
                      </a:pPr>
                      <a:r>
                        <a:rPr lang="zh-TW" sz="1700" kern="100" dirty="0">
                          <a:effectLst/>
                        </a:rPr>
                        <a:t>夾具</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extLst>
                  <a:ext uri="{0D108BD9-81ED-4DB2-BD59-A6C34878D82A}">
                    <a16:rowId xmlns:a16="http://schemas.microsoft.com/office/drawing/2014/main" val="10003"/>
                  </a:ext>
                </a:extLst>
              </a:tr>
              <a:tr h="436487">
                <a:tc>
                  <a:txBody>
                    <a:bodyPr/>
                    <a:lstStyle/>
                    <a:p>
                      <a:pPr>
                        <a:spcAft>
                          <a:spcPts val="0"/>
                        </a:spcAft>
                      </a:pPr>
                      <a:r>
                        <a:rPr lang="zh-TW" sz="1700" kern="100" dirty="0">
                          <a:effectLst/>
                        </a:rPr>
                        <a:t>化學應用</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zh-TW" sz="1700" kern="100" dirty="0">
                          <a:effectLst/>
                        </a:rPr>
                        <a:t>燃料</a:t>
                      </a:r>
                      <a:endParaRPr lang="zh-TW" sz="1000" kern="100" dirty="0">
                        <a:effectLst/>
                      </a:endParaRPr>
                    </a:p>
                    <a:p>
                      <a:pPr>
                        <a:spcAft>
                          <a:spcPts val="0"/>
                        </a:spcAft>
                      </a:pPr>
                      <a:r>
                        <a:rPr lang="zh-TW" sz="1700" kern="100" dirty="0">
                          <a:effectLst/>
                        </a:rPr>
                        <a:t>碳筆</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en-US" sz="1700" kern="100" dirty="0">
                          <a:effectLst/>
                        </a:rPr>
                        <a:t> </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en-US" sz="1700" kern="100" dirty="0">
                          <a:effectLst/>
                        </a:rPr>
                        <a:t> </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en-US" sz="1700" kern="100" dirty="0">
                          <a:effectLst/>
                        </a:rPr>
                        <a:t> </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en-US" sz="1700" kern="100" dirty="0">
                          <a:effectLst/>
                        </a:rPr>
                        <a:t> </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extLst>
                  <a:ext uri="{0D108BD9-81ED-4DB2-BD59-A6C34878D82A}">
                    <a16:rowId xmlns:a16="http://schemas.microsoft.com/office/drawing/2014/main" val="10004"/>
                  </a:ext>
                </a:extLst>
              </a:tr>
              <a:tr h="283789">
                <a:tc>
                  <a:txBody>
                    <a:bodyPr/>
                    <a:lstStyle/>
                    <a:p>
                      <a:pPr>
                        <a:spcAft>
                          <a:spcPts val="0"/>
                        </a:spcAft>
                      </a:pPr>
                      <a:r>
                        <a:rPr lang="zh-TW" sz="1700" kern="100" dirty="0">
                          <a:effectLst/>
                        </a:rPr>
                        <a:t>結構應用</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en-US" sz="1700" kern="100" dirty="0">
                          <a:effectLst/>
                        </a:rPr>
                        <a:t> </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en-US" sz="1700" kern="100" dirty="0">
                          <a:effectLst/>
                        </a:rPr>
                        <a:t> </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en-US" sz="1700" kern="100" dirty="0">
                          <a:effectLst/>
                        </a:rPr>
                        <a:t> </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en-US" sz="1700" kern="100" dirty="0">
                          <a:effectLst/>
                        </a:rPr>
                        <a:t> </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en-US" sz="1700" kern="100" dirty="0">
                          <a:effectLst/>
                        </a:rPr>
                        <a:t> </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extLst>
                  <a:ext uri="{0D108BD9-81ED-4DB2-BD59-A6C34878D82A}">
                    <a16:rowId xmlns:a16="http://schemas.microsoft.com/office/drawing/2014/main" val="10005"/>
                  </a:ext>
                </a:extLst>
              </a:tr>
              <a:tr h="218243">
                <a:tc>
                  <a:txBody>
                    <a:bodyPr/>
                    <a:lstStyle/>
                    <a:p>
                      <a:pPr>
                        <a:spcAft>
                          <a:spcPts val="0"/>
                        </a:spcAft>
                      </a:pPr>
                      <a:r>
                        <a:rPr lang="zh-TW" sz="1700" kern="100" dirty="0">
                          <a:effectLst/>
                        </a:rPr>
                        <a:t>他用</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en-US" sz="1700" kern="100" dirty="0">
                          <a:effectLst/>
                        </a:rPr>
                        <a:t> </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en-US" sz="1700" kern="100" dirty="0">
                          <a:effectLst/>
                        </a:rPr>
                        <a:t> </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en-US" sz="1700" kern="100" dirty="0">
                          <a:effectLst/>
                        </a:rPr>
                        <a:t> </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en-US" sz="1700" kern="100" dirty="0">
                          <a:effectLst/>
                        </a:rPr>
                        <a:t> </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tc>
                  <a:txBody>
                    <a:bodyPr/>
                    <a:lstStyle/>
                    <a:p>
                      <a:pPr>
                        <a:spcAft>
                          <a:spcPts val="0"/>
                        </a:spcAft>
                      </a:pPr>
                      <a:r>
                        <a:rPr lang="en-US" sz="1700" kern="100" dirty="0">
                          <a:effectLst/>
                        </a:rPr>
                        <a:t> </a:t>
                      </a:r>
                      <a:endParaRPr lang="zh-TW" sz="1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7591" marR="57591"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341696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8514" name="Rectangle 2"/>
          <p:cNvSpPr>
            <a:spLocks noGrp="1" noRot="1" noChangeArrowheads="1"/>
          </p:cNvSpPr>
          <p:nvPr>
            <p:ph type="title"/>
          </p:nvPr>
        </p:nvSpPr>
        <p:spPr/>
        <p:txBody>
          <a:bodyPr/>
          <a:lstStyle/>
          <a:p>
            <a:r>
              <a:rPr lang="zh-TW" altLang="en-US" b="0" dirty="0">
                <a:solidFill>
                  <a:srgbClr val="FF0000"/>
                </a:solidFill>
                <a:effectLst/>
                <a:latin typeface="+mn-ea"/>
                <a:ea typeface="+mn-ea"/>
              </a:rPr>
              <a:t>筷子的應用</a:t>
            </a:r>
            <a:r>
              <a:rPr lang="en-US" altLang="zh-TW" b="0" dirty="0">
                <a:solidFill>
                  <a:srgbClr val="FF0000"/>
                </a:solidFill>
                <a:effectLst/>
                <a:latin typeface="+mn-ea"/>
                <a:ea typeface="+mn-ea"/>
              </a:rPr>
              <a:t>(</a:t>
            </a:r>
            <a:r>
              <a:rPr lang="zh-TW" altLang="en-US" b="0" dirty="0">
                <a:solidFill>
                  <a:srgbClr val="FF0000"/>
                </a:solidFill>
                <a:effectLst/>
                <a:latin typeface="+mn-ea"/>
                <a:ea typeface="+mn-ea"/>
              </a:rPr>
              <a:t>一</a:t>
            </a:r>
            <a:r>
              <a:rPr lang="en-US" altLang="zh-TW" b="0" dirty="0">
                <a:solidFill>
                  <a:srgbClr val="FF0000"/>
                </a:solidFill>
                <a:effectLst/>
                <a:latin typeface="+mn-ea"/>
                <a:ea typeface="+mn-ea"/>
              </a:rPr>
              <a:t>)</a:t>
            </a:r>
          </a:p>
        </p:txBody>
      </p:sp>
      <p:sp>
        <p:nvSpPr>
          <p:cNvPr id="1088516" name="Rectangle 4"/>
          <p:cNvSpPr>
            <a:spLocks noGrp="1" noChangeArrowheads="1"/>
          </p:cNvSpPr>
          <p:nvPr>
            <p:ph sz="half" idx="1"/>
          </p:nvPr>
        </p:nvSpPr>
        <p:spPr>
          <a:xfrm>
            <a:off x="2522541" y="2219062"/>
            <a:ext cx="3605212" cy="4525962"/>
          </a:xfrm>
        </p:spPr>
        <p:txBody>
          <a:bodyPr>
            <a:normAutofit/>
          </a:bodyPr>
          <a:lstStyle/>
          <a:p>
            <a:pPr>
              <a:buFont typeface="Wingdings" pitchFamily="2" charset="2"/>
              <a:buNone/>
            </a:pPr>
            <a:r>
              <a:rPr lang="en-US" altLang="zh-TW" dirty="0">
                <a:effectLst/>
                <a:latin typeface="Times New Roman" pitchFamily="18" charset="0"/>
                <a:ea typeface="標楷體" pitchFamily="65" charset="-120"/>
              </a:rPr>
              <a:t>1.</a:t>
            </a:r>
            <a:r>
              <a:rPr lang="zh-TW" altLang="en-US" dirty="0">
                <a:effectLst/>
                <a:latin typeface="Times New Roman" pitchFamily="18" charset="0"/>
                <a:ea typeface="標楷體" pitchFamily="65" charset="-120"/>
              </a:rPr>
              <a:t>當十字架</a:t>
            </a:r>
          </a:p>
          <a:p>
            <a:pPr>
              <a:buFont typeface="Wingdings" pitchFamily="2" charset="2"/>
              <a:buNone/>
            </a:pPr>
            <a:r>
              <a:rPr lang="en-US" altLang="zh-TW" dirty="0">
                <a:effectLst/>
                <a:latin typeface="Times New Roman" pitchFamily="18" charset="0"/>
                <a:ea typeface="標楷體" pitchFamily="65" charset="-120"/>
              </a:rPr>
              <a:t>2.</a:t>
            </a:r>
            <a:r>
              <a:rPr lang="zh-TW" altLang="en-US" dirty="0">
                <a:effectLst/>
                <a:latin typeface="Times New Roman" pitchFamily="18" charset="0"/>
                <a:ea typeface="標楷體" pitchFamily="65" charset="-120"/>
              </a:rPr>
              <a:t>鑽木取火</a:t>
            </a:r>
          </a:p>
          <a:p>
            <a:pPr>
              <a:buFont typeface="Wingdings" pitchFamily="2" charset="2"/>
              <a:buNone/>
            </a:pPr>
            <a:r>
              <a:rPr lang="en-US" altLang="zh-TW" dirty="0">
                <a:effectLst/>
                <a:latin typeface="Times New Roman" pitchFamily="18" charset="0"/>
                <a:ea typeface="標楷體" pitchFamily="65" charset="-120"/>
              </a:rPr>
              <a:t>3.</a:t>
            </a:r>
            <a:r>
              <a:rPr lang="zh-TW" altLang="en-US" dirty="0">
                <a:effectLst/>
                <a:latin typeface="Times New Roman" pitchFamily="18" charset="0"/>
                <a:ea typeface="標楷體" pitchFamily="65" charset="-120"/>
              </a:rPr>
              <a:t>串關東煮</a:t>
            </a:r>
          </a:p>
          <a:p>
            <a:pPr>
              <a:buFont typeface="Wingdings" pitchFamily="2" charset="2"/>
              <a:buNone/>
            </a:pPr>
            <a:r>
              <a:rPr lang="en-US" altLang="zh-TW" dirty="0">
                <a:effectLst/>
                <a:latin typeface="Times New Roman" pitchFamily="18" charset="0"/>
                <a:ea typeface="標楷體" pitchFamily="65" charset="-120"/>
              </a:rPr>
              <a:t>4.</a:t>
            </a:r>
            <a:r>
              <a:rPr lang="zh-TW" altLang="en-US" dirty="0">
                <a:effectLst/>
                <a:latin typeface="Times New Roman" pitchFamily="18" charset="0"/>
                <a:ea typeface="標楷體" pitchFamily="65" charset="-120"/>
              </a:rPr>
              <a:t>團結力量大之寓言</a:t>
            </a:r>
          </a:p>
          <a:p>
            <a:pPr>
              <a:buFont typeface="Wingdings" pitchFamily="2" charset="2"/>
              <a:buNone/>
            </a:pPr>
            <a:r>
              <a:rPr lang="en-US" altLang="zh-TW" dirty="0">
                <a:effectLst/>
                <a:latin typeface="Times New Roman" pitchFamily="18" charset="0"/>
                <a:ea typeface="標楷體" pitchFamily="65" charset="-120"/>
              </a:rPr>
              <a:t>5.</a:t>
            </a:r>
            <a:r>
              <a:rPr lang="zh-TW" altLang="en-US" dirty="0">
                <a:effectLst/>
                <a:latin typeface="Times New Roman" pitchFamily="18" charset="0"/>
                <a:ea typeface="標楷體" pitchFamily="65" charset="-120"/>
              </a:rPr>
              <a:t>技術超強之抓蒼蠅</a:t>
            </a:r>
          </a:p>
          <a:p>
            <a:pPr>
              <a:buFont typeface="Wingdings" pitchFamily="2" charset="2"/>
              <a:buNone/>
            </a:pPr>
            <a:r>
              <a:rPr lang="en-US" altLang="zh-TW" dirty="0">
                <a:effectLst/>
                <a:latin typeface="Times New Roman" pitchFamily="18" charset="0"/>
                <a:ea typeface="標楷體" pitchFamily="65" charset="-120"/>
              </a:rPr>
              <a:t>6.</a:t>
            </a:r>
            <a:r>
              <a:rPr lang="zh-TW" altLang="en-US" dirty="0">
                <a:effectLst/>
                <a:latin typeface="Times New Roman" pitchFamily="18" charset="0"/>
                <a:ea typeface="標楷體" pitchFamily="65" charset="-120"/>
              </a:rPr>
              <a:t>搔癢</a:t>
            </a:r>
          </a:p>
          <a:p>
            <a:pPr>
              <a:buFont typeface="Wingdings" pitchFamily="2" charset="2"/>
              <a:buNone/>
            </a:pPr>
            <a:r>
              <a:rPr lang="en-US" altLang="zh-TW" dirty="0">
                <a:effectLst/>
                <a:latin typeface="Times New Roman" pitchFamily="18" charset="0"/>
                <a:ea typeface="標楷體" pitchFamily="65" charset="-120"/>
              </a:rPr>
              <a:t>7.</a:t>
            </a:r>
            <a:r>
              <a:rPr lang="zh-TW" altLang="en-US" dirty="0">
                <a:effectLst/>
                <a:latin typeface="Times New Roman" pitchFamily="18" charset="0"/>
                <a:ea typeface="標楷體" pitchFamily="65" charset="-120"/>
              </a:rPr>
              <a:t>織毛線</a:t>
            </a:r>
          </a:p>
          <a:p>
            <a:pPr>
              <a:buFont typeface="Wingdings" pitchFamily="2" charset="2"/>
              <a:buNone/>
            </a:pPr>
            <a:r>
              <a:rPr lang="en-US" altLang="zh-TW" dirty="0">
                <a:effectLst/>
                <a:latin typeface="Times New Roman" pitchFamily="18" charset="0"/>
                <a:ea typeface="標楷體" pitchFamily="65" charset="-120"/>
              </a:rPr>
              <a:t>8.</a:t>
            </a:r>
            <a:r>
              <a:rPr lang="zh-TW" altLang="en-US" dirty="0">
                <a:effectLst/>
                <a:latin typeface="Times New Roman" pitchFamily="18" charset="0"/>
                <a:ea typeface="標楷體" pitchFamily="65" charset="-120"/>
              </a:rPr>
              <a:t>攪拌咖啡、牛奶</a:t>
            </a:r>
            <a:r>
              <a:rPr lang="en-US" altLang="zh-TW" dirty="0">
                <a:effectLst/>
                <a:latin typeface="Times New Roman" pitchFamily="18" charset="0"/>
                <a:ea typeface="標楷體" pitchFamily="65" charset="-120"/>
              </a:rPr>
              <a:t>…</a:t>
            </a:r>
          </a:p>
        </p:txBody>
      </p:sp>
      <p:sp>
        <p:nvSpPr>
          <p:cNvPr id="1088517" name="Rectangle 5"/>
          <p:cNvSpPr>
            <a:spLocks noGrp="1" noChangeArrowheads="1"/>
          </p:cNvSpPr>
          <p:nvPr>
            <p:ph sz="half" idx="2"/>
          </p:nvPr>
        </p:nvSpPr>
        <p:spPr>
          <a:xfrm>
            <a:off x="6429905" y="2084832"/>
            <a:ext cx="4105275" cy="4525963"/>
          </a:xfrm>
        </p:spPr>
        <p:txBody>
          <a:bodyPr>
            <a:normAutofit/>
          </a:bodyPr>
          <a:lstStyle/>
          <a:p>
            <a:pPr>
              <a:buFont typeface="Wingdings" pitchFamily="2" charset="2"/>
              <a:buNone/>
            </a:pPr>
            <a:r>
              <a:rPr lang="en-US" altLang="zh-TW" dirty="0">
                <a:effectLst/>
                <a:latin typeface="Times New Roman" pitchFamily="18" charset="0"/>
                <a:ea typeface="標楷體" pitchFamily="65" charset="-120"/>
              </a:rPr>
              <a:t>9.</a:t>
            </a:r>
            <a:r>
              <a:rPr lang="zh-TW" altLang="en-US" dirty="0">
                <a:effectLst/>
                <a:latin typeface="Times New Roman" pitchFamily="18" charset="0"/>
                <a:ea typeface="標楷體" pitchFamily="65" charset="-120"/>
              </a:rPr>
              <a:t>彈弓支架</a:t>
            </a:r>
          </a:p>
          <a:p>
            <a:pPr>
              <a:buFont typeface="Wingdings" pitchFamily="2" charset="2"/>
              <a:buNone/>
            </a:pPr>
            <a:r>
              <a:rPr lang="en-US" altLang="zh-TW" dirty="0">
                <a:effectLst/>
                <a:latin typeface="Times New Roman" pitchFamily="18" charset="0"/>
                <a:ea typeface="標楷體" pitchFamily="65" charset="-120"/>
              </a:rPr>
              <a:t>10.</a:t>
            </a:r>
            <a:r>
              <a:rPr lang="zh-TW" altLang="en-US" dirty="0">
                <a:effectLst/>
                <a:latin typeface="Times New Roman" pitchFamily="18" charset="0"/>
                <a:ea typeface="標楷體" pitchFamily="65" charset="-120"/>
              </a:rPr>
              <a:t>唱「滄海一聲笑」</a:t>
            </a:r>
          </a:p>
          <a:p>
            <a:pPr>
              <a:buFont typeface="Wingdings" pitchFamily="2" charset="2"/>
              <a:buNone/>
            </a:pPr>
            <a:r>
              <a:rPr lang="zh-TW" altLang="en-US" dirty="0">
                <a:effectLst/>
                <a:latin typeface="Times New Roman" pitchFamily="18" charset="0"/>
                <a:ea typeface="標楷體" pitchFamily="65" charset="-120"/>
              </a:rPr>
              <a:t>     敲杯伴奏</a:t>
            </a:r>
          </a:p>
          <a:p>
            <a:pPr>
              <a:buFont typeface="Wingdings" pitchFamily="2" charset="2"/>
              <a:buNone/>
            </a:pPr>
            <a:r>
              <a:rPr lang="en-US" altLang="zh-TW" dirty="0">
                <a:effectLst/>
                <a:latin typeface="Times New Roman" pitchFamily="18" charset="0"/>
                <a:ea typeface="標楷體" pitchFamily="65" charset="-120"/>
              </a:rPr>
              <a:t>11.</a:t>
            </a:r>
            <a:r>
              <a:rPr lang="zh-TW" altLang="en-US" dirty="0">
                <a:effectLst/>
                <a:latin typeface="Times New Roman" pitchFamily="18" charset="0"/>
                <a:ea typeface="標楷體" pitchFamily="65" charset="-120"/>
              </a:rPr>
              <a:t>指揮棒</a:t>
            </a:r>
          </a:p>
          <a:p>
            <a:pPr>
              <a:buFont typeface="Wingdings" pitchFamily="2" charset="2"/>
              <a:buNone/>
            </a:pPr>
            <a:r>
              <a:rPr lang="en-US" altLang="zh-TW" dirty="0">
                <a:effectLst/>
                <a:latin typeface="Times New Roman" pitchFamily="18" charset="0"/>
                <a:ea typeface="標楷體" pitchFamily="65" charset="-120"/>
              </a:rPr>
              <a:t>12.</a:t>
            </a:r>
            <a:r>
              <a:rPr lang="zh-TW" altLang="en-US" dirty="0">
                <a:effectLst/>
                <a:latin typeface="Times New Roman" pitchFamily="18" charset="0"/>
                <a:ea typeface="標楷體" pitchFamily="65" charset="-120"/>
              </a:rPr>
              <a:t>刮砂</a:t>
            </a:r>
          </a:p>
          <a:p>
            <a:pPr>
              <a:buFont typeface="Wingdings" pitchFamily="2" charset="2"/>
              <a:buNone/>
            </a:pPr>
            <a:r>
              <a:rPr lang="en-US" altLang="zh-TW" dirty="0">
                <a:effectLst/>
                <a:latin typeface="Times New Roman" pitchFamily="18" charset="0"/>
                <a:ea typeface="標楷體" pitchFamily="65" charset="-120"/>
              </a:rPr>
              <a:t>13.</a:t>
            </a:r>
            <a:r>
              <a:rPr lang="zh-TW" altLang="en-US" dirty="0">
                <a:effectLst/>
                <a:latin typeface="Times New Roman" pitchFamily="18" charset="0"/>
                <a:ea typeface="標楷體" pitchFamily="65" charset="-120"/>
              </a:rPr>
              <a:t>投擲表示不滿</a:t>
            </a:r>
          </a:p>
          <a:p>
            <a:pPr>
              <a:buFont typeface="Wingdings" pitchFamily="2" charset="2"/>
              <a:buNone/>
            </a:pPr>
            <a:r>
              <a:rPr lang="en-US" altLang="zh-TW" dirty="0">
                <a:effectLst/>
                <a:latin typeface="Times New Roman" pitchFamily="18" charset="0"/>
                <a:ea typeface="標楷體" pitchFamily="65" charset="-120"/>
              </a:rPr>
              <a:t>14.</a:t>
            </a:r>
            <a:r>
              <a:rPr lang="zh-TW" altLang="en-US" dirty="0">
                <a:effectLst/>
                <a:latin typeface="Times New Roman" pitchFamily="18" charset="0"/>
                <a:ea typeface="標楷體" pitchFamily="65" charset="-120"/>
              </a:rPr>
              <a:t>支架</a:t>
            </a:r>
          </a:p>
          <a:p>
            <a:pPr>
              <a:buFont typeface="Wingdings" pitchFamily="2" charset="2"/>
              <a:buNone/>
            </a:pPr>
            <a:r>
              <a:rPr lang="en-US" altLang="zh-TW" dirty="0">
                <a:effectLst/>
                <a:latin typeface="Times New Roman" pitchFamily="18" charset="0"/>
                <a:ea typeface="標楷體" pitchFamily="65" charset="-120"/>
              </a:rPr>
              <a:t>15.</a:t>
            </a:r>
            <a:r>
              <a:rPr lang="zh-TW" altLang="en-US" dirty="0">
                <a:effectLst/>
                <a:latin typeface="Times New Roman" pitchFamily="18" charset="0"/>
                <a:ea typeface="標楷體" pitchFamily="65" charset="-120"/>
              </a:rPr>
              <a:t>去汙工具</a:t>
            </a:r>
          </a:p>
          <a:p>
            <a:pPr>
              <a:buFont typeface="Wingdings" pitchFamily="2" charset="2"/>
              <a:buNone/>
            </a:pPr>
            <a:r>
              <a:rPr lang="en-US" altLang="zh-TW" dirty="0">
                <a:effectLst/>
                <a:latin typeface="Times New Roman" pitchFamily="18" charset="0"/>
                <a:ea typeface="標楷體" pitchFamily="65" charset="-120"/>
              </a:rPr>
              <a:t>16.</a:t>
            </a:r>
            <a:r>
              <a:rPr lang="zh-TW" altLang="en-US" dirty="0">
                <a:effectLst/>
                <a:latin typeface="Times New Roman" pitchFamily="18" charset="0"/>
                <a:ea typeface="標楷體" pitchFamily="65" charset="-120"/>
              </a:rPr>
              <a:t>筷子舞</a:t>
            </a:r>
          </a:p>
          <a:p>
            <a:pPr>
              <a:buFont typeface="Wingdings" pitchFamily="2" charset="2"/>
              <a:buNone/>
            </a:pPr>
            <a:endParaRPr lang="zh-TW" altLang="en-US" dirty="0">
              <a:effectLst/>
              <a:latin typeface="Times New Roman" pitchFamily="18" charset="0"/>
              <a:ea typeface="標楷體" pitchFamily="65" charset="-120"/>
            </a:endParaRPr>
          </a:p>
          <a:p>
            <a:pPr>
              <a:buFont typeface="Wingdings" pitchFamily="2" charset="2"/>
              <a:buNone/>
            </a:pPr>
            <a:endParaRPr lang="en-US" altLang="zh-TW" sz="2400" dirty="0">
              <a:latin typeface="Times New Roman" pitchFamily="18" charset="0"/>
              <a:ea typeface="標楷體" pitchFamily="65" charset="-120"/>
            </a:endParaRPr>
          </a:p>
        </p:txBody>
      </p:sp>
      <p:sp>
        <p:nvSpPr>
          <p:cNvPr id="5" name="投影片編號版面配置區 5"/>
          <p:cNvSpPr>
            <a:spLocks noGrp="1"/>
          </p:cNvSpPr>
          <p:nvPr>
            <p:ph type="sldNum" sz="quarter" idx="12"/>
          </p:nvPr>
        </p:nvSpPr>
        <p:spPr/>
        <p:txBody>
          <a:bodyPr/>
          <a:lstStyle/>
          <a:p>
            <a:fld id="{81F0935B-A70C-4584-A4C4-6B30A8D18D02}" type="slidenum">
              <a:rPr lang="en-US" altLang="zh-TW"/>
              <a:pPr/>
              <a:t>4</a:t>
            </a:fld>
            <a:endParaRPr lang="en-US" altLang="zh-TW" dirty="0"/>
          </a:p>
        </p:txBody>
      </p:sp>
    </p:spTree>
    <p:extLst>
      <p:ext uri="{BB962C8B-B14F-4D97-AF65-F5344CB8AC3E}">
        <p14:creationId xmlns:p14="http://schemas.microsoft.com/office/powerpoint/2010/main" val="3466620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3746" name="Rectangle 2"/>
          <p:cNvSpPr>
            <a:spLocks noGrp="1" noRot="1" noChangeArrowheads="1"/>
          </p:cNvSpPr>
          <p:nvPr>
            <p:ph type="title"/>
          </p:nvPr>
        </p:nvSpPr>
        <p:spPr/>
        <p:txBody>
          <a:bodyPr/>
          <a:lstStyle/>
          <a:p>
            <a:r>
              <a:rPr lang="zh-TW" altLang="en-US" dirty="0">
                <a:solidFill>
                  <a:srgbClr val="FF0000"/>
                </a:solidFill>
                <a:latin typeface="+mn-ea"/>
                <a:ea typeface="+mn-ea"/>
              </a:rPr>
              <a:t>筷子的應用</a:t>
            </a:r>
            <a:r>
              <a:rPr lang="en-US" altLang="zh-TW" dirty="0">
                <a:solidFill>
                  <a:srgbClr val="FF0000"/>
                </a:solidFill>
                <a:latin typeface="+mn-ea"/>
                <a:ea typeface="+mn-ea"/>
              </a:rPr>
              <a:t>(</a:t>
            </a:r>
            <a:r>
              <a:rPr lang="zh-TW" altLang="en-US" dirty="0">
                <a:solidFill>
                  <a:srgbClr val="FF0000"/>
                </a:solidFill>
                <a:latin typeface="+mn-ea"/>
                <a:ea typeface="+mn-ea"/>
              </a:rPr>
              <a:t>二</a:t>
            </a:r>
            <a:r>
              <a:rPr lang="en-US" altLang="zh-TW" dirty="0">
                <a:solidFill>
                  <a:srgbClr val="FF0000"/>
                </a:solidFill>
                <a:latin typeface="+mn-ea"/>
                <a:ea typeface="+mn-ea"/>
              </a:rPr>
              <a:t>)</a:t>
            </a:r>
          </a:p>
        </p:txBody>
      </p:sp>
      <p:sp>
        <p:nvSpPr>
          <p:cNvPr id="1183748" name="Rectangle 4"/>
          <p:cNvSpPr>
            <a:spLocks noGrp="1" noChangeArrowheads="1"/>
          </p:cNvSpPr>
          <p:nvPr>
            <p:ph sz="half" idx="1"/>
          </p:nvPr>
        </p:nvSpPr>
        <p:spPr>
          <a:xfrm>
            <a:off x="2493264" y="2232079"/>
            <a:ext cx="3390900" cy="4238625"/>
          </a:xfrm>
        </p:spPr>
        <p:txBody>
          <a:bodyPr>
            <a:normAutofit lnSpcReduction="10000"/>
          </a:bodyPr>
          <a:lstStyle/>
          <a:p>
            <a:pPr>
              <a:buFont typeface="Wingdings" pitchFamily="2" charset="2"/>
              <a:buNone/>
            </a:pPr>
            <a:r>
              <a:rPr lang="en-US" altLang="zh-TW" dirty="0">
                <a:latin typeface="標楷體" pitchFamily="65" charset="-120"/>
                <a:ea typeface="標楷體" pitchFamily="65" charset="-120"/>
              </a:rPr>
              <a:t>17.</a:t>
            </a:r>
            <a:r>
              <a:rPr lang="zh-TW" altLang="en-US" dirty="0">
                <a:latin typeface="標楷體" pitchFamily="65" charset="-120"/>
                <a:ea typeface="標楷體" pitchFamily="65" charset="-120"/>
              </a:rPr>
              <a:t>剔牙</a:t>
            </a:r>
          </a:p>
          <a:p>
            <a:pPr>
              <a:buFont typeface="Wingdings" pitchFamily="2" charset="2"/>
              <a:buNone/>
            </a:pPr>
            <a:r>
              <a:rPr lang="en-US" altLang="zh-TW" dirty="0">
                <a:latin typeface="標楷體" pitchFamily="65" charset="-120"/>
                <a:ea typeface="標楷體" pitchFamily="65" charset="-120"/>
              </a:rPr>
              <a:t>18.</a:t>
            </a:r>
            <a:r>
              <a:rPr lang="zh-TW" altLang="en-US" dirty="0">
                <a:latin typeface="標楷體" pitchFamily="65" charset="-120"/>
                <a:ea typeface="標楷體" pitchFamily="65" charset="-120"/>
              </a:rPr>
              <a:t>抽籤</a:t>
            </a:r>
          </a:p>
          <a:p>
            <a:pPr>
              <a:buFont typeface="Wingdings" pitchFamily="2" charset="2"/>
              <a:buNone/>
            </a:pPr>
            <a:r>
              <a:rPr lang="en-US" altLang="zh-TW" dirty="0">
                <a:latin typeface="標楷體" pitchFamily="65" charset="-120"/>
                <a:ea typeface="標楷體" pitchFamily="65" charset="-120"/>
              </a:rPr>
              <a:t>19.</a:t>
            </a:r>
            <a:r>
              <a:rPr lang="zh-TW" altLang="en-US" dirty="0">
                <a:latin typeface="標楷體" pitchFamily="65" charset="-120"/>
                <a:ea typeface="標楷體" pitchFamily="65" charset="-120"/>
              </a:rPr>
              <a:t>敲木魚</a:t>
            </a:r>
          </a:p>
          <a:p>
            <a:pPr>
              <a:buFont typeface="Wingdings" pitchFamily="2" charset="2"/>
              <a:buNone/>
            </a:pPr>
            <a:r>
              <a:rPr lang="en-US" altLang="zh-TW" dirty="0">
                <a:latin typeface="標楷體" pitchFamily="65" charset="-120"/>
                <a:ea typeface="標楷體" pitchFamily="65" charset="-120"/>
              </a:rPr>
              <a:t>20.</a:t>
            </a:r>
            <a:r>
              <a:rPr lang="zh-TW" altLang="en-US" dirty="0">
                <a:latin typeface="標楷體" pitchFamily="65" charset="-120"/>
                <a:ea typeface="標楷體" pitchFamily="65" charset="-120"/>
              </a:rPr>
              <a:t>岳母教子</a:t>
            </a:r>
          </a:p>
          <a:p>
            <a:pPr>
              <a:buFont typeface="Wingdings" pitchFamily="2" charset="2"/>
              <a:buNone/>
            </a:pPr>
            <a:r>
              <a:rPr lang="en-US" altLang="zh-TW" dirty="0">
                <a:latin typeface="標楷體" pitchFamily="65" charset="-120"/>
                <a:ea typeface="標楷體" pitchFamily="65" charset="-120"/>
              </a:rPr>
              <a:t>21.</a:t>
            </a:r>
            <a:r>
              <a:rPr lang="zh-TW" altLang="en-US" dirty="0">
                <a:latin typeface="標楷體" pitchFamily="65" charset="-120"/>
                <a:ea typeface="標楷體" pitchFamily="65" charset="-120"/>
              </a:rPr>
              <a:t>門栓</a:t>
            </a:r>
          </a:p>
          <a:p>
            <a:pPr>
              <a:buFont typeface="Wingdings" pitchFamily="2" charset="2"/>
              <a:buNone/>
            </a:pPr>
            <a:r>
              <a:rPr lang="en-US" altLang="zh-TW" dirty="0">
                <a:latin typeface="標楷體" pitchFamily="65" charset="-120"/>
                <a:ea typeface="標楷體" pitchFamily="65" charset="-120"/>
              </a:rPr>
              <a:t>22.</a:t>
            </a:r>
            <a:r>
              <a:rPr lang="zh-TW" altLang="en-US" dirty="0">
                <a:latin typeface="標楷體" pitchFamily="65" charset="-120"/>
                <a:ea typeface="標楷體" pitchFamily="65" charset="-120"/>
              </a:rPr>
              <a:t>扒糞</a:t>
            </a:r>
          </a:p>
          <a:p>
            <a:pPr>
              <a:buFont typeface="Wingdings" pitchFamily="2" charset="2"/>
              <a:buNone/>
            </a:pPr>
            <a:r>
              <a:rPr lang="en-US" altLang="zh-TW" dirty="0">
                <a:latin typeface="標楷體" pitchFamily="65" charset="-120"/>
                <a:ea typeface="標楷體" pitchFamily="65" charset="-120"/>
              </a:rPr>
              <a:t>23.</a:t>
            </a:r>
            <a:r>
              <a:rPr lang="zh-TW" altLang="en-US" dirty="0">
                <a:latin typeface="標楷體" pitchFamily="65" charset="-120"/>
                <a:ea typeface="標楷體" pitchFamily="65" charset="-120"/>
              </a:rPr>
              <a:t>打鼓</a:t>
            </a:r>
          </a:p>
          <a:p>
            <a:pPr>
              <a:buFont typeface="Wingdings" pitchFamily="2" charset="2"/>
              <a:buNone/>
            </a:pPr>
            <a:r>
              <a:rPr lang="en-US" altLang="zh-TW" dirty="0">
                <a:latin typeface="標楷體" pitchFamily="65" charset="-120"/>
                <a:ea typeface="標楷體" pitchFamily="65" charset="-120"/>
              </a:rPr>
              <a:t>24.</a:t>
            </a:r>
            <a:r>
              <a:rPr lang="zh-TW" altLang="en-US" dirty="0">
                <a:latin typeface="標楷體" pitchFamily="65" charset="-120"/>
                <a:ea typeface="標楷體" pitchFamily="65" charset="-120"/>
              </a:rPr>
              <a:t>日軌</a:t>
            </a:r>
          </a:p>
          <a:p>
            <a:pPr>
              <a:buFont typeface="Wingdings" pitchFamily="2" charset="2"/>
              <a:buNone/>
            </a:pPr>
            <a:r>
              <a:rPr lang="en-US" altLang="zh-TW" dirty="0">
                <a:latin typeface="標楷體" pitchFamily="65" charset="-120"/>
                <a:ea typeface="標楷體" pitchFamily="65" charset="-120"/>
              </a:rPr>
              <a:t>25.</a:t>
            </a:r>
            <a:r>
              <a:rPr lang="zh-TW" altLang="en-US" dirty="0">
                <a:latin typeface="標楷體" pitchFamily="65" charset="-120"/>
                <a:ea typeface="標楷體" pitchFamily="65" charset="-120"/>
              </a:rPr>
              <a:t>髮髻</a:t>
            </a:r>
          </a:p>
          <a:p>
            <a:pPr>
              <a:buFont typeface="Wingdings" pitchFamily="2" charset="2"/>
              <a:buNone/>
            </a:pPr>
            <a:endParaRPr lang="zh-TW" altLang="en-US" dirty="0">
              <a:latin typeface="標楷體" pitchFamily="65" charset="-120"/>
              <a:ea typeface="標楷體" pitchFamily="65" charset="-120"/>
            </a:endParaRPr>
          </a:p>
          <a:p>
            <a:pPr>
              <a:buFont typeface="Wingdings" pitchFamily="2" charset="2"/>
              <a:buNone/>
            </a:pPr>
            <a:endParaRPr lang="en-US" altLang="zh-TW" dirty="0">
              <a:latin typeface="標楷體" pitchFamily="65" charset="-120"/>
              <a:ea typeface="標楷體" pitchFamily="65" charset="-120"/>
            </a:endParaRPr>
          </a:p>
        </p:txBody>
      </p:sp>
      <p:sp>
        <p:nvSpPr>
          <p:cNvPr id="1183750" name="Rectangle 6"/>
          <p:cNvSpPr>
            <a:spLocks noGrp="1" noChangeArrowheads="1"/>
          </p:cNvSpPr>
          <p:nvPr>
            <p:ph sz="half" idx="2"/>
          </p:nvPr>
        </p:nvSpPr>
        <p:spPr>
          <a:xfrm>
            <a:off x="6215064" y="2033588"/>
            <a:ext cx="3462337" cy="4824412"/>
          </a:xfrm>
        </p:spPr>
        <p:txBody>
          <a:bodyPr>
            <a:normAutofit lnSpcReduction="10000"/>
          </a:bodyPr>
          <a:lstStyle/>
          <a:p>
            <a:pPr>
              <a:lnSpc>
                <a:spcPct val="90000"/>
              </a:lnSpc>
              <a:buFont typeface="Wingdings" pitchFamily="2" charset="2"/>
              <a:buNone/>
            </a:pPr>
            <a:r>
              <a:rPr lang="en-US" altLang="zh-TW" dirty="0">
                <a:latin typeface="標楷體" pitchFamily="65" charset="-120"/>
                <a:ea typeface="標楷體" pitchFamily="65" charset="-120"/>
              </a:rPr>
              <a:t>26.</a:t>
            </a:r>
            <a:r>
              <a:rPr lang="zh-TW" altLang="en-US" dirty="0">
                <a:latin typeface="標楷體" pitchFamily="65" charset="-120"/>
                <a:ea typeface="標楷體" pitchFamily="65" charset="-120"/>
              </a:rPr>
              <a:t>蒸菜</a:t>
            </a:r>
          </a:p>
          <a:p>
            <a:pPr>
              <a:lnSpc>
                <a:spcPct val="90000"/>
              </a:lnSpc>
              <a:buFont typeface="Wingdings" pitchFamily="2" charset="2"/>
              <a:buNone/>
            </a:pPr>
            <a:r>
              <a:rPr lang="en-US" altLang="zh-TW" dirty="0">
                <a:latin typeface="標楷體" pitchFamily="65" charset="-120"/>
                <a:ea typeface="標楷體" pitchFamily="65" charset="-120"/>
              </a:rPr>
              <a:t>27.</a:t>
            </a:r>
            <a:r>
              <a:rPr lang="zh-TW" altLang="en-US" dirty="0">
                <a:latin typeface="標楷體" pitchFamily="65" charset="-120"/>
                <a:ea typeface="標楷體" pitchFamily="65" charset="-120"/>
              </a:rPr>
              <a:t>翻大腸</a:t>
            </a:r>
          </a:p>
          <a:p>
            <a:pPr>
              <a:lnSpc>
                <a:spcPct val="90000"/>
              </a:lnSpc>
              <a:buFont typeface="Wingdings" pitchFamily="2" charset="2"/>
              <a:buNone/>
            </a:pPr>
            <a:r>
              <a:rPr lang="en-US" altLang="zh-TW" dirty="0">
                <a:latin typeface="標楷體" pitchFamily="65" charset="-120"/>
                <a:ea typeface="標楷體" pitchFamily="65" charset="-120"/>
              </a:rPr>
              <a:t>28.</a:t>
            </a:r>
            <a:r>
              <a:rPr lang="zh-TW" altLang="en-US" dirty="0">
                <a:latin typeface="標楷體" pitchFamily="65" charset="-120"/>
                <a:ea typeface="標楷體" pitchFamily="65" charset="-120"/>
              </a:rPr>
              <a:t>擠牙膏</a:t>
            </a:r>
          </a:p>
          <a:p>
            <a:pPr>
              <a:lnSpc>
                <a:spcPct val="90000"/>
              </a:lnSpc>
              <a:buFont typeface="Wingdings" pitchFamily="2" charset="2"/>
              <a:buNone/>
            </a:pPr>
            <a:r>
              <a:rPr lang="en-US" altLang="zh-TW" dirty="0">
                <a:latin typeface="標楷體" pitchFamily="65" charset="-120"/>
                <a:ea typeface="標楷體" pitchFamily="65" charset="-120"/>
              </a:rPr>
              <a:t>29.</a:t>
            </a:r>
            <a:r>
              <a:rPr lang="zh-TW" altLang="en-US" dirty="0">
                <a:latin typeface="標楷體" pitchFamily="65" charset="-120"/>
                <a:ea typeface="標楷體" pitchFamily="65" charset="-120"/>
              </a:rPr>
              <a:t>夾油條</a:t>
            </a:r>
          </a:p>
          <a:p>
            <a:pPr>
              <a:lnSpc>
                <a:spcPct val="90000"/>
              </a:lnSpc>
              <a:buFont typeface="Wingdings" pitchFamily="2" charset="2"/>
              <a:buNone/>
            </a:pPr>
            <a:r>
              <a:rPr lang="en-US" altLang="zh-TW" dirty="0">
                <a:latin typeface="標楷體" pitchFamily="65" charset="-120"/>
                <a:ea typeface="標楷體" pitchFamily="65" charset="-120"/>
              </a:rPr>
              <a:t>30.</a:t>
            </a:r>
            <a:r>
              <a:rPr lang="zh-TW" altLang="en-US" dirty="0">
                <a:latin typeface="標楷體" pitchFamily="65" charset="-120"/>
                <a:ea typeface="標楷體" pitchFamily="65" charset="-120"/>
              </a:rPr>
              <a:t>敲小孩</a:t>
            </a:r>
          </a:p>
          <a:p>
            <a:pPr>
              <a:lnSpc>
                <a:spcPct val="90000"/>
              </a:lnSpc>
              <a:buFont typeface="Wingdings" pitchFamily="2" charset="2"/>
              <a:buNone/>
            </a:pPr>
            <a:r>
              <a:rPr lang="en-US" altLang="zh-TW" dirty="0">
                <a:latin typeface="標楷體" pitchFamily="65" charset="-120"/>
                <a:ea typeface="標楷體" pitchFamily="65" charset="-120"/>
              </a:rPr>
              <a:t>31.</a:t>
            </a:r>
            <a:r>
              <a:rPr lang="zh-TW" altLang="en-US" dirty="0">
                <a:latin typeface="標楷體" pitchFamily="65" charset="-120"/>
                <a:ea typeface="標楷體" pitchFamily="65" charset="-120"/>
              </a:rPr>
              <a:t>竹蜻蜓</a:t>
            </a:r>
          </a:p>
          <a:p>
            <a:pPr>
              <a:lnSpc>
                <a:spcPct val="90000"/>
              </a:lnSpc>
              <a:buFont typeface="Wingdings" pitchFamily="2" charset="2"/>
              <a:buNone/>
            </a:pPr>
            <a:r>
              <a:rPr lang="en-US" altLang="zh-TW" dirty="0">
                <a:latin typeface="標楷體" pitchFamily="65" charset="-120"/>
                <a:ea typeface="標楷體" pitchFamily="65" charset="-120"/>
              </a:rPr>
              <a:t>32.</a:t>
            </a:r>
            <a:r>
              <a:rPr lang="zh-TW" altLang="en-US" dirty="0">
                <a:latin typeface="標楷體" pitchFamily="65" charset="-120"/>
                <a:ea typeface="標楷體" pitchFamily="65" charset="-120"/>
              </a:rPr>
              <a:t>風箏支架</a:t>
            </a:r>
          </a:p>
          <a:p>
            <a:pPr>
              <a:lnSpc>
                <a:spcPct val="90000"/>
              </a:lnSpc>
              <a:buFont typeface="Wingdings" pitchFamily="2" charset="2"/>
              <a:buNone/>
            </a:pPr>
            <a:r>
              <a:rPr lang="en-US" altLang="zh-TW" dirty="0">
                <a:latin typeface="標楷體" pitchFamily="65" charset="-120"/>
                <a:ea typeface="標楷體" pitchFamily="65" charset="-120"/>
              </a:rPr>
              <a:t>33.</a:t>
            </a:r>
            <a:r>
              <a:rPr lang="zh-TW" altLang="en-US" dirty="0">
                <a:latin typeface="標楷體" pitchFamily="65" charset="-120"/>
                <a:ea typeface="標楷體" pitchFamily="65" charset="-120"/>
              </a:rPr>
              <a:t>削片引火</a:t>
            </a:r>
          </a:p>
          <a:p>
            <a:pPr>
              <a:lnSpc>
                <a:spcPct val="90000"/>
              </a:lnSpc>
              <a:buFont typeface="Wingdings" pitchFamily="2" charset="2"/>
              <a:buNone/>
            </a:pPr>
            <a:r>
              <a:rPr lang="en-US" altLang="zh-TW" dirty="0">
                <a:latin typeface="標楷體" pitchFamily="65" charset="-120"/>
                <a:ea typeface="標楷體" pitchFamily="65" charset="-120"/>
              </a:rPr>
              <a:t>34.</a:t>
            </a:r>
            <a:r>
              <a:rPr lang="zh-TW" altLang="en-US" dirty="0">
                <a:latin typeface="標楷體" pitchFamily="65" charset="-120"/>
                <a:ea typeface="標楷體" pitchFamily="65" charset="-120"/>
              </a:rPr>
              <a:t>繞棉花糖</a:t>
            </a:r>
          </a:p>
          <a:p>
            <a:pPr>
              <a:lnSpc>
                <a:spcPct val="90000"/>
              </a:lnSpc>
              <a:buFont typeface="Wingdings" pitchFamily="2" charset="2"/>
              <a:buNone/>
            </a:pPr>
            <a:r>
              <a:rPr lang="en-US" altLang="zh-TW" dirty="0">
                <a:latin typeface="標楷體" pitchFamily="65" charset="-120"/>
                <a:ea typeface="標楷體" pitchFamily="65" charset="-120"/>
              </a:rPr>
              <a:t>35.</a:t>
            </a:r>
            <a:r>
              <a:rPr lang="zh-TW" altLang="en-US" dirty="0">
                <a:latin typeface="標楷體" pitchFamily="65" charset="-120"/>
                <a:ea typeface="標楷體" pitchFamily="65" charset="-120"/>
              </a:rPr>
              <a:t>冰棒柱</a:t>
            </a:r>
          </a:p>
        </p:txBody>
      </p:sp>
      <p:sp>
        <p:nvSpPr>
          <p:cNvPr id="5" name="投影片編號版面配置區 5"/>
          <p:cNvSpPr>
            <a:spLocks noGrp="1"/>
          </p:cNvSpPr>
          <p:nvPr>
            <p:ph type="sldNum" sz="quarter" idx="12"/>
          </p:nvPr>
        </p:nvSpPr>
        <p:spPr/>
        <p:txBody>
          <a:bodyPr/>
          <a:lstStyle/>
          <a:p>
            <a:fld id="{AB7B7B3E-D715-48A5-8314-D331D3AD5F36}" type="slidenum">
              <a:rPr lang="en-US" altLang="zh-TW"/>
              <a:pPr/>
              <a:t>5</a:t>
            </a:fld>
            <a:endParaRPr lang="en-US" altLang="zh-TW" dirty="0"/>
          </a:p>
        </p:txBody>
      </p:sp>
    </p:spTree>
    <p:extLst>
      <p:ext uri="{BB962C8B-B14F-4D97-AF65-F5344CB8AC3E}">
        <p14:creationId xmlns:p14="http://schemas.microsoft.com/office/powerpoint/2010/main" val="22423022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3442" name="Rectangle 2"/>
          <p:cNvSpPr>
            <a:spLocks noGrp="1" noRot="1" noChangeArrowheads="1"/>
          </p:cNvSpPr>
          <p:nvPr>
            <p:ph type="title"/>
          </p:nvPr>
        </p:nvSpPr>
        <p:spPr/>
        <p:txBody>
          <a:bodyPr/>
          <a:lstStyle/>
          <a:p>
            <a:r>
              <a:rPr lang="zh-TW" altLang="en-US" dirty="0">
                <a:solidFill>
                  <a:srgbClr val="FF0000"/>
                </a:solidFill>
                <a:latin typeface="+mn-ea"/>
                <a:ea typeface="+mn-ea"/>
              </a:rPr>
              <a:t>筷子的應用</a:t>
            </a:r>
            <a:r>
              <a:rPr lang="en-US" altLang="zh-TW" dirty="0">
                <a:solidFill>
                  <a:srgbClr val="FF0000"/>
                </a:solidFill>
                <a:latin typeface="+mn-ea"/>
                <a:ea typeface="+mn-ea"/>
              </a:rPr>
              <a:t>(</a:t>
            </a:r>
            <a:r>
              <a:rPr lang="zh-TW" altLang="en-US" dirty="0">
                <a:solidFill>
                  <a:srgbClr val="FF0000"/>
                </a:solidFill>
                <a:latin typeface="+mn-ea"/>
                <a:ea typeface="+mn-ea"/>
              </a:rPr>
              <a:t>三</a:t>
            </a:r>
            <a:r>
              <a:rPr lang="en-US" altLang="zh-TW" dirty="0">
                <a:solidFill>
                  <a:srgbClr val="FF0000"/>
                </a:solidFill>
                <a:latin typeface="+mn-ea"/>
                <a:ea typeface="+mn-ea"/>
              </a:rPr>
              <a:t>)</a:t>
            </a:r>
          </a:p>
        </p:txBody>
      </p:sp>
      <p:sp>
        <p:nvSpPr>
          <p:cNvPr id="1213444" name="Rectangle 4"/>
          <p:cNvSpPr>
            <a:spLocks noGrp="1" noChangeArrowheads="1"/>
          </p:cNvSpPr>
          <p:nvPr>
            <p:ph sz="half" idx="1"/>
          </p:nvPr>
        </p:nvSpPr>
        <p:spPr>
          <a:xfrm>
            <a:off x="1845564" y="2063707"/>
            <a:ext cx="4038600" cy="5256212"/>
          </a:xfrm>
        </p:spPr>
        <p:txBody>
          <a:bodyPr>
            <a:normAutofit/>
          </a:bodyPr>
          <a:lstStyle/>
          <a:p>
            <a:pPr>
              <a:lnSpc>
                <a:spcPct val="90000"/>
              </a:lnSpc>
              <a:buFont typeface="Wingdings" pitchFamily="2" charset="2"/>
              <a:buNone/>
            </a:pPr>
            <a:r>
              <a:rPr lang="en-US" altLang="zh-TW" dirty="0">
                <a:latin typeface="標楷體" pitchFamily="65" charset="-120"/>
                <a:ea typeface="標楷體" pitchFamily="65" charset="-120"/>
              </a:rPr>
              <a:t>36.</a:t>
            </a:r>
            <a:r>
              <a:rPr lang="zh-TW" altLang="en-US" dirty="0">
                <a:latin typeface="標楷體" pitchFamily="65" charset="-120"/>
                <a:ea typeface="標楷體" pitchFamily="65" charset="-120"/>
              </a:rPr>
              <a:t>挖鼻孔</a:t>
            </a:r>
          </a:p>
          <a:p>
            <a:pPr>
              <a:lnSpc>
                <a:spcPct val="90000"/>
              </a:lnSpc>
              <a:buFont typeface="Wingdings" pitchFamily="2" charset="2"/>
              <a:buNone/>
            </a:pPr>
            <a:r>
              <a:rPr kumimoji="0" lang="en-US" altLang="zh-TW" dirty="0">
                <a:latin typeface="標楷體" pitchFamily="65" charset="-120"/>
                <a:ea typeface="標楷體" pitchFamily="65" charset="-120"/>
              </a:rPr>
              <a:t>37.</a:t>
            </a:r>
            <a:r>
              <a:rPr kumimoji="0" lang="zh-TW" altLang="en-US" dirty="0">
                <a:latin typeface="標楷體" pitchFamily="65" charset="-120"/>
                <a:ea typeface="標楷體" pitchFamily="65" charset="-120"/>
              </a:rPr>
              <a:t>折迭傘支架</a:t>
            </a:r>
            <a:r>
              <a:rPr kumimoji="0" lang="en-US" altLang="zh-TW" dirty="0">
                <a:latin typeface="標楷體" pitchFamily="65" charset="-120"/>
                <a:ea typeface="標楷體" pitchFamily="65" charset="-120"/>
              </a:rPr>
              <a:t>(</a:t>
            </a:r>
            <a:r>
              <a:rPr kumimoji="0" lang="zh-TW" altLang="en-US" dirty="0">
                <a:latin typeface="標楷體" pitchFamily="65" charset="-120"/>
                <a:ea typeface="標楷體" pitchFamily="65" charset="-120"/>
              </a:rPr>
              <a:t>傘面骨架斷掉之替代物</a:t>
            </a:r>
            <a:r>
              <a:rPr kumimoji="0" lang="en-US" altLang="zh-TW" dirty="0">
                <a:latin typeface="標楷體" pitchFamily="65" charset="-120"/>
                <a:ea typeface="標楷體" pitchFamily="65" charset="-120"/>
              </a:rPr>
              <a:t>)</a:t>
            </a:r>
            <a:endParaRPr lang="en-US" altLang="zh-TW" dirty="0">
              <a:latin typeface="標楷體" pitchFamily="65" charset="-120"/>
              <a:ea typeface="標楷體" pitchFamily="65" charset="-120"/>
            </a:endParaRPr>
          </a:p>
          <a:p>
            <a:pPr>
              <a:lnSpc>
                <a:spcPct val="90000"/>
              </a:lnSpc>
              <a:buFont typeface="Wingdings" pitchFamily="2" charset="2"/>
              <a:buNone/>
            </a:pPr>
            <a:r>
              <a:rPr kumimoji="0" lang="en-US" altLang="zh-TW" dirty="0">
                <a:latin typeface="標楷體" pitchFamily="65" charset="-120"/>
                <a:ea typeface="標楷體" pitchFamily="65" charset="-120"/>
              </a:rPr>
              <a:t>38.</a:t>
            </a:r>
            <a:r>
              <a:rPr kumimoji="0" lang="zh-TW" altLang="en-US" dirty="0">
                <a:latin typeface="標楷體" pitchFamily="65" charset="-120"/>
                <a:ea typeface="標楷體" pitchFamily="65" charset="-120"/>
              </a:rPr>
              <a:t>酷刑</a:t>
            </a:r>
            <a:r>
              <a:rPr kumimoji="0" lang="en-US" altLang="zh-TW" dirty="0">
                <a:latin typeface="標楷體" pitchFamily="65" charset="-120"/>
                <a:ea typeface="標楷體" pitchFamily="65" charset="-120"/>
              </a:rPr>
              <a:t>-</a:t>
            </a:r>
            <a:r>
              <a:rPr kumimoji="0" lang="zh-TW" altLang="en-US" dirty="0">
                <a:latin typeface="標楷體" pitchFamily="65" charset="-120"/>
                <a:ea typeface="標楷體" pitchFamily="65" charset="-120"/>
              </a:rPr>
              <a:t>夾手指</a:t>
            </a:r>
          </a:p>
          <a:p>
            <a:pPr>
              <a:lnSpc>
                <a:spcPct val="90000"/>
              </a:lnSpc>
              <a:buFont typeface="Wingdings" pitchFamily="2" charset="2"/>
              <a:buNone/>
            </a:pPr>
            <a:r>
              <a:rPr kumimoji="0" lang="en-US" altLang="zh-TW" dirty="0">
                <a:latin typeface="標楷體" pitchFamily="65" charset="-120"/>
                <a:ea typeface="標楷體" pitchFamily="65" charset="-120"/>
              </a:rPr>
              <a:t>39.</a:t>
            </a:r>
            <a:r>
              <a:rPr kumimoji="0" lang="zh-TW" altLang="en-US" dirty="0">
                <a:latin typeface="標楷體" pitchFamily="65" charset="-120"/>
                <a:ea typeface="標楷體" pitchFamily="65" charset="-120"/>
              </a:rPr>
              <a:t>急救固定板</a:t>
            </a:r>
          </a:p>
          <a:p>
            <a:pPr>
              <a:lnSpc>
                <a:spcPct val="90000"/>
              </a:lnSpc>
              <a:buFont typeface="Wingdings" pitchFamily="2" charset="2"/>
              <a:buNone/>
            </a:pPr>
            <a:r>
              <a:rPr kumimoji="0" lang="en-US" altLang="zh-TW" dirty="0">
                <a:latin typeface="標楷體" pitchFamily="65" charset="-120"/>
                <a:ea typeface="標楷體" pitchFamily="65" charset="-120"/>
              </a:rPr>
              <a:t>40.</a:t>
            </a:r>
            <a:r>
              <a:rPr kumimoji="0" lang="zh-TW" altLang="en-US" dirty="0">
                <a:latin typeface="標楷體" pitchFamily="65" charset="-120"/>
                <a:ea typeface="標楷體" pitchFamily="65" charset="-120"/>
              </a:rPr>
              <a:t>書簽代用</a:t>
            </a:r>
          </a:p>
          <a:p>
            <a:pPr>
              <a:lnSpc>
                <a:spcPct val="90000"/>
              </a:lnSpc>
              <a:buFont typeface="Wingdings" pitchFamily="2" charset="2"/>
              <a:buNone/>
            </a:pPr>
            <a:r>
              <a:rPr kumimoji="0" lang="en-US" altLang="zh-TW" dirty="0">
                <a:latin typeface="標楷體" pitchFamily="65" charset="-120"/>
                <a:ea typeface="標楷體" pitchFamily="65" charset="-120"/>
              </a:rPr>
              <a:t>41.</a:t>
            </a:r>
            <a:r>
              <a:rPr kumimoji="0" lang="zh-TW" altLang="en-US" dirty="0">
                <a:latin typeface="標楷體" pitchFamily="65" charset="-120"/>
                <a:ea typeface="標楷體" pitchFamily="65" charset="-120"/>
              </a:rPr>
              <a:t>開罐器</a:t>
            </a:r>
          </a:p>
          <a:p>
            <a:pPr>
              <a:lnSpc>
                <a:spcPct val="90000"/>
              </a:lnSpc>
              <a:buFont typeface="Wingdings" pitchFamily="2" charset="2"/>
              <a:buNone/>
            </a:pPr>
            <a:r>
              <a:rPr lang="en-US" altLang="zh-TW" dirty="0">
                <a:latin typeface="標楷體" pitchFamily="65" charset="-120"/>
                <a:ea typeface="標楷體" pitchFamily="65" charset="-120"/>
              </a:rPr>
              <a:t>42.</a:t>
            </a:r>
            <a:r>
              <a:rPr lang="zh-TW" altLang="en-US" dirty="0">
                <a:latin typeface="標楷體" pitchFamily="65" charset="-120"/>
                <a:ea typeface="標楷體" pitchFamily="65" charset="-120"/>
              </a:rPr>
              <a:t>浮標</a:t>
            </a:r>
          </a:p>
          <a:p>
            <a:pPr>
              <a:lnSpc>
                <a:spcPct val="90000"/>
              </a:lnSpc>
              <a:buFont typeface="Wingdings" pitchFamily="2" charset="2"/>
              <a:buNone/>
            </a:pPr>
            <a:r>
              <a:rPr lang="en-US" altLang="zh-TW" dirty="0">
                <a:latin typeface="標楷體" pitchFamily="65" charset="-120"/>
                <a:ea typeface="標楷體" pitchFamily="65" charset="-120"/>
              </a:rPr>
              <a:t>43.</a:t>
            </a:r>
            <a:r>
              <a:rPr lang="zh-TW" altLang="en-US" dirty="0">
                <a:latin typeface="標楷體" pitchFamily="65" charset="-120"/>
                <a:ea typeface="標楷體" pitchFamily="65" charset="-120"/>
              </a:rPr>
              <a:t>模型、工藝品</a:t>
            </a:r>
            <a:r>
              <a:rPr lang="en-US" altLang="zh-TW" dirty="0">
                <a:latin typeface="標楷體" pitchFamily="65" charset="-120"/>
                <a:ea typeface="標楷體" pitchFamily="65" charset="-120"/>
              </a:rPr>
              <a:t>44.</a:t>
            </a:r>
            <a:r>
              <a:rPr lang="zh-TW" altLang="en-US" dirty="0">
                <a:latin typeface="標楷體" pitchFamily="65" charset="-120"/>
                <a:ea typeface="標楷體" pitchFamily="65" charset="-120"/>
              </a:rPr>
              <a:t>猜拳搶三</a:t>
            </a:r>
          </a:p>
          <a:p>
            <a:pPr>
              <a:lnSpc>
                <a:spcPct val="90000"/>
              </a:lnSpc>
              <a:buFont typeface="Wingdings" pitchFamily="2" charset="2"/>
              <a:buNone/>
            </a:pPr>
            <a:r>
              <a:rPr lang="en-US" altLang="zh-TW" dirty="0">
                <a:latin typeface="標楷體" pitchFamily="65" charset="-120"/>
                <a:ea typeface="標楷體" pitchFamily="65" charset="-120"/>
              </a:rPr>
              <a:t>44.</a:t>
            </a:r>
            <a:r>
              <a:rPr lang="zh-TW" altLang="en-US" dirty="0">
                <a:latin typeface="標楷體" pitchFamily="65" charset="-120"/>
                <a:ea typeface="標楷體" pitchFamily="65" charset="-120"/>
              </a:rPr>
              <a:t>印章</a:t>
            </a:r>
          </a:p>
          <a:p>
            <a:pPr>
              <a:lnSpc>
                <a:spcPct val="90000"/>
              </a:lnSpc>
              <a:buFont typeface="Wingdings" pitchFamily="2" charset="2"/>
              <a:buNone/>
            </a:pPr>
            <a:endParaRPr lang="en-US" altLang="zh-TW" dirty="0">
              <a:latin typeface="標楷體" pitchFamily="65" charset="-120"/>
              <a:ea typeface="標楷體" pitchFamily="65" charset="-120"/>
            </a:endParaRPr>
          </a:p>
        </p:txBody>
      </p:sp>
      <p:sp>
        <p:nvSpPr>
          <p:cNvPr id="1213445" name="Rectangle 5"/>
          <p:cNvSpPr>
            <a:spLocks noGrp="1" noChangeArrowheads="1"/>
          </p:cNvSpPr>
          <p:nvPr>
            <p:ph sz="half" idx="2"/>
          </p:nvPr>
        </p:nvSpPr>
        <p:spPr>
          <a:xfrm>
            <a:off x="6294882" y="2063707"/>
            <a:ext cx="4038600" cy="5040312"/>
          </a:xfrm>
        </p:spPr>
        <p:txBody>
          <a:bodyPr>
            <a:normAutofit/>
          </a:bodyPr>
          <a:lstStyle/>
          <a:p>
            <a:pPr>
              <a:lnSpc>
                <a:spcPct val="90000"/>
              </a:lnSpc>
              <a:buFont typeface="Wingdings" pitchFamily="2" charset="2"/>
              <a:buNone/>
            </a:pPr>
            <a:r>
              <a:rPr lang="en-US" altLang="zh-TW" dirty="0">
                <a:latin typeface="標楷體" pitchFamily="65" charset="-120"/>
                <a:ea typeface="標楷體" pitchFamily="65" charset="-120"/>
              </a:rPr>
              <a:t>45.</a:t>
            </a:r>
            <a:r>
              <a:rPr lang="zh-TW" altLang="en-US" dirty="0">
                <a:latin typeface="標楷體" pitchFamily="65" charset="-120"/>
                <a:ea typeface="標楷體" pitchFamily="65" charset="-120"/>
              </a:rPr>
              <a:t>扮鬼臉</a:t>
            </a:r>
          </a:p>
          <a:p>
            <a:pPr>
              <a:lnSpc>
                <a:spcPct val="90000"/>
              </a:lnSpc>
              <a:buFont typeface="Wingdings" pitchFamily="2" charset="2"/>
              <a:buNone/>
            </a:pPr>
            <a:r>
              <a:rPr lang="en-US" altLang="zh-TW" dirty="0">
                <a:latin typeface="標楷體" pitchFamily="65" charset="-120"/>
                <a:ea typeface="標楷體" pitchFamily="65" charset="-120"/>
              </a:rPr>
              <a:t>46.</a:t>
            </a:r>
            <a:r>
              <a:rPr lang="zh-TW" altLang="en-US" dirty="0">
                <a:latin typeface="標楷體" pitchFamily="65" charset="-120"/>
                <a:ea typeface="標楷體" pitchFamily="65" charset="-120"/>
              </a:rPr>
              <a:t>夾垃圾</a:t>
            </a:r>
          </a:p>
          <a:p>
            <a:pPr>
              <a:lnSpc>
                <a:spcPct val="90000"/>
              </a:lnSpc>
              <a:buFont typeface="Wingdings" pitchFamily="2" charset="2"/>
              <a:buNone/>
            </a:pPr>
            <a:r>
              <a:rPr lang="en-US" altLang="zh-TW" dirty="0">
                <a:latin typeface="標楷體" pitchFamily="65" charset="-120"/>
                <a:ea typeface="標楷體" pitchFamily="65" charset="-120"/>
              </a:rPr>
              <a:t>47.</a:t>
            </a:r>
            <a:r>
              <a:rPr lang="zh-TW" altLang="en-US" dirty="0">
                <a:latin typeface="標楷體" pitchFamily="65" charset="-120"/>
                <a:ea typeface="標楷體" pitchFamily="65" charset="-120"/>
              </a:rPr>
              <a:t>手指受傷支架</a:t>
            </a:r>
          </a:p>
          <a:p>
            <a:pPr>
              <a:lnSpc>
                <a:spcPct val="90000"/>
              </a:lnSpc>
              <a:buFont typeface="Wingdings" pitchFamily="2" charset="2"/>
              <a:buNone/>
            </a:pPr>
            <a:r>
              <a:rPr lang="en-US" altLang="zh-TW" dirty="0">
                <a:latin typeface="標楷體" pitchFamily="65" charset="-120"/>
                <a:ea typeface="標楷體" pitchFamily="65" charset="-120"/>
              </a:rPr>
              <a:t>48.</a:t>
            </a:r>
            <a:r>
              <a:rPr lang="zh-TW" altLang="en-US" dirty="0">
                <a:latin typeface="標楷體" pitchFamily="65" charset="-120"/>
                <a:ea typeface="標楷體" pitchFamily="65" charset="-120"/>
              </a:rPr>
              <a:t>木栓使用</a:t>
            </a:r>
          </a:p>
          <a:p>
            <a:pPr>
              <a:lnSpc>
                <a:spcPct val="90000"/>
              </a:lnSpc>
              <a:buFont typeface="Wingdings" pitchFamily="2" charset="2"/>
              <a:buNone/>
            </a:pPr>
            <a:r>
              <a:rPr lang="en-US" altLang="zh-TW" dirty="0">
                <a:latin typeface="標楷體" pitchFamily="65" charset="-120"/>
                <a:ea typeface="標楷體" pitchFamily="65" charset="-120"/>
              </a:rPr>
              <a:t>49.</a:t>
            </a:r>
            <a:r>
              <a:rPr lang="zh-TW" altLang="en-US" dirty="0">
                <a:latin typeface="標楷體" pitchFamily="65" charset="-120"/>
                <a:ea typeface="標楷體" pitchFamily="65" charset="-120"/>
              </a:rPr>
              <a:t>鞋拔</a:t>
            </a:r>
          </a:p>
          <a:p>
            <a:pPr>
              <a:lnSpc>
                <a:spcPct val="90000"/>
              </a:lnSpc>
              <a:buFont typeface="Wingdings" pitchFamily="2" charset="2"/>
              <a:buNone/>
            </a:pPr>
            <a:r>
              <a:rPr lang="en-US" altLang="zh-TW" dirty="0">
                <a:latin typeface="標楷體" pitchFamily="65" charset="-120"/>
                <a:ea typeface="標楷體" pitchFamily="65" charset="-120"/>
              </a:rPr>
              <a:t>50.</a:t>
            </a:r>
            <a:r>
              <a:rPr lang="zh-TW" altLang="en-US" dirty="0">
                <a:latin typeface="標楷體" pitchFamily="65" charset="-120"/>
                <a:ea typeface="標楷體" pitchFamily="65" charset="-120"/>
              </a:rPr>
              <a:t>沾墨水寫字</a:t>
            </a:r>
          </a:p>
          <a:p>
            <a:pPr>
              <a:lnSpc>
                <a:spcPct val="90000"/>
              </a:lnSpc>
              <a:buFont typeface="Wingdings" pitchFamily="2" charset="2"/>
              <a:buNone/>
            </a:pPr>
            <a:r>
              <a:rPr lang="en-US" altLang="zh-TW" dirty="0">
                <a:latin typeface="標楷體" pitchFamily="65" charset="-120"/>
                <a:ea typeface="標楷體" pitchFamily="65" charset="-120"/>
              </a:rPr>
              <a:t>51.</a:t>
            </a:r>
            <a:r>
              <a:rPr lang="zh-TW" altLang="en-US" dirty="0">
                <a:latin typeface="標楷體" pitchFamily="65" charset="-120"/>
                <a:ea typeface="標楷體" pitchFamily="65" charset="-120"/>
              </a:rPr>
              <a:t>挖耳朵</a:t>
            </a:r>
          </a:p>
          <a:p>
            <a:pPr>
              <a:lnSpc>
                <a:spcPct val="90000"/>
              </a:lnSpc>
              <a:buFont typeface="Wingdings" pitchFamily="2" charset="2"/>
              <a:buNone/>
            </a:pPr>
            <a:r>
              <a:rPr lang="en-US" altLang="zh-TW" dirty="0">
                <a:latin typeface="標楷體" pitchFamily="65" charset="-120"/>
                <a:ea typeface="標楷體" pitchFamily="65" charset="-120"/>
              </a:rPr>
              <a:t>52.</a:t>
            </a:r>
            <a:r>
              <a:rPr lang="zh-TW" altLang="en-US" dirty="0">
                <a:latin typeface="標楷體" pitchFamily="65" charset="-120"/>
                <a:ea typeface="標楷體" pitchFamily="65" charset="-120"/>
              </a:rPr>
              <a:t>玩具槍</a:t>
            </a:r>
          </a:p>
          <a:p>
            <a:pPr>
              <a:lnSpc>
                <a:spcPct val="90000"/>
              </a:lnSpc>
              <a:buFont typeface="Wingdings" pitchFamily="2" charset="2"/>
              <a:buNone/>
            </a:pPr>
            <a:r>
              <a:rPr kumimoji="0" lang="en-US" altLang="zh-TW" dirty="0">
                <a:latin typeface="標楷體" pitchFamily="65" charset="-120"/>
                <a:ea typeface="標楷體" pitchFamily="65" charset="-120"/>
              </a:rPr>
              <a:t>53.</a:t>
            </a:r>
            <a:r>
              <a:rPr kumimoji="0" lang="zh-TW" altLang="en-US" dirty="0">
                <a:latin typeface="標楷體" pitchFamily="65" charset="-120"/>
                <a:ea typeface="標楷體" pitchFamily="65" charset="-120"/>
              </a:rPr>
              <a:t>治打嗝</a:t>
            </a:r>
            <a:r>
              <a:rPr kumimoji="0" lang="en-US" altLang="zh-TW" dirty="0">
                <a:latin typeface="標楷體" pitchFamily="65" charset="-120"/>
                <a:ea typeface="標楷體" pitchFamily="65" charset="-120"/>
              </a:rPr>
              <a:t>-</a:t>
            </a:r>
            <a:r>
              <a:rPr kumimoji="0" lang="zh-TW" altLang="en-US" dirty="0">
                <a:latin typeface="標楷體" pitchFamily="65" charset="-120"/>
                <a:ea typeface="標楷體" pitchFamily="65" charset="-120"/>
              </a:rPr>
              <a:t>喝橋下水</a:t>
            </a:r>
            <a:r>
              <a:rPr kumimoji="0" lang="en-US" altLang="zh-TW" dirty="0">
                <a:latin typeface="標楷體" pitchFamily="65" charset="-120"/>
                <a:ea typeface="標楷體" pitchFamily="65" charset="-120"/>
              </a:rPr>
              <a:t>(</a:t>
            </a:r>
            <a:r>
              <a:rPr kumimoji="0" lang="zh-TW" altLang="en-US" dirty="0">
                <a:latin typeface="標楷體" pitchFamily="65" charset="-120"/>
                <a:ea typeface="標楷體" pitchFamily="65" charset="-120"/>
              </a:rPr>
              <a:t>把筷子當成橋</a:t>
            </a:r>
            <a:r>
              <a:rPr kumimoji="0" lang="en-US" altLang="zh-TW" dirty="0">
                <a:latin typeface="標楷體" pitchFamily="65" charset="-120"/>
                <a:ea typeface="標楷體" pitchFamily="65" charset="-120"/>
              </a:rPr>
              <a:t>)</a:t>
            </a:r>
          </a:p>
        </p:txBody>
      </p:sp>
      <p:sp>
        <p:nvSpPr>
          <p:cNvPr id="5" name="投影片編號版面配置區 5"/>
          <p:cNvSpPr>
            <a:spLocks noGrp="1"/>
          </p:cNvSpPr>
          <p:nvPr>
            <p:ph type="sldNum" sz="quarter" idx="12"/>
          </p:nvPr>
        </p:nvSpPr>
        <p:spPr/>
        <p:txBody>
          <a:bodyPr/>
          <a:lstStyle/>
          <a:p>
            <a:fld id="{C70FEEA7-F18B-4617-80F3-AE013CAAA135}" type="slidenum">
              <a:rPr lang="en-US" altLang="zh-TW"/>
              <a:pPr/>
              <a:t>6</a:t>
            </a:fld>
            <a:endParaRPr lang="en-US" altLang="zh-TW" dirty="0"/>
          </a:p>
        </p:txBody>
      </p:sp>
    </p:spTree>
    <p:extLst>
      <p:ext uri="{BB962C8B-B14F-4D97-AF65-F5344CB8AC3E}">
        <p14:creationId xmlns:p14="http://schemas.microsoft.com/office/powerpoint/2010/main" val="2791923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1092" name="Rectangle 4"/>
          <p:cNvSpPr>
            <a:spLocks noGrp="1" noRot="1" noChangeArrowheads="1"/>
          </p:cNvSpPr>
          <p:nvPr>
            <p:ph type="title"/>
          </p:nvPr>
        </p:nvSpPr>
        <p:spPr/>
        <p:txBody>
          <a:bodyPr/>
          <a:lstStyle/>
          <a:p>
            <a:r>
              <a:rPr lang="zh-TW" altLang="en-US" dirty="0">
                <a:solidFill>
                  <a:srgbClr val="FF0000"/>
                </a:solidFill>
                <a:latin typeface="+mn-ea"/>
                <a:ea typeface="+mn-ea"/>
              </a:rPr>
              <a:t>筷子的應用</a:t>
            </a:r>
            <a:r>
              <a:rPr lang="en-US" altLang="zh-TW" dirty="0">
                <a:solidFill>
                  <a:srgbClr val="FF0000"/>
                </a:solidFill>
                <a:latin typeface="+mn-ea"/>
                <a:ea typeface="+mn-ea"/>
              </a:rPr>
              <a:t>(</a:t>
            </a:r>
            <a:r>
              <a:rPr lang="zh-TW" altLang="en-US" dirty="0">
                <a:solidFill>
                  <a:srgbClr val="FF0000"/>
                </a:solidFill>
                <a:latin typeface="+mn-ea"/>
                <a:ea typeface="+mn-ea"/>
              </a:rPr>
              <a:t>四</a:t>
            </a:r>
            <a:r>
              <a:rPr lang="en-US" altLang="zh-TW" dirty="0">
                <a:solidFill>
                  <a:srgbClr val="FF0000"/>
                </a:solidFill>
                <a:latin typeface="+mn-ea"/>
                <a:ea typeface="+mn-ea"/>
              </a:rPr>
              <a:t>)</a:t>
            </a:r>
          </a:p>
        </p:txBody>
      </p:sp>
      <p:sp>
        <p:nvSpPr>
          <p:cNvPr id="1241093" name="Rectangle 5"/>
          <p:cNvSpPr>
            <a:spLocks noGrp="1" noChangeArrowheads="1"/>
          </p:cNvSpPr>
          <p:nvPr>
            <p:ph sz="half" idx="1"/>
          </p:nvPr>
        </p:nvSpPr>
        <p:spPr/>
        <p:txBody>
          <a:bodyPr/>
          <a:lstStyle/>
          <a:p>
            <a:pPr>
              <a:buFont typeface="Wingdings" pitchFamily="2" charset="2"/>
              <a:buNone/>
            </a:pPr>
            <a:r>
              <a:rPr kumimoji="0" lang="en-US" altLang="zh-TW" dirty="0">
                <a:latin typeface="標楷體" pitchFamily="65" charset="-120"/>
                <a:ea typeface="標楷體" pitchFamily="65" charset="-120"/>
              </a:rPr>
              <a:t>54.</a:t>
            </a:r>
            <a:r>
              <a:rPr kumimoji="0" lang="zh-TW" altLang="en-US" dirty="0">
                <a:latin typeface="標楷體" pitchFamily="65" charset="-120"/>
                <a:ea typeface="標楷體" pitchFamily="65" charset="-120"/>
              </a:rPr>
              <a:t>送禮之環保筷</a:t>
            </a:r>
          </a:p>
          <a:p>
            <a:pPr>
              <a:buFont typeface="Wingdings" pitchFamily="2" charset="2"/>
              <a:buNone/>
            </a:pPr>
            <a:r>
              <a:rPr kumimoji="0" lang="en-US" altLang="zh-TW" dirty="0">
                <a:latin typeface="標楷體" pitchFamily="65" charset="-120"/>
                <a:ea typeface="標楷體" pitchFamily="65" charset="-120"/>
              </a:rPr>
              <a:t>55.</a:t>
            </a:r>
            <a:r>
              <a:rPr kumimoji="0" lang="zh-TW" altLang="en-US" dirty="0">
                <a:latin typeface="標楷體" pitchFamily="65" charset="-120"/>
                <a:ea typeface="標楷體" pitchFamily="65" charset="-120"/>
              </a:rPr>
              <a:t>消除飲料氣泡</a:t>
            </a:r>
          </a:p>
          <a:p>
            <a:pPr>
              <a:buFont typeface="Wingdings" pitchFamily="2" charset="2"/>
              <a:buNone/>
            </a:pPr>
            <a:r>
              <a:rPr kumimoji="0" lang="en-US" altLang="zh-TW" dirty="0">
                <a:latin typeface="標楷體" pitchFamily="65" charset="-120"/>
                <a:ea typeface="標楷體" pitchFamily="65" charset="-120"/>
              </a:rPr>
              <a:t>56.</a:t>
            </a:r>
            <a:r>
              <a:rPr kumimoji="0" lang="zh-TW" altLang="en-US" dirty="0">
                <a:latin typeface="標楷體" pitchFamily="65" charset="-120"/>
                <a:ea typeface="標楷體" pitchFamily="65" charset="-120"/>
              </a:rPr>
              <a:t>將筷子當燙髮用具</a:t>
            </a:r>
            <a:r>
              <a:rPr kumimoji="0" lang="en-US" altLang="zh-TW" dirty="0">
                <a:latin typeface="標楷體" pitchFamily="65" charset="-120"/>
                <a:ea typeface="標楷體" pitchFamily="65" charset="-120"/>
              </a:rPr>
              <a:t>(</a:t>
            </a:r>
            <a:r>
              <a:rPr kumimoji="0" lang="zh-TW" altLang="en-US" dirty="0">
                <a:latin typeface="標楷體" pitchFamily="65" charset="-120"/>
                <a:ea typeface="標楷體" pitchFamily="65" charset="-120"/>
              </a:rPr>
              <a:t>筷子燙</a:t>
            </a:r>
            <a:r>
              <a:rPr kumimoji="0" lang="en-US" altLang="zh-TW" dirty="0">
                <a:latin typeface="標楷體" pitchFamily="65" charset="-120"/>
                <a:ea typeface="標楷體" pitchFamily="65" charset="-120"/>
              </a:rPr>
              <a:t>)</a:t>
            </a:r>
          </a:p>
          <a:p>
            <a:endParaRPr lang="en-US" altLang="zh-TW" dirty="0"/>
          </a:p>
        </p:txBody>
      </p:sp>
      <p:sp>
        <p:nvSpPr>
          <p:cNvPr id="4" name="投影片編號版面配置區 5"/>
          <p:cNvSpPr>
            <a:spLocks noGrp="1"/>
          </p:cNvSpPr>
          <p:nvPr>
            <p:ph type="sldNum" sz="quarter" idx="12"/>
          </p:nvPr>
        </p:nvSpPr>
        <p:spPr/>
        <p:txBody>
          <a:bodyPr/>
          <a:lstStyle/>
          <a:p>
            <a:fld id="{5AAA70FB-5500-48BB-93F1-03B8F959573D}" type="slidenum">
              <a:rPr lang="en-US" altLang="zh-TW"/>
              <a:pPr/>
              <a:t>7</a:t>
            </a:fld>
            <a:endParaRPr lang="en-US" altLang="zh-TW" dirty="0"/>
          </a:p>
        </p:txBody>
      </p:sp>
    </p:spTree>
    <p:extLst>
      <p:ext uri="{BB962C8B-B14F-4D97-AF65-F5344CB8AC3E}">
        <p14:creationId xmlns:p14="http://schemas.microsoft.com/office/powerpoint/2010/main" val="28116360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封閉性創新的五大方法</a:t>
            </a:r>
          </a:p>
        </p:txBody>
      </p:sp>
      <p:sp>
        <p:nvSpPr>
          <p:cNvPr id="3" name="內容版面配置區 2"/>
          <p:cNvSpPr>
            <a:spLocks noGrp="1"/>
          </p:cNvSpPr>
          <p:nvPr>
            <p:ph idx="1"/>
          </p:nvPr>
        </p:nvSpPr>
        <p:spPr/>
        <p:txBody>
          <a:bodyPr>
            <a:normAutofit lnSpcReduction="10000"/>
          </a:bodyPr>
          <a:lstStyle/>
          <a:p>
            <a:r>
              <a:rPr lang="en-US" altLang="zh-TW" dirty="0"/>
              <a:t>01.</a:t>
            </a:r>
            <a:r>
              <a:rPr lang="zh-TW" altLang="en-US" dirty="0"/>
              <a:t>簡化：少即是多</a:t>
            </a:r>
            <a:endParaRPr lang="en-US" altLang="zh-TW" dirty="0"/>
          </a:p>
          <a:p>
            <a:endParaRPr lang="en-US" altLang="zh-TW" dirty="0"/>
          </a:p>
          <a:p>
            <a:r>
              <a:rPr lang="en-US" altLang="zh-TW" dirty="0"/>
              <a:t>02.</a:t>
            </a:r>
            <a:r>
              <a:rPr lang="zh-TW" altLang="en-US" dirty="0"/>
              <a:t>分割：分而治之</a:t>
            </a:r>
            <a:endParaRPr lang="en-US" altLang="zh-TW" dirty="0"/>
          </a:p>
          <a:p>
            <a:endParaRPr lang="en-US" altLang="zh-TW" dirty="0"/>
          </a:p>
          <a:p>
            <a:r>
              <a:rPr lang="en-US" altLang="zh-TW" dirty="0"/>
              <a:t>03.</a:t>
            </a:r>
            <a:r>
              <a:rPr lang="zh-TW" altLang="en-US" dirty="0"/>
              <a:t>加乘：增生繁多</a:t>
            </a:r>
            <a:endParaRPr lang="en-US" altLang="zh-TW" dirty="0"/>
          </a:p>
          <a:p>
            <a:endParaRPr lang="en-US" altLang="zh-TW" dirty="0"/>
          </a:p>
          <a:p>
            <a:r>
              <a:rPr lang="en-US" altLang="zh-TW" dirty="0"/>
              <a:t>04.</a:t>
            </a:r>
            <a:r>
              <a:rPr lang="zh-TW" altLang="en-US" dirty="0"/>
              <a:t>任務統合：老狗學會新把戲</a:t>
            </a:r>
            <a:endParaRPr lang="en-US" altLang="zh-TW" dirty="0"/>
          </a:p>
          <a:p>
            <a:endParaRPr lang="en-US" altLang="zh-TW" dirty="0"/>
          </a:p>
          <a:p>
            <a:r>
              <a:rPr lang="en-US" altLang="zh-TW" dirty="0"/>
              <a:t>05.</a:t>
            </a:r>
            <a:r>
              <a:rPr lang="zh-TW" altLang="en-US" dirty="0"/>
              <a:t>屬性相依：巧妙的連結</a:t>
            </a:r>
          </a:p>
        </p:txBody>
      </p:sp>
    </p:spTree>
    <p:extLst>
      <p:ext uri="{BB962C8B-B14F-4D97-AF65-F5344CB8AC3E}">
        <p14:creationId xmlns:p14="http://schemas.microsoft.com/office/powerpoint/2010/main" val="3635715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簡化</a:t>
            </a:r>
            <a:r>
              <a:rPr lang="en-US" altLang="zh-TW" dirty="0"/>
              <a:t>-</a:t>
            </a:r>
            <a:r>
              <a:rPr lang="zh-TW" altLang="en-US" dirty="0"/>
              <a:t>有哪些可以去掉？</a:t>
            </a:r>
          </a:p>
        </p:txBody>
      </p:sp>
      <p:sp>
        <p:nvSpPr>
          <p:cNvPr id="3" name="內容版面配置區 2"/>
          <p:cNvSpPr>
            <a:spLocks noGrp="1"/>
          </p:cNvSpPr>
          <p:nvPr>
            <p:ph idx="1"/>
          </p:nvPr>
        </p:nvSpPr>
        <p:spPr/>
        <p:txBody>
          <a:bodyPr>
            <a:normAutofit/>
          </a:bodyPr>
          <a:lstStyle/>
          <a:p>
            <a:r>
              <a:rPr lang="zh-TW" altLang="en-US" dirty="0"/>
              <a:t>流程：</a:t>
            </a:r>
            <a:endParaRPr lang="en-US" altLang="zh-TW" dirty="0"/>
          </a:p>
          <a:p>
            <a:r>
              <a:rPr lang="en-US" altLang="zh-TW" dirty="0"/>
              <a:t>1.</a:t>
            </a:r>
            <a:r>
              <a:rPr lang="zh-TW" altLang="en-US" dirty="0"/>
              <a:t>把選定的商品、服務分析至細項。</a:t>
            </a:r>
            <a:endParaRPr lang="en-US" altLang="zh-TW" dirty="0"/>
          </a:p>
          <a:p>
            <a:r>
              <a:rPr lang="en-US" altLang="zh-TW" dirty="0"/>
              <a:t>2.</a:t>
            </a:r>
            <a:r>
              <a:rPr lang="zh-TW" altLang="en-US" dirty="0"/>
              <a:t>思考能否把一些必要的專案去除，然後利用剩下的細項再重新組合出另一個商品或服務。</a:t>
            </a:r>
            <a:endParaRPr lang="en-US" altLang="zh-TW" dirty="0"/>
          </a:p>
          <a:p>
            <a:endParaRPr lang="en-US" altLang="zh-TW" dirty="0"/>
          </a:p>
          <a:p>
            <a:r>
              <a:rPr lang="zh-TW" altLang="en-US" dirty="0"/>
              <a:t>比如：傳統電信服務</a:t>
            </a:r>
            <a:r>
              <a:rPr lang="en-US" altLang="zh-TW" dirty="0">
                <a:sym typeface="Wingdings" panose="05000000000000000000" pitchFamily="2" charset="2"/>
              </a:rPr>
              <a:t></a:t>
            </a:r>
            <a:r>
              <a:rPr lang="zh-TW" altLang="en-US" dirty="0">
                <a:sym typeface="Wingdings" panose="05000000000000000000" pitchFamily="2" charset="2"/>
              </a:rPr>
              <a:t>易付卡</a:t>
            </a:r>
            <a:endParaRPr lang="en-US" altLang="zh-TW" dirty="0">
              <a:sym typeface="Wingdings" panose="05000000000000000000" pitchFamily="2" charset="2"/>
            </a:endParaRPr>
          </a:p>
          <a:p>
            <a:pPr marL="0" indent="0">
              <a:buNone/>
            </a:pPr>
            <a:r>
              <a:rPr lang="en-US" altLang="zh-TW" dirty="0">
                <a:sym typeface="Wingdings" panose="05000000000000000000" pitchFamily="2" charset="2"/>
              </a:rPr>
              <a:t>A.</a:t>
            </a:r>
            <a:r>
              <a:rPr lang="zh-TW" altLang="en-US" dirty="0">
                <a:sym typeface="Wingdings" panose="05000000000000000000" pitchFamily="2" charset="2"/>
              </a:rPr>
              <a:t>辦理門號</a:t>
            </a:r>
            <a:r>
              <a:rPr lang="en-US" altLang="zh-TW" dirty="0">
                <a:sym typeface="Wingdings" panose="05000000000000000000" pitchFamily="2" charset="2"/>
              </a:rPr>
              <a:t>B.</a:t>
            </a:r>
            <a:r>
              <a:rPr lang="zh-TW" altLang="en-US" dirty="0">
                <a:sym typeface="Wingdings" panose="05000000000000000000" pitchFamily="2" charset="2"/>
              </a:rPr>
              <a:t>選定號碼</a:t>
            </a:r>
            <a:r>
              <a:rPr lang="en-US" altLang="zh-TW" dirty="0">
                <a:sym typeface="Wingdings" panose="05000000000000000000" pitchFamily="2" charset="2"/>
              </a:rPr>
              <a:t>C.</a:t>
            </a:r>
            <a:r>
              <a:rPr lang="zh-TW" altLang="en-US" dirty="0">
                <a:sym typeface="Wingdings" panose="05000000000000000000" pitchFamily="2" charset="2"/>
              </a:rPr>
              <a:t>使用服務</a:t>
            </a:r>
            <a:r>
              <a:rPr lang="en-US" altLang="zh-TW" dirty="0">
                <a:sym typeface="Wingdings" panose="05000000000000000000" pitchFamily="2" charset="2"/>
              </a:rPr>
              <a:t>D.</a:t>
            </a:r>
            <a:r>
              <a:rPr lang="zh-TW" altLang="en-US" dirty="0">
                <a:sym typeface="Wingdings" panose="05000000000000000000" pitchFamily="2" charset="2"/>
              </a:rPr>
              <a:t>帳單通知</a:t>
            </a:r>
            <a:r>
              <a:rPr lang="en-US" altLang="zh-TW" dirty="0">
                <a:sym typeface="Wingdings" panose="05000000000000000000" pitchFamily="2" charset="2"/>
              </a:rPr>
              <a:t>E.</a:t>
            </a:r>
            <a:r>
              <a:rPr lang="zh-TW" altLang="en-US" dirty="0">
                <a:sym typeface="Wingdings" panose="05000000000000000000" pitchFamily="2" charset="2"/>
              </a:rPr>
              <a:t>繳費</a:t>
            </a:r>
            <a:r>
              <a:rPr lang="en-US" altLang="zh-TW" dirty="0">
                <a:sym typeface="Wingdings" panose="05000000000000000000" pitchFamily="2" charset="2"/>
              </a:rPr>
              <a:t>(BCDE</a:t>
            </a:r>
            <a:r>
              <a:rPr lang="zh-TW" altLang="en-US" dirty="0">
                <a:sym typeface="Wingdings" panose="05000000000000000000" pitchFamily="2" charset="2"/>
              </a:rPr>
              <a:t>迴圈</a:t>
            </a:r>
            <a:r>
              <a:rPr lang="en-US" altLang="zh-TW" dirty="0">
                <a:sym typeface="Wingdings" panose="05000000000000000000" pitchFamily="2" charset="2"/>
              </a:rPr>
              <a:t>)</a:t>
            </a:r>
          </a:p>
          <a:p>
            <a:pPr marL="0" indent="0">
              <a:buNone/>
            </a:pPr>
            <a:r>
              <a:rPr lang="zh-TW" altLang="en-US" dirty="0">
                <a:sym typeface="Wingdings" panose="05000000000000000000" pitchFamily="2" charset="2"/>
              </a:rPr>
              <a:t>去除掉上述的</a:t>
            </a:r>
            <a:r>
              <a:rPr lang="en-US" altLang="zh-TW" dirty="0">
                <a:sym typeface="Wingdings" panose="05000000000000000000" pitchFamily="2" charset="2"/>
              </a:rPr>
              <a:t>A</a:t>
            </a:r>
            <a:r>
              <a:rPr lang="zh-TW" altLang="en-US" dirty="0">
                <a:sym typeface="Wingdings" panose="05000000000000000000" pitchFamily="2" charset="2"/>
              </a:rPr>
              <a:t>與</a:t>
            </a:r>
            <a:r>
              <a:rPr lang="en-US" altLang="zh-TW" dirty="0">
                <a:sym typeface="Wingdings" panose="05000000000000000000" pitchFamily="2" charset="2"/>
              </a:rPr>
              <a:t>D</a:t>
            </a:r>
            <a:r>
              <a:rPr lang="zh-TW" altLang="en-US" dirty="0">
                <a:sym typeface="Wingdings" panose="05000000000000000000" pitchFamily="2" charset="2"/>
              </a:rPr>
              <a:t>還有</a:t>
            </a:r>
            <a:r>
              <a:rPr lang="en-US" altLang="zh-TW" dirty="0">
                <a:sym typeface="Wingdings" panose="05000000000000000000" pitchFamily="2" charset="2"/>
              </a:rPr>
              <a:t>E</a:t>
            </a:r>
            <a:r>
              <a:rPr lang="zh-TW" altLang="en-US" dirty="0">
                <a:sym typeface="Wingdings" panose="05000000000000000000" pitchFamily="2" charset="2"/>
              </a:rPr>
              <a:t>創造新服務：易付卡。</a:t>
            </a:r>
            <a:endParaRPr lang="zh-TW" altLang="en-US" dirty="0"/>
          </a:p>
        </p:txBody>
      </p:sp>
    </p:spTree>
    <p:extLst>
      <p:ext uri="{BB962C8B-B14F-4D97-AF65-F5344CB8AC3E}">
        <p14:creationId xmlns:p14="http://schemas.microsoft.com/office/powerpoint/2010/main" val="34451940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標題 2"/>
          <p:cNvSpPr txBox="1">
            <a:spLocks/>
          </p:cNvSpPr>
          <p:nvPr/>
        </p:nvSpPr>
        <p:spPr>
          <a:xfrm>
            <a:off x="5104446" y="739691"/>
            <a:ext cx="5495026" cy="2590770"/>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zh-TW" altLang="en-US" b="1" dirty="0"/>
              <a:t>三向衣架</a:t>
            </a:r>
            <a:r>
              <a:rPr lang="zh-TW" altLang="en-US" dirty="0"/>
              <a:t>衣架這樣可以在三個不同的方向，解決了哪種方式，當你想掛衣服的鉤子面臨的問題掛起來。</a:t>
            </a:r>
            <a:endParaRPr lang="en-US" altLang="zh-TW" dirty="0"/>
          </a:p>
          <a:p>
            <a:r>
              <a:rPr lang="zh-TW" altLang="en-US" dirty="0"/>
              <a:t>它可以在任何方向上被使用的，由柔性材料製成，並提供更便利的用戶節省時間和精力。</a:t>
            </a:r>
          </a:p>
        </p:txBody>
      </p:sp>
      <p:pic>
        <p:nvPicPr>
          <p:cNvPr id="5" name="Picture 4" descr="http://my.ifdesign.de/upload/entry_ex_media/award_287/141134_5943_large_entry_mediu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4446" y="2838091"/>
            <a:ext cx="6506949" cy="334573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http://my.ifdesign.de/upload/entry_ex_media/award_287/141134_5944_large_entry_medium.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3645" y="739691"/>
            <a:ext cx="3635178" cy="2288845"/>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p:cNvSpPr/>
          <p:nvPr/>
        </p:nvSpPr>
        <p:spPr>
          <a:xfrm>
            <a:off x="1063645" y="3222740"/>
            <a:ext cx="3635178" cy="2308324"/>
          </a:xfrm>
          <a:prstGeom prst="rect">
            <a:avLst/>
          </a:prstGeom>
        </p:spPr>
        <p:txBody>
          <a:bodyPr wrap="square">
            <a:spAutoFit/>
          </a:bodyPr>
          <a:lstStyle/>
          <a:p>
            <a:r>
              <a:rPr lang="zh-TW" altLang="en-US" dirty="0"/>
              <a:t>臺灣國立雲林科技大學，玉鐘昌，謝彭成 </a:t>
            </a:r>
            <a:endParaRPr lang="en-US" altLang="zh-TW" dirty="0"/>
          </a:p>
          <a:p>
            <a:r>
              <a:rPr lang="zh-TW" altLang="en-US" dirty="0"/>
              <a:t>影片</a:t>
            </a:r>
            <a:r>
              <a:rPr lang="en-US" altLang="zh-TW" dirty="0"/>
              <a:t>:</a:t>
            </a:r>
          </a:p>
          <a:p>
            <a:r>
              <a:rPr lang="en-US" altLang="zh-TW" dirty="0">
                <a:hlinkClick r:id="rId4"/>
              </a:rPr>
              <a:t>https://www.youtube.com/watch?v=tjJYxntEFRw</a:t>
            </a:r>
          </a:p>
          <a:p>
            <a:r>
              <a:rPr lang="zh-TW" altLang="en-US" dirty="0"/>
              <a:t>來源 </a:t>
            </a:r>
            <a:r>
              <a:rPr lang="en-US" altLang="zh-TW" dirty="0"/>
              <a:t>:</a:t>
            </a:r>
            <a:r>
              <a:rPr lang="zh-TW" altLang="en-US" dirty="0"/>
              <a:t> </a:t>
            </a:r>
            <a:r>
              <a:rPr lang="en-US" altLang="zh-TW" dirty="0"/>
              <a:t>http://exhibition.ifdesign.de/entrydetails_en.html?mode=aus&amp;offset=0</a:t>
            </a:r>
            <a:endParaRPr lang="zh-TW" altLang="en-US" dirty="0"/>
          </a:p>
        </p:txBody>
      </p:sp>
    </p:spTree>
    <p:extLst>
      <p:ext uri="{BB962C8B-B14F-4D97-AF65-F5344CB8AC3E}">
        <p14:creationId xmlns:p14="http://schemas.microsoft.com/office/powerpoint/2010/main" val="3449947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6682902" y="286092"/>
            <a:ext cx="5196191" cy="6332706"/>
          </a:xfrm>
        </p:spPr>
        <p:txBody>
          <a:bodyPr/>
          <a:lstStyle/>
          <a:p>
            <a:pPr marL="0" indent="0">
              <a:buNone/>
            </a:pPr>
            <a:r>
              <a:rPr lang="en-US" altLang="zh-TW" sz="1800" b="1" dirty="0"/>
              <a:t>Support-The old-Toilet</a:t>
            </a:r>
          </a:p>
          <a:p>
            <a:pPr marL="0" indent="0">
              <a:buNone/>
            </a:pPr>
            <a:r>
              <a:rPr lang="zh-TW" altLang="en-US" sz="1800" dirty="0">
                <a:latin typeface="Adobe 仿宋 Std R" panose="02020400000000000000" pitchFamily="18" charset="-128"/>
                <a:ea typeface="Adobe 仿宋 Std R" panose="02020400000000000000" pitchFamily="18" charset="-128"/>
              </a:rPr>
              <a:t>問題：老年人經常會遇到困難，上廁所。一旦他們完成，他們需要拐杖或者其他人的幫助才能站起來。答案是：我們的設計，您使用的廁所周圍的其他方法，這樣，當該人完成，他或她可以站立時使用的馬桶水箱，作為他們的手和臂的支撐。這意味著，老年人得到加杠杆，他們需要能夠站起來的信心本身。</a:t>
            </a:r>
            <a:endParaRPr lang="en-US" altLang="zh-TW" sz="1800" dirty="0">
              <a:latin typeface="Adobe 仿宋 Std R" panose="02020400000000000000" pitchFamily="18" charset="-128"/>
              <a:ea typeface="Adobe 仿宋 Std R" panose="02020400000000000000" pitchFamily="18" charset="-128"/>
            </a:endParaRPr>
          </a:p>
          <a:p>
            <a:pPr marL="0" indent="0">
              <a:buNone/>
            </a:pP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zh-TW" altLang="en-US" sz="1800" dirty="0">
                <a:latin typeface="Adobe 仿宋 Std R" panose="02020400000000000000" pitchFamily="18" charset="-128"/>
                <a:ea typeface="Adobe 仿宋 Std R" panose="02020400000000000000" pitchFamily="18" charset="-128"/>
              </a:rPr>
              <a:t>中國  無錫</a:t>
            </a: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zh-TW" altLang="en-US" sz="1800" dirty="0">
                <a:latin typeface="Adobe 仿宋 Std R" panose="02020400000000000000" pitchFamily="18" charset="-128"/>
                <a:ea typeface="Adobe 仿宋 Std R" panose="02020400000000000000" pitchFamily="18" charset="-128"/>
              </a:rPr>
              <a:t>江南大學</a:t>
            </a: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de-DE" altLang="zh-TW" sz="1800" dirty="0">
                <a:latin typeface="Adobe 仿宋 Std R" panose="02020400000000000000" pitchFamily="18" charset="-128"/>
                <a:ea typeface="Adobe 仿宋 Std R" panose="02020400000000000000" pitchFamily="18" charset="-128"/>
              </a:rPr>
              <a:t>Zhang Kun, Li Wenxi, Xu Siyu</a:t>
            </a:r>
          </a:p>
          <a:p>
            <a:pPr marL="0" indent="0">
              <a:buNone/>
            </a:pPr>
            <a:endParaRPr lang="de-DE" altLang="zh-TW" sz="1800" dirty="0">
              <a:latin typeface="Adobe 仿宋 Std R" panose="02020400000000000000" pitchFamily="18" charset="-128"/>
              <a:ea typeface="Adobe 仿宋 Std R" panose="02020400000000000000" pitchFamily="18" charset="-128"/>
            </a:endParaRPr>
          </a:p>
          <a:p>
            <a:pPr marL="0" indent="0">
              <a:buNone/>
            </a:pPr>
            <a:r>
              <a:rPr lang="zh-TW" altLang="en-US" sz="1800" dirty="0">
                <a:latin typeface="Adobe 仿宋 Std R" panose="02020400000000000000" pitchFamily="18" charset="-128"/>
                <a:ea typeface="Adobe 仿宋 Std R" panose="02020400000000000000" pitchFamily="18" charset="-128"/>
              </a:rPr>
              <a:t>來源</a:t>
            </a:r>
            <a:r>
              <a:rPr lang="en-US" altLang="zh-TW" sz="1800" dirty="0">
                <a:latin typeface="Adobe 仿宋 Std R" panose="02020400000000000000" pitchFamily="18" charset="-128"/>
                <a:ea typeface="Adobe 仿宋 Std R" panose="02020400000000000000" pitchFamily="18" charset="-128"/>
              </a:rPr>
              <a:t>:</a:t>
            </a:r>
          </a:p>
          <a:p>
            <a:pPr marL="0" indent="0">
              <a:buNone/>
            </a:pPr>
            <a:r>
              <a:rPr lang="en-US" altLang="zh-TW" sz="1800" dirty="0">
                <a:latin typeface="Adobe 仿宋 Std R" panose="02020400000000000000" pitchFamily="18" charset="-128"/>
                <a:ea typeface="Adobe 仿宋 Std R" panose="02020400000000000000" pitchFamily="18" charset="-128"/>
              </a:rPr>
              <a:t>http://exhibition.ifdesign.de/entrydetails_en.html?mode=aus&amp;offset=76</a:t>
            </a:r>
            <a:endParaRPr lang="zh-TW" altLang="en-US" sz="1800" dirty="0">
              <a:latin typeface="Adobe 仿宋 Std R" panose="02020400000000000000" pitchFamily="18" charset="-128"/>
              <a:ea typeface="Adobe 仿宋 Std R" panose="02020400000000000000" pitchFamily="18" charset="-128"/>
            </a:endParaRPr>
          </a:p>
        </p:txBody>
      </p:sp>
      <p:pic>
        <p:nvPicPr>
          <p:cNvPr id="11266" name="Picture 2" descr="http://my.ifdesign.de/upload/award_img_287/oex_large/141302_01_287-141302_The-Old-Toilet_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213" y="1854436"/>
            <a:ext cx="6188239" cy="31491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96639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6505559" y="438493"/>
            <a:ext cx="5264285" cy="6400800"/>
          </a:xfrm>
        </p:spPr>
        <p:txBody>
          <a:bodyPr>
            <a:normAutofit/>
          </a:bodyPr>
          <a:lstStyle/>
          <a:p>
            <a:pPr marL="0" indent="0">
              <a:buNone/>
            </a:pPr>
            <a:r>
              <a:rPr lang="en-US" altLang="zh-TW" sz="1800" b="1" dirty="0"/>
              <a:t>TUPP - </a:t>
            </a:r>
            <a:r>
              <a:rPr lang="zh-TW" altLang="en-US" sz="1800" b="1" dirty="0"/>
              <a:t>轉。推。拉。</a:t>
            </a:r>
            <a:endParaRPr lang="en-US" altLang="zh-TW" sz="1800" b="1" dirty="0"/>
          </a:p>
          <a:p>
            <a:pPr marL="0" indent="0">
              <a:buNone/>
            </a:pPr>
            <a:r>
              <a:rPr lang="en-US" altLang="zh-TW" sz="1800" dirty="0"/>
              <a:t>TUPP - </a:t>
            </a:r>
            <a:r>
              <a:rPr lang="zh-TW" altLang="en-US" sz="1800" dirty="0"/>
              <a:t>是一個水龍頭，結合了先進的設計與創新的處理概念。我們採取的現象，人們更瞭解的水平線不是垂直的那些，以支援使用者在確認當前溫度設定為龍頭，例如優點，甚至從遠處。這顯著減少被責駡的風險，如果水溫在太熱設定和較少的水是用在找到合適的溫度。該溫度是通過移動杆向左或向右改變，而一個快速撚將提供更多或更少的水。</a:t>
            </a:r>
            <a:endParaRPr lang="en-US" altLang="zh-TW" sz="1800" dirty="0"/>
          </a:p>
          <a:p>
            <a:pPr marL="0" indent="0">
              <a:buNone/>
            </a:pPr>
            <a:endParaRPr lang="en-US" altLang="zh-TW" sz="1800" dirty="0"/>
          </a:p>
          <a:p>
            <a:pPr marL="0" indent="0">
              <a:buNone/>
            </a:pPr>
            <a:r>
              <a:rPr lang="zh-TW" altLang="en-US" sz="1800" dirty="0"/>
              <a:t>德國  施瓦本格明德</a:t>
            </a:r>
            <a:endParaRPr lang="en-US" altLang="zh-TW" sz="1800" dirty="0"/>
          </a:p>
          <a:p>
            <a:pPr marL="0" indent="0">
              <a:buNone/>
            </a:pPr>
            <a:r>
              <a:rPr lang="de-DE" altLang="zh-TW" sz="1800" dirty="0"/>
              <a:t>Hochschule für Gestaltung Schwäbisch Gmünd</a:t>
            </a:r>
          </a:p>
          <a:p>
            <a:pPr marL="0" indent="0">
              <a:buNone/>
            </a:pPr>
            <a:r>
              <a:rPr lang="en-US" altLang="zh-TW" sz="1800" dirty="0"/>
              <a:t>David </a:t>
            </a:r>
            <a:r>
              <a:rPr lang="en-US" altLang="zh-TW" sz="1800" dirty="0" err="1"/>
              <a:t>Wojcik</a:t>
            </a:r>
            <a:r>
              <a:rPr lang="en-US" altLang="zh-TW" sz="1800" dirty="0"/>
              <a:t>, </a:t>
            </a:r>
            <a:r>
              <a:rPr lang="en-US" altLang="zh-TW" sz="1800" dirty="0" err="1"/>
              <a:t>Jörg</a:t>
            </a:r>
            <a:r>
              <a:rPr lang="en-US" altLang="zh-TW" sz="1800" dirty="0"/>
              <a:t> Saur</a:t>
            </a:r>
          </a:p>
          <a:p>
            <a:pPr marL="0" indent="0">
              <a:buNone/>
            </a:pPr>
            <a:endParaRPr lang="en-US" altLang="zh-TW" sz="1800" dirty="0"/>
          </a:p>
          <a:p>
            <a:pPr marL="0" indent="0">
              <a:buNone/>
            </a:pPr>
            <a:r>
              <a:rPr lang="zh-TW" altLang="en-US" sz="1800" dirty="0"/>
              <a:t>來源</a:t>
            </a:r>
            <a:r>
              <a:rPr lang="en-US" altLang="zh-TW" sz="1800" dirty="0"/>
              <a:t>:</a:t>
            </a:r>
          </a:p>
          <a:p>
            <a:pPr marL="0" indent="0">
              <a:buNone/>
            </a:pPr>
            <a:r>
              <a:rPr lang="en-US" altLang="zh-TW" sz="1800" dirty="0"/>
              <a:t>http://exhibition.ifdesign.de/entrydetails_en.html?mode=aus&amp;offset=83</a:t>
            </a:r>
            <a:endParaRPr lang="zh-TW" altLang="en-US" sz="1800" dirty="0"/>
          </a:p>
        </p:txBody>
      </p:sp>
      <p:pic>
        <p:nvPicPr>
          <p:cNvPr id="18434" name="Picture 2" descr="http://my.ifdesign.de/upload/award_img_287/conv_145656_01_1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9470" y="262647"/>
            <a:ext cx="2857500" cy="2857500"/>
          </a:xfrm>
          <a:prstGeom prst="rect">
            <a:avLst/>
          </a:prstGeom>
          <a:noFill/>
          <a:extLst>
            <a:ext uri="{909E8E84-426E-40DD-AFC4-6F175D3DCCD1}">
              <a14:hiddenFill xmlns:a14="http://schemas.microsoft.com/office/drawing/2010/main">
                <a:solidFill>
                  <a:srgbClr val="FFFFFF"/>
                </a:solidFill>
              </a14:hiddenFill>
            </a:ext>
          </a:extLst>
        </p:spPr>
      </p:pic>
      <p:pic>
        <p:nvPicPr>
          <p:cNvPr id="18436" name="Picture 4" descr="http://my.ifdesign.de/upload/award_img_287/oex_large/145656_02_1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5956" y="3155344"/>
            <a:ext cx="4124527" cy="35081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8622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6106016" y="720659"/>
            <a:ext cx="5842461" cy="6137341"/>
          </a:xfrm>
        </p:spPr>
        <p:txBody>
          <a:bodyPr>
            <a:normAutofit lnSpcReduction="10000"/>
          </a:bodyPr>
          <a:lstStyle/>
          <a:p>
            <a:pPr marL="0" indent="0">
              <a:buNone/>
            </a:pPr>
            <a:r>
              <a:rPr lang="en-US" altLang="zh-TW" sz="2400" b="1" dirty="0"/>
              <a:t>8° Battery</a:t>
            </a:r>
          </a:p>
          <a:p>
            <a:pPr marL="0" indent="0">
              <a:buNone/>
            </a:pPr>
            <a:r>
              <a:rPr lang="zh-TW" altLang="en-US" sz="2400" dirty="0"/>
              <a:t>一直以來，難以把電池從電池倉中拿起。對電池的形狀這種新的設計是一個很好的解決了這個問題。只需按下錐形部分，然後對方就上去了，所以你可以很容易地將其拿起。</a:t>
            </a:r>
            <a:endParaRPr lang="en-US" altLang="zh-TW" sz="2400" dirty="0"/>
          </a:p>
          <a:p>
            <a:endParaRPr lang="en-US" altLang="zh-TW" sz="2400" dirty="0"/>
          </a:p>
          <a:p>
            <a:endParaRPr lang="en-US" altLang="zh-TW" sz="2400" dirty="0"/>
          </a:p>
          <a:p>
            <a:pPr marL="0" indent="0">
              <a:buNone/>
            </a:pPr>
            <a:endParaRPr lang="en-US" altLang="zh-TW" sz="2400" dirty="0"/>
          </a:p>
          <a:p>
            <a:pPr marL="0" indent="0">
              <a:buNone/>
            </a:pPr>
            <a:r>
              <a:rPr lang="zh-TW" altLang="en-US" sz="2400" dirty="0"/>
              <a:t>中國北京航空航太大學  </a:t>
            </a:r>
            <a:r>
              <a:rPr lang="sv-SE" altLang="zh-TW" sz="2400" dirty="0"/>
              <a:t>Hong Nan Lin, </a:t>
            </a:r>
            <a:r>
              <a:rPr lang="zh-TW" altLang="en-US" sz="2400" dirty="0"/>
              <a:t> </a:t>
            </a:r>
            <a:r>
              <a:rPr lang="sv-SE" altLang="zh-TW" sz="2400" dirty="0"/>
              <a:t>Yin Shuai Zhang</a:t>
            </a:r>
          </a:p>
          <a:p>
            <a:pPr marL="0" indent="0">
              <a:buNone/>
            </a:pPr>
            <a:r>
              <a:rPr lang="zh-TW" altLang="en-US" sz="2400" dirty="0"/>
              <a:t>來源</a:t>
            </a:r>
            <a:r>
              <a:rPr lang="en-US" altLang="zh-TW" sz="2400" dirty="0"/>
              <a:t>:</a:t>
            </a:r>
          </a:p>
          <a:p>
            <a:pPr marL="0" indent="0">
              <a:buNone/>
            </a:pPr>
            <a:r>
              <a:rPr lang="en-US" altLang="zh-TW" sz="2000" dirty="0"/>
              <a:t>http://exhibition.ifdesign.de/entrydetails_en.html?offset=3&amp;mode=aus</a:t>
            </a:r>
            <a:br>
              <a:rPr lang="sv-SE" altLang="zh-TW" sz="2400" dirty="0"/>
            </a:br>
            <a:endParaRPr lang="zh-TW" altLang="en-US" sz="2400" dirty="0"/>
          </a:p>
        </p:txBody>
      </p:sp>
      <p:pic>
        <p:nvPicPr>
          <p:cNvPr id="2050" name="Picture 2" descr="http://my.ifdesign.de/upload/award_img_287/oex_large/131951_01_287-131951_8_battery_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948" y="3789329"/>
            <a:ext cx="4512838" cy="30098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my.ifdesign.de/upload/award_img_287/oex_large/131951_02_287-131951_8_battery_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9830" y="450142"/>
            <a:ext cx="4961725" cy="35062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26751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分割</a:t>
            </a:r>
            <a:r>
              <a:rPr lang="en-US" altLang="zh-TW" dirty="0"/>
              <a:t>-</a:t>
            </a:r>
            <a:r>
              <a:rPr lang="zh-TW" altLang="en-US" dirty="0"/>
              <a:t>有哪些可以分開再組合</a:t>
            </a:r>
            <a:r>
              <a:rPr lang="en-US" altLang="zh-TW" dirty="0"/>
              <a:t>?</a:t>
            </a:r>
            <a:endParaRPr lang="zh-TW" altLang="en-US" dirty="0"/>
          </a:p>
        </p:txBody>
      </p:sp>
      <p:sp>
        <p:nvSpPr>
          <p:cNvPr id="3" name="內容版面配置區 2"/>
          <p:cNvSpPr>
            <a:spLocks noGrp="1"/>
          </p:cNvSpPr>
          <p:nvPr>
            <p:ph idx="1"/>
          </p:nvPr>
        </p:nvSpPr>
        <p:spPr/>
        <p:txBody>
          <a:bodyPr/>
          <a:lstStyle/>
          <a:p>
            <a:r>
              <a:rPr lang="zh-TW" altLang="en-US" dirty="0"/>
              <a:t>流程：</a:t>
            </a:r>
            <a:endParaRPr lang="en-US" altLang="zh-TW" dirty="0"/>
          </a:p>
          <a:p>
            <a:r>
              <a:rPr lang="en-US" altLang="zh-TW" dirty="0"/>
              <a:t>1.</a:t>
            </a:r>
            <a:r>
              <a:rPr lang="zh-TW" altLang="en-US" dirty="0"/>
              <a:t>把選定的商品、服務分析至細項。</a:t>
            </a:r>
            <a:endParaRPr lang="en-US" altLang="zh-TW" dirty="0"/>
          </a:p>
          <a:p>
            <a:r>
              <a:rPr lang="en-US" altLang="zh-TW" dirty="0"/>
              <a:t>2.</a:t>
            </a:r>
            <a:r>
              <a:rPr lang="zh-TW" altLang="en-US" dirty="0"/>
              <a:t>思考能否把一些必要的專案分開，然後利用分開出的各項元素細項各自重新組合出，結合出另一個商品或服務。</a:t>
            </a:r>
            <a:endParaRPr lang="en-US" altLang="zh-TW" dirty="0"/>
          </a:p>
          <a:p>
            <a:endParaRPr lang="en-US" altLang="zh-TW" dirty="0"/>
          </a:p>
          <a:p>
            <a:r>
              <a:rPr lang="zh-TW" altLang="en-US" dirty="0"/>
              <a:t>比如：箱型冷氣</a:t>
            </a:r>
            <a:r>
              <a:rPr lang="en-US" altLang="zh-TW" dirty="0">
                <a:sym typeface="Wingdings" panose="05000000000000000000" pitchFamily="2" charset="2"/>
              </a:rPr>
              <a:t></a:t>
            </a:r>
            <a:r>
              <a:rPr lang="zh-TW" altLang="en-US" dirty="0">
                <a:sym typeface="Wingdings" panose="05000000000000000000" pitchFamily="2" charset="2"/>
              </a:rPr>
              <a:t>分離式冷氣</a:t>
            </a:r>
            <a:endParaRPr lang="en-US" altLang="zh-TW" dirty="0">
              <a:sym typeface="Wingdings" panose="05000000000000000000" pitchFamily="2" charset="2"/>
            </a:endParaRPr>
          </a:p>
          <a:p>
            <a:pPr marL="0" indent="0">
              <a:buNone/>
            </a:pPr>
            <a:r>
              <a:rPr lang="en-US" altLang="zh-TW" dirty="0">
                <a:sym typeface="Wingdings" panose="05000000000000000000" pitchFamily="2" charset="2"/>
              </a:rPr>
              <a:t>A.</a:t>
            </a:r>
            <a:r>
              <a:rPr lang="zh-TW" altLang="en-US" dirty="0">
                <a:sym typeface="Wingdings" panose="05000000000000000000" pitchFamily="2" charset="2"/>
              </a:rPr>
              <a:t>壓縮機</a:t>
            </a:r>
            <a:r>
              <a:rPr lang="en-US" altLang="zh-TW" dirty="0">
                <a:sym typeface="Wingdings" panose="05000000000000000000" pitchFamily="2" charset="2"/>
              </a:rPr>
              <a:t>B.</a:t>
            </a:r>
            <a:r>
              <a:rPr lang="zh-TW" altLang="en-US" dirty="0">
                <a:sym typeface="Wingdings" panose="05000000000000000000" pitchFamily="2" charset="2"/>
              </a:rPr>
              <a:t>冷媒系統</a:t>
            </a:r>
            <a:r>
              <a:rPr lang="en-US" altLang="zh-TW" dirty="0">
                <a:sym typeface="Wingdings" panose="05000000000000000000" pitchFamily="2" charset="2"/>
              </a:rPr>
              <a:t>C.</a:t>
            </a:r>
            <a:r>
              <a:rPr lang="zh-TW" altLang="en-US" dirty="0">
                <a:sym typeface="Wingdings" panose="05000000000000000000" pitchFamily="2" charset="2"/>
              </a:rPr>
              <a:t>封閉性結構</a:t>
            </a:r>
            <a:r>
              <a:rPr lang="en-US" altLang="zh-TW" dirty="0">
                <a:sym typeface="Wingdings" panose="05000000000000000000" pitchFamily="2" charset="2"/>
              </a:rPr>
              <a:t>D.</a:t>
            </a:r>
            <a:r>
              <a:rPr lang="zh-TW" altLang="en-US" dirty="0">
                <a:sym typeface="Wingdings" panose="05000000000000000000" pitchFamily="2" charset="2"/>
              </a:rPr>
              <a:t>冷熱交換系統</a:t>
            </a:r>
            <a:r>
              <a:rPr lang="en-US" altLang="zh-TW" dirty="0">
                <a:sym typeface="Wingdings" panose="05000000000000000000" pitchFamily="2" charset="2"/>
              </a:rPr>
              <a:t>E.</a:t>
            </a:r>
            <a:r>
              <a:rPr lang="zh-TW" altLang="en-US" dirty="0">
                <a:sym typeface="Wingdings" panose="05000000000000000000" pitchFamily="2" charset="2"/>
              </a:rPr>
              <a:t>單一機體</a:t>
            </a:r>
            <a:r>
              <a:rPr lang="en-US" altLang="zh-TW" dirty="0">
                <a:sym typeface="Wingdings" panose="05000000000000000000" pitchFamily="2" charset="2"/>
              </a:rPr>
              <a:t></a:t>
            </a:r>
          </a:p>
          <a:p>
            <a:pPr marL="0" indent="0">
              <a:buNone/>
            </a:pPr>
            <a:r>
              <a:rPr lang="zh-TW" altLang="en-US" dirty="0">
                <a:sym typeface="Wingdings" panose="05000000000000000000" pitchFamily="2" charset="2"/>
              </a:rPr>
              <a:t>重新組合上述的</a:t>
            </a:r>
            <a:r>
              <a:rPr lang="en-US" altLang="zh-TW" dirty="0">
                <a:sym typeface="Wingdings" panose="05000000000000000000" pitchFamily="2" charset="2"/>
              </a:rPr>
              <a:t>A</a:t>
            </a:r>
            <a:r>
              <a:rPr lang="zh-TW" altLang="en-US" dirty="0">
                <a:sym typeface="Wingdings" panose="05000000000000000000" pitchFamily="2" charset="2"/>
              </a:rPr>
              <a:t>與</a:t>
            </a:r>
            <a:r>
              <a:rPr lang="en-US" altLang="zh-TW" dirty="0">
                <a:sym typeface="Wingdings" panose="05000000000000000000" pitchFamily="2" charset="2"/>
              </a:rPr>
              <a:t>C</a:t>
            </a:r>
            <a:r>
              <a:rPr lang="zh-TW" altLang="en-US" dirty="0">
                <a:sym typeface="Wingdings" panose="05000000000000000000" pitchFamily="2" charset="2"/>
              </a:rPr>
              <a:t>還有</a:t>
            </a:r>
            <a:r>
              <a:rPr lang="en-US" altLang="zh-TW" dirty="0">
                <a:sym typeface="Wingdings" panose="05000000000000000000" pitchFamily="2" charset="2"/>
              </a:rPr>
              <a:t>E</a:t>
            </a:r>
            <a:r>
              <a:rPr lang="zh-TW" altLang="en-US" dirty="0">
                <a:sym typeface="Wingdings" panose="05000000000000000000" pitchFamily="2" charset="2"/>
              </a:rPr>
              <a:t>創造新應用產品：分離式冷氣。</a:t>
            </a:r>
            <a:endParaRPr lang="zh-TW" altLang="en-US" dirty="0"/>
          </a:p>
          <a:p>
            <a:endParaRPr lang="zh-TW" altLang="en-US" dirty="0"/>
          </a:p>
        </p:txBody>
      </p:sp>
    </p:spTree>
    <p:extLst>
      <p:ext uri="{BB962C8B-B14F-4D97-AF65-F5344CB8AC3E}">
        <p14:creationId xmlns:p14="http://schemas.microsoft.com/office/powerpoint/2010/main" val="24473958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5424606" y="419100"/>
            <a:ext cx="4862393" cy="4762500"/>
          </a:xfrm>
        </p:spPr>
        <p:txBody>
          <a:bodyPr>
            <a:normAutofit/>
          </a:bodyPr>
          <a:lstStyle/>
          <a:p>
            <a:pPr marL="0" indent="0">
              <a:buNone/>
            </a:pPr>
            <a:r>
              <a:rPr lang="zh-TW" altLang="en-US" sz="2200" b="1" dirty="0"/>
              <a:t>容易得開膠袋</a:t>
            </a:r>
            <a:endParaRPr lang="en-US" altLang="zh-TW" sz="2200" b="1" dirty="0"/>
          </a:p>
          <a:p>
            <a:pPr marL="0" indent="0">
              <a:buNone/>
            </a:pPr>
            <a:r>
              <a:rPr lang="zh-TW" altLang="en-US" sz="2200" dirty="0"/>
              <a:t>常規塑膠袋密封件是平坦，因為它們具有塑膠薄膜的</a:t>
            </a:r>
            <a:r>
              <a:rPr lang="en-US" altLang="zh-TW" sz="2200" dirty="0"/>
              <a:t>2</a:t>
            </a:r>
            <a:r>
              <a:rPr lang="zh-TW" altLang="en-US" sz="2200" dirty="0"/>
              <a:t>層夾著的，所以表面摩擦小，它們是很難打開。在我們的設計中，我們狀如帶在每邊的突出部的波的密封，使得可以容易地拉出塑膠袋打開。</a:t>
            </a:r>
            <a:endParaRPr lang="en-US" altLang="zh-TW" sz="2200" dirty="0"/>
          </a:p>
          <a:p>
            <a:pPr marL="0" indent="0">
              <a:buNone/>
            </a:pPr>
            <a:r>
              <a:rPr lang="zh-TW" altLang="en-US" sz="2000" dirty="0"/>
              <a:t>三藩市藝術大學中國美術學院  </a:t>
            </a:r>
            <a:r>
              <a:rPr lang="en-US" altLang="zh-TW" sz="2000" dirty="0" err="1"/>
              <a:t>Haibin</a:t>
            </a:r>
            <a:r>
              <a:rPr lang="en-US" altLang="zh-TW" sz="2000" dirty="0"/>
              <a:t> Zheng, </a:t>
            </a:r>
            <a:r>
              <a:rPr lang="en-US" altLang="zh-TW" sz="2000" dirty="0" err="1"/>
              <a:t>Zhiyong</a:t>
            </a:r>
            <a:r>
              <a:rPr lang="en-US" altLang="zh-TW" sz="2000" dirty="0"/>
              <a:t> Zhao, </a:t>
            </a:r>
            <a:r>
              <a:rPr lang="en-US" altLang="zh-TW" sz="2000" dirty="0" err="1"/>
              <a:t>Junjie</a:t>
            </a:r>
            <a:r>
              <a:rPr lang="en-US" altLang="zh-TW" sz="2000" dirty="0"/>
              <a:t> Zhang, </a:t>
            </a:r>
            <a:r>
              <a:rPr lang="en-US" altLang="zh-TW" sz="2000" dirty="0" err="1"/>
              <a:t>Qiwen</a:t>
            </a:r>
            <a:r>
              <a:rPr lang="en-US" altLang="zh-TW" sz="2000" dirty="0"/>
              <a:t> Wu</a:t>
            </a:r>
          </a:p>
          <a:p>
            <a:pPr marL="0" indent="0">
              <a:buNone/>
            </a:pPr>
            <a:r>
              <a:rPr lang="zh-TW" altLang="en-US" sz="2000" dirty="0"/>
              <a:t>來源</a:t>
            </a:r>
            <a:r>
              <a:rPr lang="en-US" altLang="zh-TW" sz="2000" dirty="0"/>
              <a:t>:</a:t>
            </a:r>
          </a:p>
          <a:p>
            <a:pPr marL="0" indent="0">
              <a:buNone/>
            </a:pPr>
            <a:r>
              <a:rPr lang="en-US" altLang="zh-TW" sz="2000" dirty="0"/>
              <a:t>http://exhibition.ifdesign.de/entrydetails_en.html?mode=aus&amp;offset=28</a:t>
            </a:r>
            <a:endParaRPr lang="zh-TW" altLang="en-US" sz="2000" dirty="0"/>
          </a:p>
        </p:txBody>
      </p:sp>
      <p:pic>
        <p:nvPicPr>
          <p:cNvPr id="11266" name="Picture 2" descr="http://my.ifdesign.de/upload/award_img_287/oex_large/139216_01_287-139216_Easy_to_Open_Plastic_Bag_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549" y="419099"/>
            <a:ext cx="4890367" cy="6257926"/>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http://my.ifdesign.de/upload/award_img_287/oex_large/139216_02_287-139216_Easy_to_Open_Plastic_Bag_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8125" y="4682925"/>
            <a:ext cx="6573957" cy="199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85868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6799634" y="252918"/>
            <a:ext cx="5069731" cy="6371617"/>
          </a:xfrm>
        </p:spPr>
        <p:txBody>
          <a:bodyPr>
            <a:normAutofit/>
          </a:bodyPr>
          <a:lstStyle/>
          <a:p>
            <a:pPr marL="0" indent="0">
              <a:buNone/>
            </a:pPr>
            <a:r>
              <a:rPr lang="en-US" altLang="zh-TW" sz="1800" dirty="0"/>
              <a:t>Tear off a scoop</a:t>
            </a:r>
          </a:p>
          <a:p>
            <a:pPr marL="0" indent="0">
              <a:buNone/>
            </a:pPr>
            <a:r>
              <a:rPr lang="zh-TW" altLang="en-US" sz="1800" dirty="0">
                <a:latin typeface="Adobe 仿宋 Std R" panose="02020400000000000000" pitchFamily="18" charset="-128"/>
                <a:ea typeface="Adobe 仿宋 Std R" panose="02020400000000000000" pitchFamily="18" charset="-128"/>
              </a:rPr>
              <a:t>它通常很難控制洗衣粉中散發出來的容器，當你準備洗你的衣服的數量，所以它的方便使用勺子。不過，有時你根本沒有之一。這種洗衣粉袋可以解決的問題：當你撕沿虛線袋，撕裂的部分可以很容易地作為獨家新聞。</a:t>
            </a:r>
            <a:endParaRPr lang="en-US" altLang="zh-TW" sz="1800" dirty="0">
              <a:latin typeface="Adobe 仿宋 Std R" panose="02020400000000000000" pitchFamily="18" charset="-128"/>
              <a:ea typeface="Adobe 仿宋 Std R" panose="02020400000000000000" pitchFamily="18" charset="-128"/>
            </a:endParaRPr>
          </a:p>
          <a:p>
            <a:pPr marL="0" indent="0">
              <a:buNone/>
            </a:pP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zh-TW" altLang="en-US" sz="1800" dirty="0">
                <a:latin typeface="Adobe 仿宋 Std R" panose="02020400000000000000" pitchFamily="18" charset="-128"/>
                <a:ea typeface="Adobe 仿宋 Std R" panose="02020400000000000000" pitchFamily="18" charset="-128"/>
              </a:rPr>
              <a:t>中國  無錫</a:t>
            </a: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zh-TW" altLang="en-US" sz="1800" dirty="0">
                <a:latin typeface="Adobe 仿宋 Std R" panose="02020400000000000000" pitchFamily="18" charset="-128"/>
                <a:ea typeface="Adobe 仿宋 Std R" panose="02020400000000000000" pitchFamily="18" charset="-128"/>
              </a:rPr>
              <a:t>江南大學</a:t>
            </a: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en-US" altLang="zh-TW" sz="1800" dirty="0">
                <a:latin typeface="Adobe 仿宋 Std R" panose="02020400000000000000" pitchFamily="18" charset="-128"/>
                <a:ea typeface="Adobe 仿宋 Std R" panose="02020400000000000000" pitchFamily="18" charset="-128"/>
              </a:rPr>
              <a:t>Yang </a:t>
            </a:r>
            <a:r>
              <a:rPr lang="en-US" altLang="zh-TW" sz="1800" dirty="0" err="1">
                <a:latin typeface="Adobe 仿宋 Std R" panose="02020400000000000000" pitchFamily="18" charset="-128"/>
                <a:ea typeface="Adobe 仿宋 Std R" panose="02020400000000000000" pitchFamily="18" charset="-128"/>
              </a:rPr>
              <a:t>Guo</a:t>
            </a:r>
            <a:r>
              <a:rPr lang="en-US" altLang="zh-TW" sz="1800" dirty="0">
                <a:latin typeface="Adobe 仿宋 Std R" panose="02020400000000000000" pitchFamily="18" charset="-128"/>
                <a:ea typeface="Adobe 仿宋 Std R" panose="02020400000000000000" pitchFamily="18" charset="-128"/>
              </a:rPr>
              <a:t>, </a:t>
            </a:r>
            <a:r>
              <a:rPr lang="en-US" altLang="zh-TW" sz="1800" dirty="0" err="1">
                <a:latin typeface="Adobe 仿宋 Std R" panose="02020400000000000000" pitchFamily="18" charset="-128"/>
                <a:ea typeface="Adobe 仿宋 Std R" panose="02020400000000000000" pitchFamily="18" charset="-128"/>
              </a:rPr>
              <a:t>Qiaoge</a:t>
            </a:r>
            <a:r>
              <a:rPr lang="en-US" altLang="zh-TW" sz="1800" dirty="0">
                <a:latin typeface="Adobe 仿宋 Std R" panose="02020400000000000000" pitchFamily="18" charset="-128"/>
                <a:ea typeface="Adobe 仿宋 Std R" panose="02020400000000000000" pitchFamily="18" charset="-128"/>
              </a:rPr>
              <a:t> Yang, </a:t>
            </a:r>
            <a:r>
              <a:rPr lang="en-US" altLang="zh-TW" sz="1800" dirty="0" err="1">
                <a:latin typeface="Adobe 仿宋 Std R" panose="02020400000000000000" pitchFamily="18" charset="-128"/>
                <a:ea typeface="Adobe 仿宋 Std R" panose="02020400000000000000" pitchFamily="18" charset="-128"/>
              </a:rPr>
              <a:t>Wenju</a:t>
            </a:r>
            <a:r>
              <a:rPr lang="en-US" altLang="zh-TW" sz="1800" dirty="0">
                <a:latin typeface="Adobe 仿宋 Std R" panose="02020400000000000000" pitchFamily="18" charset="-128"/>
                <a:ea typeface="Adobe 仿宋 Std R" panose="02020400000000000000" pitchFamily="18" charset="-128"/>
              </a:rPr>
              <a:t> Wu</a:t>
            </a:r>
          </a:p>
          <a:p>
            <a:pPr marL="0" indent="0">
              <a:buNone/>
            </a:pP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zh-TW" altLang="en-US" sz="1800" dirty="0">
                <a:latin typeface="Adobe 仿宋 Std R" panose="02020400000000000000" pitchFamily="18" charset="-128"/>
                <a:ea typeface="Adobe 仿宋 Std R" panose="02020400000000000000" pitchFamily="18" charset="-128"/>
              </a:rPr>
              <a:t>來源</a:t>
            </a:r>
            <a:r>
              <a:rPr lang="en-US" altLang="zh-TW" sz="1800" dirty="0">
                <a:latin typeface="Adobe 仿宋 Std R" panose="02020400000000000000" pitchFamily="18" charset="-128"/>
                <a:ea typeface="Adobe 仿宋 Std R" panose="02020400000000000000" pitchFamily="18" charset="-128"/>
              </a:rPr>
              <a:t>:</a:t>
            </a:r>
          </a:p>
          <a:p>
            <a:pPr marL="0" indent="0">
              <a:buNone/>
            </a:pPr>
            <a:r>
              <a:rPr lang="en-US" altLang="zh-TW" sz="1800" dirty="0">
                <a:latin typeface="Adobe 仿宋 Std R" panose="02020400000000000000" pitchFamily="18" charset="-128"/>
                <a:ea typeface="Adobe 仿宋 Std R" panose="02020400000000000000" pitchFamily="18" charset="-128"/>
              </a:rPr>
              <a:t>http://exhibition.ifdesign.de/entrydetails_en.html?mode=aus&amp;offset=79</a:t>
            </a:r>
            <a:endParaRPr lang="zh-TW" altLang="en-US" sz="1800" dirty="0">
              <a:latin typeface="Adobe 仿宋 Std R" panose="02020400000000000000" pitchFamily="18" charset="-128"/>
              <a:ea typeface="Adobe 仿宋 Std R" panose="02020400000000000000" pitchFamily="18" charset="-128"/>
            </a:endParaRPr>
          </a:p>
        </p:txBody>
      </p:sp>
      <p:pic>
        <p:nvPicPr>
          <p:cNvPr id="14338" name="Picture 2" descr="http://my.ifdesign.de/upload/award_img_287/oex_large/138159_01_287-138159_tear_off_a_scoop_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404" y="252918"/>
            <a:ext cx="4484451" cy="3089289"/>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http://my.ifdesign.de/upload/award_img_287/oex_large/138159_02_287-138159_tear_off_a_scoop_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1404" y="3437968"/>
            <a:ext cx="4484451" cy="30892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69499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http://my.ifdesign.de/upload/award_img_287/oex_large/138139_02_opt_if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72167" y="2720907"/>
            <a:ext cx="7333382" cy="4033361"/>
          </a:xfrm>
          <a:prstGeom prst="rect">
            <a:avLst/>
          </a:prstGeom>
          <a:noFill/>
          <a:extLst>
            <a:ext uri="{909E8E84-426E-40DD-AFC4-6F175D3DCCD1}">
              <a14:hiddenFill xmlns:a14="http://schemas.microsoft.com/office/drawing/2010/main">
                <a:solidFill>
                  <a:srgbClr val="FFFFFF"/>
                </a:solidFill>
              </a14:hiddenFill>
            </a:ext>
          </a:extLst>
        </p:spPr>
      </p:pic>
      <p:sp>
        <p:nvSpPr>
          <p:cNvPr id="3" name="內容版面配置區 2"/>
          <p:cNvSpPr>
            <a:spLocks noGrp="1"/>
          </p:cNvSpPr>
          <p:nvPr>
            <p:ph idx="1"/>
          </p:nvPr>
        </p:nvSpPr>
        <p:spPr>
          <a:xfrm>
            <a:off x="6565655" y="573165"/>
            <a:ext cx="4867275" cy="3240406"/>
          </a:xfrm>
        </p:spPr>
        <p:txBody>
          <a:bodyPr>
            <a:normAutofit/>
          </a:bodyPr>
          <a:lstStyle/>
          <a:p>
            <a:pPr marL="0" indent="0">
              <a:buNone/>
            </a:pPr>
            <a:r>
              <a:rPr lang="zh-TW" altLang="en-US" sz="2200" b="1" dirty="0"/>
              <a:t>瓶衣架</a:t>
            </a:r>
            <a:endParaRPr lang="en-US" altLang="zh-TW" sz="2200" b="1" dirty="0"/>
          </a:p>
          <a:p>
            <a:pPr marL="0" indent="0">
              <a:buNone/>
            </a:pPr>
            <a:r>
              <a:rPr lang="zh-TW" altLang="en-US" sz="2200" dirty="0"/>
              <a:t>瓶子衣架是由兩個輕的塑膠環的方便產物：一個適合繞飲用瓶的頸部，而另一個可以掛接到一個背包，手提包或腰帶。這意味著，你可以保持你的雙手攜帶或做其他的事情，不必扔掉瓶子離開是為了方便前它是空的。</a:t>
            </a:r>
          </a:p>
        </p:txBody>
      </p:sp>
      <p:pic>
        <p:nvPicPr>
          <p:cNvPr id="2050" name="Picture 2" descr="http://my.ifdesign.de/upload/award_img_287/oex_large/138139_01_opt_if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0749" y="1051707"/>
            <a:ext cx="5372100" cy="2954656"/>
          </a:xfrm>
          <a:prstGeom prst="rect">
            <a:avLst/>
          </a:prstGeom>
          <a:noFill/>
          <a:extLst>
            <a:ext uri="{909E8E84-426E-40DD-AFC4-6F175D3DCCD1}">
              <a14:hiddenFill xmlns:a14="http://schemas.microsoft.com/office/drawing/2010/main">
                <a:solidFill>
                  <a:srgbClr val="FFFFFF"/>
                </a:solidFill>
              </a14:hiddenFill>
            </a:ext>
          </a:extLst>
        </p:spPr>
      </p:pic>
      <p:sp>
        <p:nvSpPr>
          <p:cNvPr id="6" name="內容版面配置區 2"/>
          <p:cNvSpPr txBox="1">
            <a:spLocks/>
          </p:cNvSpPr>
          <p:nvPr/>
        </p:nvSpPr>
        <p:spPr>
          <a:xfrm>
            <a:off x="970749" y="4291377"/>
            <a:ext cx="4401418" cy="42878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TW" altLang="en-US" sz="2200" dirty="0"/>
              <a:t>伊斯蘭 德黑蘭大學 </a:t>
            </a:r>
            <a:r>
              <a:rPr lang="en-US" altLang="zh-TW" sz="2200" dirty="0" err="1"/>
              <a:t>Souroush</a:t>
            </a:r>
            <a:r>
              <a:rPr lang="en-US" altLang="zh-TW" sz="2200" dirty="0"/>
              <a:t> </a:t>
            </a:r>
            <a:r>
              <a:rPr lang="en-US" altLang="zh-TW" sz="2200" dirty="0" err="1"/>
              <a:t>Vahidian</a:t>
            </a:r>
            <a:r>
              <a:rPr lang="en-US" altLang="zh-TW" sz="2200" dirty="0"/>
              <a:t> </a:t>
            </a:r>
            <a:r>
              <a:rPr lang="en-US" altLang="zh-TW" sz="2200" dirty="0" err="1"/>
              <a:t>Kamyar</a:t>
            </a:r>
            <a:r>
              <a:rPr lang="en-US" altLang="zh-TW" sz="2200" dirty="0"/>
              <a:t>, Negar </a:t>
            </a:r>
            <a:r>
              <a:rPr lang="en-US" altLang="zh-TW" sz="2200" dirty="0" err="1"/>
              <a:t>Vahidian</a:t>
            </a:r>
            <a:r>
              <a:rPr lang="en-US" altLang="zh-TW" sz="2200" dirty="0"/>
              <a:t> </a:t>
            </a:r>
            <a:r>
              <a:rPr lang="en-US" altLang="zh-TW" sz="2200" dirty="0" err="1"/>
              <a:t>Kamyar</a:t>
            </a:r>
            <a:endParaRPr lang="en-US" altLang="zh-TW" sz="2200" dirty="0"/>
          </a:p>
          <a:p>
            <a:pPr marL="0" indent="0">
              <a:buNone/>
            </a:pPr>
            <a:r>
              <a:rPr lang="zh-TW" altLang="en-US" sz="2200" dirty="0"/>
              <a:t>來源</a:t>
            </a:r>
            <a:r>
              <a:rPr lang="en-US" altLang="zh-TW" sz="2200" dirty="0"/>
              <a:t>:</a:t>
            </a:r>
          </a:p>
          <a:p>
            <a:pPr marL="0" indent="0">
              <a:buNone/>
            </a:pPr>
            <a:r>
              <a:rPr lang="en-US" altLang="zh-TW" sz="2200" dirty="0"/>
              <a:t>http://exhibition.ifdesign.de/entrydetails_en.html?mode=aus&amp;offset=15</a:t>
            </a:r>
            <a:endParaRPr lang="zh-TW" altLang="en-US" sz="2200" dirty="0"/>
          </a:p>
        </p:txBody>
      </p:sp>
    </p:spTree>
    <p:extLst>
      <p:ext uri="{BB962C8B-B14F-4D97-AF65-F5344CB8AC3E}">
        <p14:creationId xmlns:p14="http://schemas.microsoft.com/office/powerpoint/2010/main" val="16489294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6770452" y="282101"/>
            <a:ext cx="4991910" cy="6284069"/>
          </a:xfrm>
        </p:spPr>
        <p:txBody>
          <a:bodyPr>
            <a:normAutofit/>
          </a:bodyPr>
          <a:lstStyle/>
          <a:p>
            <a:pPr marL="0" indent="0">
              <a:buNone/>
            </a:pPr>
            <a:r>
              <a:rPr lang="zh-TW" altLang="en-US" sz="1800" b="1" dirty="0"/>
              <a:t>茶</a:t>
            </a:r>
            <a:r>
              <a:rPr lang="en-US" altLang="zh-TW" sz="1800" b="1" dirty="0"/>
              <a:t>+</a:t>
            </a:r>
            <a:r>
              <a:rPr lang="zh-TW" altLang="en-US" sz="1800" b="1" dirty="0"/>
              <a:t>杯</a:t>
            </a:r>
            <a:endParaRPr lang="en-US" altLang="zh-TW" sz="1800" b="1" dirty="0"/>
          </a:p>
          <a:p>
            <a:pPr marL="0" indent="0">
              <a:buNone/>
            </a:pPr>
            <a:r>
              <a:rPr lang="zh-TW" altLang="en-US" sz="1800" dirty="0">
                <a:latin typeface="Adobe 仿宋 Std R" panose="02020400000000000000" pitchFamily="18" charset="-128"/>
                <a:ea typeface="Adobe 仿宋 Std R" panose="02020400000000000000" pitchFamily="18" charset="-128"/>
              </a:rPr>
              <a:t>茶</a:t>
            </a:r>
            <a:r>
              <a:rPr lang="en-US" altLang="zh-TW" sz="1800" dirty="0">
                <a:latin typeface="Adobe 仿宋 Std R" panose="02020400000000000000" pitchFamily="18" charset="-128"/>
                <a:ea typeface="Adobe 仿宋 Std R" panose="02020400000000000000" pitchFamily="18" charset="-128"/>
              </a:rPr>
              <a:t>+</a:t>
            </a:r>
            <a:r>
              <a:rPr lang="zh-TW" altLang="en-US" sz="1800" dirty="0">
                <a:latin typeface="Adobe 仿宋 Std R" panose="02020400000000000000" pitchFamily="18" charset="-128"/>
                <a:ea typeface="Adobe 仿宋 Std R" panose="02020400000000000000" pitchFamily="18" charset="-128"/>
              </a:rPr>
              <a:t>杯是一種新型的包裝設計。它解決了不得不尋找一個杯子和茶的問題，每次離開你感覺像一杯茶的時間。這可以節省一個杯子，我們的時間成本。當您使用茶</a:t>
            </a:r>
            <a:r>
              <a:rPr lang="en-US" altLang="zh-TW" sz="1800" dirty="0">
                <a:latin typeface="Adobe 仿宋 Std R" panose="02020400000000000000" pitchFamily="18" charset="-128"/>
                <a:ea typeface="Adobe 仿宋 Std R" panose="02020400000000000000" pitchFamily="18" charset="-128"/>
              </a:rPr>
              <a:t>+</a:t>
            </a:r>
            <a:r>
              <a:rPr lang="zh-TW" altLang="en-US" sz="1800" dirty="0">
                <a:latin typeface="Adobe 仿宋 Std R" panose="02020400000000000000" pitchFamily="18" charset="-128"/>
                <a:ea typeface="Adobe 仿宋 Std R" panose="02020400000000000000" pitchFamily="18" charset="-128"/>
              </a:rPr>
              <a:t>杯，所有你需要做的就是撕了包裝的封條，把它放入杯中，再加入熱水。用茶</a:t>
            </a:r>
            <a:r>
              <a:rPr lang="en-US" altLang="zh-TW" sz="1800" dirty="0">
                <a:latin typeface="Adobe 仿宋 Std R" panose="02020400000000000000" pitchFamily="18" charset="-128"/>
                <a:ea typeface="Adobe 仿宋 Std R" panose="02020400000000000000" pitchFamily="18" charset="-128"/>
              </a:rPr>
              <a:t>+</a:t>
            </a:r>
            <a:r>
              <a:rPr lang="zh-TW" altLang="en-US" sz="1800" dirty="0">
                <a:latin typeface="Adobe 仿宋 Std R" panose="02020400000000000000" pitchFamily="18" charset="-128"/>
                <a:ea typeface="Adobe 仿宋 Std R" panose="02020400000000000000" pitchFamily="18" charset="-128"/>
              </a:rPr>
              <a:t>一杯可以增加那些誰喜歡享受一杯熱茶，往往工人的工作效率。</a:t>
            </a:r>
            <a:endParaRPr lang="en-US" altLang="zh-TW" sz="1800" dirty="0">
              <a:latin typeface="Adobe 仿宋 Std R" panose="02020400000000000000" pitchFamily="18" charset="-128"/>
              <a:ea typeface="Adobe 仿宋 Std R" panose="02020400000000000000" pitchFamily="18" charset="-128"/>
            </a:endParaRPr>
          </a:p>
          <a:p>
            <a:pPr marL="0" indent="0">
              <a:buNone/>
            </a:pP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zh-TW" altLang="en-US" sz="1800" dirty="0">
                <a:latin typeface="Adobe 仿宋 Std R" panose="02020400000000000000" pitchFamily="18" charset="-128"/>
                <a:ea typeface="Adobe 仿宋 Std R" panose="02020400000000000000" pitchFamily="18" charset="-128"/>
              </a:rPr>
              <a:t>中國  武漢</a:t>
            </a: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zh-TW" altLang="en-US" sz="1800" dirty="0">
                <a:latin typeface="Adobe 仿宋 Std R" panose="02020400000000000000" pitchFamily="18" charset="-128"/>
                <a:ea typeface="Adobe 仿宋 Std R" panose="02020400000000000000" pitchFamily="18" charset="-128"/>
              </a:rPr>
              <a:t>江漢大學</a:t>
            </a: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en-US" altLang="zh-TW" sz="1800" dirty="0">
                <a:latin typeface="Adobe 仿宋 Std R" panose="02020400000000000000" pitchFamily="18" charset="-128"/>
                <a:ea typeface="Adobe 仿宋 Std R" panose="02020400000000000000" pitchFamily="18" charset="-128"/>
              </a:rPr>
              <a:t>Wu </a:t>
            </a:r>
            <a:r>
              <a:rPr lang="en-US" altLang="zh-TW" sz="1800" dirty="0" err="1">
                <a:latin typeface="Adobe 仿宋 Std R" panose="02020400000000000000" pitchFamily="18" charset="-128"/>
                <a:ea typeface="Adobe 仿宋 Std R" panose="02020400000000000000" pitchFamily="18" charset="-128"/>
              </a:rPr>
              <a:t>Chongxiang</a:t>
            </a:r>
            <a:r>
              <a:rPr lang="en-US" altLang="zh-TW" sz="1800" dirty="0">
                <a:latin typeface="Adobe 仿宋 Std R" panose="02020400000000000000" pitchFamily="18" charset="-128"/>
                <a:ea typeface="Adobe 仿宋 Std R" panose="02020400000000000000" pitchFamily="18" charset="-128"/>
              </a:rPr>
              <a:t>, Sun </a:t>
            </a:r>
            <a:r>
              <a:rPr lang="en-US" altLang="zh-TW" sz="1800" dirty="0" err="1">
                <a:latin typeface="Adobe 仿宋 Std R" panose="02020400000000000000" pitchFamily="18" charset="-128"/>
                <a:ea typeface="Adobe 仿宋 Std R" panose="02020400000000000000" pitchFamily="18" charset="-128"/>
              </a:rPr>
              <a:t>Biwen</a:t>
            </a:r>
            <a:r>
              <a:rPr lang="en-US" altLang="zh-TW" sz="1800" dirty="0">
                <a:latin typeface="Adobe 仿宋 Std R" panose="02020400000000000000" pitchFamily="18" charset="-128"/>
                <a:ea typeface="Adobe 仿宋 Std R" panose="02020400000000000000" pitchFamily="18" charset="-128"/>
              </a:rPr>
              <a:t>, Yang </a:t>
            </a:r>
            <a:r>
              <a:rPr lang="en-US" altLang="zh-TW" sz="1800" dirty="0" err="1">
                <a:latin typeface="Adobe 仿宋 Std R" panose="02020400000000000000" pitchFamily="18" charset="-128"/>
                <a:ea typeface="Adobe 仿宋 Std R" panose="02020400000000000000" pitchFamily="18" charset="-128"/>
              </a:rPr>
              <a:t>Guang</a:t>
            </a:r>
            <a:r>
              <a:rPr lang="en-US" altLang="zh-TW" sz="1800" dirty="0">
                <a:latin typeface="Adobe 仿宋 Std R" panose="02020400000000000000" pitchFamily="18" charset="-128"/>
                <a:ea typeface="Adobe 仿宋 Std R" panose="02020400000000000000" pitchFamily="18" charset="-128"/>
              </a:rPr>
              <a:t>, Xu Bin</a:t>
            </a:r>
          </a:p>
          <a:p>
            <a:pPr marL="0" indent="0">
              <a:buNone/>
            </a:pP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zh-TW" altLang="en-US" sz="1800" dirty="0">
                <a:latin typeface="Adobe 仿宋 Std R" panose="02020400000000000000" pitchFamily="18" charset="-128"/>
                <a:ea typeface="Adobe 仿宋 Std R" panose="02020400000000000000" pitchFamily="18" charset="-128"/>
              </a:rPr>
              <a:t>來源</a:t>
            </a:r>
            <a:r>
              <a:rPr lang="en-US" altLang="zh-TW" sz="1800" dirty="0">
                <a:latin typeface="Adobe 仿宋 Std R" panose="02020400000000000000" pitchFamily="18" charset="-128"/>
                <a:ea typeface="Adobe 仿宋 Std R" panose="02020400000000000000" pitchFamily="18" charset="-128"/>
              </a:rPr>
              <a:t>:</a:t>
            </a:r>
          </a:p>
          <a:p>
            <a:pPr marL="0" indent="0">
              <a:buNone/>
            </a:pPr>
            <a:r>
              <a:rPr lang="en-US" altLang="zh-TW" sz="1800" dirty="0">
                <a:latin typeface="Adobe 仿宋 Std R" panose="02020400000000000000" pitchFamily="18" charset="-128"/>
                <a:ea typeface="Adobe 仿宋 Std R" panose="02020400000000000000" pitchFamily="18" charset="-128"/>
              </a:rPr>
              <a:t>http://exhibition.ifdesign.de/entrydetails_en.html?mode=aus&amp;offset=78</a:t>
            </a:r>
            <a:endParaRPr lang="zh-TW" altLang="en-US" sz="1800" dirty="0">
              <a:latin typeface="Adobe 仿宋 Std R" panose="02020400000000000000" pitchFamily="18" charset="-128"/>
              <a:ea typeface="Adobe 仿宋 Std R" panose="02020400000000000000" pitchFamily="18" charset="-128"/>
            </a:endParaRPr>
          </a:p>
        </p:txBody>
      </p:sp>
      <p:pic>
        <p:nvPicPr>
          <p:cNvPr id="13314" name="Picture 2" descr="http://my.ifdesign.de/upload/award_img_287/oex_large/141816_01_287-141816_Tea__Cup_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3864" y="1416437"/>
            <a:ext cx="5828800" cy="40153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2896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6780180" y="340468"/>
            <a:ext cx="4962726" cy="6167336"/>
          </a:xfrm>
        </p:spPr>
        <p:txBody>
          <a:bodyPr>
            <a:normAutofit/>
          </a:bodyPr>
          <a:lstStyle/>
          <a:p>
            <a:pPr marL="0" indent="0">
              <a:buNone/>
            </a:pPr>
            <a:r>
              <a:rPr lang="zh-TW" altLang="en-US" sz="1800" b="1" dirty="0"/>
              <a:t>工作人員衣架</a:t>
            </a:r>
            <a:r>
              <a:rPr lang="en-US" altLang="zh-TW" sz="1800" b="1" dirty="0"/>
              <a:t>/</a:t>
            </a:r>
            <a:r>
              <a:rPr lang="zh-TW" altLang="en-US" sz="1800" b="1" dirty="0"/>
              <a:t>衣架</a:t>
            </a:r>
            <a:endParaRPr lang="en-US" altLang="zh-TW" sz="1800" b="1" dirty="0"/>
          </a:p>
          <a:p>
            <a:pPr marL="0" indent="0">
              <a:buNone/>
            </a:pPr>
            <a:r>
              <a:rPr lang="zh-TW" altLang="en-US" sz="1800" dirty="0">
                <a:latin typeface="Adobe 仿宋 Std R" panose="02020400000000000000" pitchFamily="18" charset="-128"/>
                <a:ea typeface="Adobe 仿宋 Std R" panose="02020400000000000000" pitchFamily="18" charset="-128"/>
              </a:rPr>
              <a:t>員工衣架是一個衣架，可以折迭成一個亭亭玉立的工作人員，使晾衣服更容易。員工衣架具有一中心彈簧接合，其中其兩個臂相遇，這使得它可以保持衣架成細棒（如拐杖或工作人員）。一隻胳膊折迭下來依偎到另一個用一個簡單的擠壓。員工衣架是具有成本效益的生產，它是比常規衣架更強和更輕。</a:t>
            </a:r>
            <a:endParaRPr lang="en-US" altLang="zh-TW" sz="1800" dirty="0">
              <a:latin typeface="Adobe 仿宋 Std R" panose="02020400000000000000" pitchFamily="18" charset="-128"/>
              <a:ea typeface="Adobe 仿宋 Std R" panose="02020400000000000000" pitchFamily="18" charset="-128"/>
            </a:endParaRPr>
          </a:p>
          <a:p>
            <a:pPr marL="0" indent="0">
              <a:buNone/>
            </a:pP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zh-TW" altLang="en-US" sz="1800" dirty="0">
                <a:latin typeface="Adobe 仿宋 Std R" panose="02020400000000000000" pitchFamily="18" charset="-128"/>
                <a:ea typeface="Adobe 仿宋 Std R" panose="02020400000000000000" pitchFamily="18" charset="-128"/>
              </a:rPr>
              <a:t>韓國  龍仁</a:t>
            </a: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zh-TW" altLang="en-US" sz="1800" dirty="0">
                <a:latin typeface="Adobe 仿宋 Std R" panose="02020400000000000000" pitchFamily="18" charset="-128"/>
                <a:ea typeface="Adobe 仿宋 Std R" panose="02020400000000000000" pitchFamily="18" charset="-128"/>
              </a:rPr>
              <a:t>慶熙大學</a:t>
            </a: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en-US" altLang="zh-TW" sz="1800" dirty="0">
                <a:latin typeface="Adobe 仿宋 Std R" panose="02020400000000000000" pitchFamily="18" charset="-128"/>
                <a:ea typeface="Adobe 仿宋 Std R" panose="02020400000000000000" pitchFamily="18" charset="-128"/>
              </a:rPr>
              <a:t>Kang Jun Ho, Kim Mo </a:t>
            </a:r>
            <a:r>
              <a:rPr lang="en-US" altLang="zh-TW" sz="1800" dirty="0" err="1">
                <a:latin typeface="Adobe 仿宋 Std R" panose="02020400000000000000" pitchFamily="18" charset="-128"/>
                <a:ea typeface="Adobe 仿宋 Std R" panose="02020400000000000000" pitchFamily="18" charset="-128"/>
              </a:rPr>
              <a:t>Sei</a:t>
            </a:r>
            <a:r>
              <a:rPr lang="en-US" altLang="zh-TW" sz="1800" dirty="0">
                <a:latin typeface="Adobe 仿宋 Std R" panose="02020400000000000000" pitchFamily="18" charset="-128"/>
                <a:ea typeface="Adobe 仿宋 Std R" panose="02020400000000000000" pitchFamily="18" charset="-128"/>
              </a:rPr>
              <a:t>, Choi Yu Lim</a:t>
            </a:r>
          </a:p>
          <a:p>
            <a:pPr marL="0" indent="0">
              <a:buNone/>
            </a:pP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zh-TW" altLang="en-US" sz="1800" dirty="0">
                <a:latin typeface="Adobe 仿宋 Std R" panose="02020400000000000000" pitchFamily="18" charset="-128"/>
                <a:ea typeface="Adobe 仿宋 Std R" panose="02020400000000000000" pitchFamily="18" charset="-128"/>
              </a:rPr>
              <a:t>來源</a:t>
            </a:r>
            <a:r>
              <a:rPr lang="en-US" altLang="zh-TW" sz="1800" dirty="0">
                <a:latin typeface="Adobe 仿宋 Std R" panose="02020400000000000000" pitchFamily="18" charset="-128"/>
                <a:ea typeface="Adobe 仿宋 Std R" panose="02020400000000000000" pitchFamily="18" charset="-128"/>
              </a:rPr>
              <a:t>:</a:t>
            </a:r>
          </a:p>
          <a:p>
            <a:pPr marL="0" indent="0">
              <a:buNone/>
            </a:pPr>
            <a:r>
              <a:rPr lang="en-US" altLang="zh-TW" sz="1800" dirty="0">
                <a:latin typeface="Adobe 仿宋 Std R" panose="02020400000000000000" pitchFamily="18" charset="-128"/>
                <a:ea typeface="Adobe 仿宋 Std R" panose="02020400000000000000" pitchFamily="18" charset="-128"/>
              </a:rPr>
              <a:t>http://exhibition.ifdesign.de/entrydetails_en.html?mode=aus&amp;offset=72</a:t>
            </a:r>
          </a:p>
        </p:txBody>
      </p:sp>
      <p:pic>
        <p:nvPicPr>
          <p:cNvPr id="7170" name="Picture 2" descr="http://my.ifdesign.de/upload/award_img_287/oex_large/145678_01_287-145678_STAFF_HANGER_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4632" y="252919"/>
            <a:ext cx="4856328" cy="3388638"/>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http://my.ifdesign.de/upload/award_img_287/oex_large/145678_02_287-145678_STAFF_HANGER_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7718" y="3306411"/>
            <a:ext cx="4210155" cy="29377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31652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加乘</a:t>
            </a:r>
            <a:r>
              <a:rPr lang="en-US" altLang="zh-TW" dirty="0"/>
              <a:t>-</a:t>
            </a:r>
            <a:r>
              <a:rPr lang="zh-TW" altLang="en-US" dirty="0"/>
              <a:t>有哪些可以從新組合與應用</a:t>
            </a:r>
            <a:r>
              <a:rPr lang="en-US" altLang="zh-TW" dirty="0"/>
              <a:t>?</a:t>
            </a:r>
            <a:endParaRPr lang="zh-TW" altLang="en-US" dirty="0"/>
          </a:p>
        </p:txBody>
      </p:sp>
      <p:sp>
        <p:nvSpPr>
          <p:cNvPr id="3" name="內容版面配置區 2"/>
          <p:cNvSpPr>
            <a:spLocks noGrp="1"/>
          </p:cNvSpPr>
          <p:nvPr>
            <p:ph idx="1"/>
          </p:nvPr>
        </p:nvSpPr>
        <p:spPr/>
        <p:txBody>
          <a:bodyPr>
            <a:normAutofit fontScale="85000" lnSpcReduction="20000"/>
          </a:bodyPr>
          <a:lstStyle/>
          <a:p>
            <a:r>
              <a:rPr lang="zh-TW" altLang="en-US" dirty="0"/>
              <a:t>流程：</a:t>
            </a:r>
            <a:endParaRPr lang="en-US" altLang="zh-TW" dirty="0"/>
          </a:p>
          <a:p>
            <a:r>
              <a:rPr lang="en-US" altLang="zh-TW" dirty="0"/>
              <a:t>1.</a:t>
            </a:r>
            <a:r>
              <a:rPr lang="zh-TW" altLang="en-US" dirty="0"/>
              <a:t>把兩種至多種選定的商品、服務分析至細項。</a:t>
            </a:r>
            <a:endParaRPr lang="en-US" altLang="zh-TW" dirty="0"/>
          </a:p>
          <a:p>
            <a:r>
              <a:rPr lang="en-US" altLang="zh-TW" dirty="0"/>
              <a:t>2.</a:t>
            </a:r>
            <a:r>
              <a:rPr lang="zh-TW" altLang="en-US" dirty="0"/>
              <a:t>思考能否把一些必要的專案分析出，然後利用分析出的各項元素細項加強並且重新組合出，結合出另一個商品或服務。</a:t>
            </a:r>
            <a:endParaRPr lang="en-US" altLang="zh-TW" dirty="0"/>
          </a:p>
          <a:p>
            <a:endParaRPr lang="en-US" altLang="zh-TW" dirty="0"/>
          </a:p>
          <a:p>
            <a:r>
              <a:rPr lang="zh-TW" altLang="en-US" dirty="0"/>
              <a:t>比如：</a:t>
            </a:r>
            <a:endParaRPr lang="en-US" altLang="zh-TW" dirty="0"/>
          </a:p>
          <a:p>
            <a:pPr marL="0" indent="0">
              <a:buNone/>
            </a:pPr>
            <a:r>
              <a:rPr lang="zh-TW" altLang="en-US" dirty="0"/>
              <a:t>傳統摩天大樓</a:t>
            </a:r>
            <a:r>
              <a:rPr lang="en-US" altLang="zh-TW" dirty="0">
                <a:sym typeface="Wingdings" panose="05000000000000000000" pitchFamily="2" charset="2"/>
              </a:rPr>
              <a:t></a:t>
            </a:r>
            <a:r>
              <a:rPr lang="zh-TW" altLang="en-US" dirty="0">
                <a:sym typeface="Wingdings" panose="05000000000000000000" pitchFamily="2" charset="2"/>
              </a:rPr>
              <a:t>多結構複合造型摩天大樓</a:t>
            </a:r>
            <a:endParaRPr lang="en-US" altLang="zh-TW" dirty="0">
              <a:sym typeface="Wingdings" panose="05000000000000000000" pitchFamily="2" charset="2"/>
            </a:endParaRPr>
          </a:p>
          <a:p>
            <a:pPr marL="0" indent="0">
              <a:buNone/>
            </a:pPr>
            <a:r>
              <a:rPr lang="en-US" altLang="zh-TW" dirty="0">
                <a:sym typeface="Wingdings" panose="05000000000000000000" pitchFamily="2" charset="2"/>
              </a:rPr>
              <a:t>A.</a:t>
            </a:r>
            <a:r>
              <a:rPr lang="zh-TW" altLang="en-US" dirty="0">
                <a:sym typeface="Wingdings" panose="05000000000000000000" pitchFamily="2" charset="2"/>
              </a:rPr>
              <a:t>整體性結構</a:t>
            </a:r>
            <a:r>
              <a:rPr lang="en-US" altLang="zh-TW" dirty="0">
                <a:sym typeface="Wingdings" panose="05000000000000000000" pitchFamily="2" charset="2"/>
              </a:rPr>
              <a:t>B.</a:t>
            </a:r>
            <a:r>
              <a:rPr lang="zh-TW" altLang="en-US" dirty="0">
                <a:sym typeface="Wingdings" panose="05000000000000000000" pitchFamily="2" charset="2"/>
              </a:rPr>
              <a:t>比重系統</a:t>
            </a:r>
            <a:r>
              <a:rPr lang="en-US" altLang="zh-TW" dirty="0">
                <a:sym typeface="Wingdings" panose="05000000000000000000" pitchFamily="2" charset="2"/>
              </a:rPr>
              <a:t>C.</a:t>
            </a:r>
            <a:r>
              <a:rPr lang="zh-TW" altLang="en-US" dirty="0">
                <a:sym typeface="Wingdings" panose="05000000000000000000" pitchFamily="2" charset="2"/>
              </a:rPr>
              <a:t>等比性結構</a:t>
            </a:r>
            <a:r>
              <a:rPr lang="en-US" altLang="zh-TW" dirty="0">
                <a:sym typeface="Wingdings" panose="05000000000000000000" pitchFamily="2" charset="2"/>
              </a:rPr>
              <a:t>D.</a:t>
            </a:r>
            <a:r>
              <a:rPr lang="zh-TW" altLang="en-US" dirty="0">
                <a:sym typeface="Wingdings" panose="05000000000000000000" pitchFamily="2" charset="2"/>
              </a:rPr>
              <a:t>抗壓系統</a:t>
            </a:r>
            <a:r>
              <a:rPr lang="en-US" altLang="zh-TW" dirty="0">
                <a:sym typeface="Wingdings" panose="05000000000000000000" pitchFamily="2" charset="2"/>
              </a:rPr>
              <a:t>E.</a:t>
            </a:r>
            <a:r>
              <a:rPr lang="zh-TW" altLang="en-US" dirty="0">
                <a:sym typeface="Wingdings" panose="05000000000000000000" pitchFamily="2" charset="2"/>
              </a:rPr>
              <a:t>單一結構</a:t>
            </a:r>
            <a:endParaRPr lang="en-US" altLang="zh-TW" dirty="0">
              <a:sym typeface="Wingdings" panose="05000000000000000000" pitchFamily="2" charset="2"/>
            </a:endParaRPr>
          </a:p>
          <a:p>
            <a:pPr marL="0" indent="0">
              <a:buNone/>
            </a:pPr>
            <a:r>
              <a:rPr lang="zh-TW" altLang="en-US" dirty="0">
                <a:sym typeface="Wingdings" panose="05000000000000000000" pitchFamily="2" charset="2"/>
              </a:rPr>
              <a:t>煙盒中的香煙</a:t>
            </a:r>
            <a:endParaRPr lang="en-US" altLang="zh-TW" dirty="0">
              <a:sym typeface="Wingdings" panose="05000000000000000000" pitchFamily="2" charset="2"/>
            </a:endParaRPr>
          </a:p>
          <a:p>
            <a:pPr marL="0" indent="0">
              <a:buNone/>
            </a:pPr>
            <a:r>
              <a:rPr lang="en-US" altLang="zh-TW" dirty="0">
                <a:sym typeface="Wingdings" panose="05000000000000000000" pitchFamily="2" charset="2"/>
              </a:rPr>
              <a:t>A.</a:t>
            </a:r>
            <a:r>
              <a:rPr lang="zh-TW" altLang="en-US" dirty="0">
                <a:sym typeface="Wingdings" panose="05000000000000000000" pitchFamily="2" charset="2"/>
              </a:rPr>
              <a:t>複數結構</a:t>
            </a:r>
            <a:r>
              <a:rPr lang="en-US" altLang="zh-TW" dirty="0">
                <a:sym typeface="Wingdings" panose="05000000000000000000" pitchFamily="2" charset="2"/>
              </a:rPr>
              <a:t>B.</a:t>
            </a:r>
            <a:r>
              <a:rPr lang="zh-TW" altLang="en-US" dirty="0">
                <a:sym typeface="Wingdings" panose="05000000000000000000" pitchFamily="2" charset="2"/>
              </a:rPr>
              <a:t>依靠平衡系統</a:t>
            </a:r>
            <a:r>
              <a:rPr lang="en-US" altLang="zh-TW" dirty="0">
                <a:sym typeface="Wingdings" panose="05000000000000000000" pitchFamily="2" charset="2"/>
              </a:rPr>
              <a:t>C.</a:t>
            </a:r>
            <a:r>
              <a:rPr lang="zh-TW" altLang="en-US" dirty="0">
                <a:sym typeface="Wingdings" panose="05000000000000000000" pitchFamily="2" charset="2"/>
              </a:rPr>
              <a:t>非等比性結構</a:t>
            </a:r>
            <a:endParaRPr lang="en-US" altLang="zh-TW" dirty="0">
              <a:sym typeface="Wingdings" panose="05000000000000000000" pitchFamily="2" charset="2"/>
            </a:endParaRPr>
          </a:p>
          <a:p>
            <a:pPr marL="0" indent="0">
              <a:buNone/>
            </a:pPr>
            <a:r>
              <a:rPr lang="zh-TW" altLang="en-US" dirty="0">
                <a:sym typeface="Wingdings" panose="05000000000000000000" pitchFamily="2" charset="2"/>
              </a:rPr>
              <a:t>重新組合上述的香煙特性於摩天大樓</a:t>
            </a:r>
            <a:r>
              <a:rPr lang="en-US" altLang="zh-TW" dirty="0">
                <a:sym typeface="Wingdings" panose="05000000000000000000" pitchFamily="2" charset="2"/>
              </a:rPr>
              <a:t></a:t>
            </a:r>
            <a:r>
              <a:rPr lang="zh-TW" altLang="en-US" dirty="0">
                <a:sym typeface="Wingdings" panose="05000000000000000000" pitchFamily="2" charset="2"/>
              </a:rPr>
              <a:t>創造出目前盛行的複合結構摩天大樓。</a:t>
            </a:r>
            <a:endParaRPr lang="zh-TW" altLang="en-US" dirty="0"/>
          </a:p>
          <a:p>
            <a:endParaRPr lang="zh-TW" altLang="en-US" dirty="0"/>
          </a:p>
        </p:txBody>
      </p:sp>
    </p:spTree>
    <p:extLst>
      <p:ext uri="{BB962C8B-B14F-4D97-AF65-F5344CB8AC3E}">
        <p14:creationId xmlns:p14="http://schemas.microsoft.com/office/powerpoint/2010/main" val="14346300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8865564" y="548007"/>
            <a:ext cx="3235529" cy="6009664"/>
          </a:xfrm>
        </p:spPr>
        <p:txBody>
          <a:bodyPr/>
          <a:lstStyle/>
          <a:p>
            <a:pPr marL="0" indent="0">
              <a:buNone/>
            </a:pPr>
            <a:r>
              <a:rPr lang="en-US" altLang="zh-TW" sz="2600" b="1" dirty="0"/>
              <a:t>Clack Plug</a:t>
            </a:r>
          </a:p>
          <a:p>
            <a:pPr marL="0" indent="0">
              <a:buNone/>
            </a:pPr>
            <a:r>
              <a:rPr lang="zh-TW" altLang="en-US" sz="2000" dirty="0"/>
              <a:t>電源插座通常位於旁邊的床或一張桌子，在那裡很難看到在和插頭都很難拔出來。此種插座可通過開關面板來控制。它還具有即使當電源關閉時的延時功能。它可以很容易地關閉，只需輕輕一按。</a:t>
            </a:r>
            <a:endParaRPr lang="en-US" altLang="zh-TW" sz="2000" dirty="0"/>
          </a:p>
          <a:p>
            <a:pPr marL="0" indent="0">
              <a:buNone/>
            </a:pPr>
            <a:r>
              <a:rPr lang="zh-TW" altLang="en-US" sz="2000" dirty="0"/>
              <a:t>韓國湖西大學 </a:t>
            </a:r>
            <a:r>
              <a:rPr lang="en-US" altLang="zh-TW" sz="2000" dirty="0" err="1"/>
              <a:t>Goeun</a:t>
            </a:r>
            <a:r>
              <a:rPr lang="en-US" altLang="zh-TW" sz="2000" dirty="0"/>
              <a:t> Choi, </a:t>
            </a:r>
            <a:r>
              <a:rPr lang="en-US" altLang="zh-TW" sz="2000" dirty="0" err="1"/>
              <a:t>Jeongsoo</a:t>
            </a:r>
            <a:r>
              <a:rPr lang="en-US" altLang="zh-TW" sz="2000" dirty="0"/>
              <a:t> </a:t>
            </a:r>
            <a:r>
              <a:rPr lang="en-US" altLang="zh-TW" sz="2000" dirty="0" err="1"/>
              <a:t>Heo</a:t>
            </a:r>
            <a:r>
              <a:rPr lang="en-US" altLang="zh-TW" sz="2000" dirty="0"/>
              <a:t>, </a:t>
            </a:r>
            <a:r>
              <a:rPr lang="en-US" altLang="zh-TW" sz="2000" dirty="0" err="1"/>
              <a:t>Younghun</a:t>
            </a:r>
            <a:r>
              <a:rPr lang="en-US" altLang="zh-TW" sz="2000" dirty="0"/>
              <a:t> Lim</a:t>
            </a:r>
          </a:p>
          <a:p>
            <a:pPr marL="0" indent="0">
              <a:buNone/>
            </a:pPr>
            <a:r>
              <a:rPr lang="zh-TW" altLang="en-US" sz="2000" dirty="0"/>
              <a:t>來源</a:t>
            </a:r>
            <a:r>
              <a:rPr lang="en-US" altLang="zh-TW" sz="2000" dirty="0"/>
              <a:t>:</a:t>
            </a:r>
          </a:p>
          <a:p>
            <a:pPr marL="0" indent="0">
              <a:buNone/>
            </a:pPr>
            <a:r>
              <a:rPr lang="en-US" altLang="zh-TW" sz="2000" dirty="0"/>
              <a:t>http://exhibition.ifdesign.de/entrydetails_en.html?mode=aus&amp;offset=19</a:t>
            </a:r>
            <a:endParaRPr lang="zh-TW" altLang="en-US" sz="2000" dirty="0"/>
          </a:p>
        </p:txBody>
      </p:sp>
      <p:pic>
        <p:nvPicPr>
          <p:cNvPr id="5122" name="Picture 2" descr="http://my.ifdesign.de/upload/award_img_287/oex_large/141775_02_287-141775_clackplu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6754" y="527004"/>
            <a:ext cx="4249692" cy="6009664"/>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ttp://my.ifdesign.de/upload/award_img_287/oex_large/141775_01_clack.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944" y="372695"/>
            <a:ext cx="4358810" cy="6163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69846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573462" y="3832411"/>
            <a:ext cx="6701823" cy="3025589"/>
          </a:xfrm>
        </p:spPr>
        <p:txBody>
          <a:bodyPr>
            <a:normAutofit fontScale="77500" lnSpcReduction="20000"/>
          </a:bodyPr>
          <a:lstStyle/>
          <a:p>
            <a:pPr marL="0" indent="0">
              <a:buNone/>
            </a:pPr>
            <a:r>
              <a:rPr lang="zh-TW" altLang="en-US" b="1" dirty="0"/>
              <a:t>盲適配器 </a:t>
            </a:r>
            <a:endParaRPr lang="en-US" altLang="zh-TW" b="1" dirty="0"/>
          </a:p>
          <a:p>
            <a:pPr marL="0" indent="0">
              <a:buNone/>
            </a:pPr>
            <a:r>
              <a:rPr lang="zh-TW" altLang="en-US" dirty="0"/>
              <a:t>“盲適配器”是專為盲人的適配器。它可以連接到現有的電器和出口。裝有環狀的磁性電極，所述插頭是無方向性的，並很容易地利用磁力可以被插入。磁性插頭可以防止盲目被絆倒在電線，容易分離，當任何施加壓力。此外，還有盲文標記，告訴它的電器，他們正在處理的盲人。盲適配器使盲人能夠更方便地使用外掛程式插座。</a:t>
            </a:r>
            <a:endParaRPr lang="en-US" altLang="zh-TW" dirty="0"/>
          </a:p>
          <a:p>
            <a:pPr marL="0" indent="0">
              <a:buNone/>
            </a:pPr>
            <a:r>
              <a:rPr lang="zh-TW" altLang="en-US" dirty="0"/>
              <a:t>臺灣成工大學 </a:t>
            </a:r>
            <a:r>
              <a:rPr lang="en-US" altLang="zh-TW" dirty="0"/>
              <a:t>Xin-An Chen, Ching-Tzu Tsai</a:t>
            </a:r>
          </a:p>
          <a:p>
            <a:pPr marL="0" indent="0">
              <a:buNone/>
            </a:pPr>
            <a:r>
              <a:rPr lang="zh-TW" altLang="en-US" dirty="0"/>
              <a:t>來源</a:t>
            </a:r>
            <a:endParaRPr lang="en-US" altLang="zh-TW" dirty="0"/>
          </a:p>
          <a:p>
            <a:pPr marL="0" indent="0">
              <a:buNone/>
            </a:pPr>
            <a:r>
              <a:rPr lang="en-US" altLang="zh-TW" dirty="0"/>
              <a:t>http://exhibition.ifdesign.de/entrydetails_en.html?mode=aus&amp;offset=13</a:t>
            </a:r>
            <a:endParaRPr lang="zh-TW" altLang="en-US" dirty="0"/>
          </a:p>
        </p:txBody>
      </p:sp>
      <p:pic>
        <p:nvPicPr>
          <p:cNvPr id="8194" name="Picture 2" descr="G:\1.概念\145235_01_Blind_Adapter_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71339" y="695746"/>
            <a:ext cx="2972080" cy="2972081"/>
          </a:xfrm>
          <a:prstGeom prst="rect">
            <a:avLst/>
          </a:prstGeom>
          <a:noFill/>
          <a:extLst>
            <a:ext uri="{909E8E84-426E-40DD-AFC4-6F175D3DCCD1}">
              <a14:hiddenFill xmlns:a14="http://schemas.microsoft.com/office/drawing/2010/main">
                <a:solidFill>
                  <a:srgbClr val="FFFFFF"/>
                </a:solidFill>
              </a14:hiddenFill>
            </a:ext>
          </a:extLst>
        </p:spPr>
      </p:pic>
      <p:pic>
        <p:nvPicPr>
          <p:cNvPr id="8195" name="Picture 3" descr="G:\1.概念\145235_02_Blind_Adapter_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8762" y="1446023"/>
            <a:ext cx="4261734" cy="42617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96084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6583666" y="879540"/>
            <a:ext cx="5215646" cy="6245158"/>
          </a:xfrm>
        </p:spPr>
        <p:txBody>
          <a:bodyPr/>
          <a:lstStyle/>
          <a:p>
            <a:pPr marL="0" indent="0">
              <a:buNone/>
            </a:pPr>
            <a:r>
              <a:rPr lang="en-US" altLang="zh-TW" sz="1800" b="1" dirty="0"/>
              <a:t>UV-Stethoscope</a:t>
            </a:r>
          </a:p>
          <a:p>
            <a:pPr marL="0" indent="0">
              <a:buNone/>
            </a:pPr>
            <a:r>
              <a:rPr lang="zh-TW" altLang="en-US" sz="1800" dirty="0"/>
              <a:t>這種</a:t>
            </a:r>
            <a:r>
              <a:rPr lang="en-US" altLang="zh-TW" sz="1800" dirty="0"/>
              <a:t>UV</a:t>
            </a:r>
            <a:r>
              <a:rPr lang="zh-TW" altLang="en-US" sz="1800" dirty="0"/>
              <a:t>聽診器被設計來處理兩個問題：保持聽診器消毒和溫暖。一個紫外線消毒器安裝在脖子底部。之後，聽診器已經使用患者，所有醫生必須做的是將它夾進基地。然後安裝在基座上的滅菌消毒的聽診器，並保持其與</a:t>
            </a:r>
            <a:r>
              <a:rPr lang="en-US" altLang="zh-TW" sz="1800" dirty="0"/>
              <a:t>UV-C</a:t>
            </a:r>
            <a:r>
              <a:rPr lang="zh-TW" altLang="en-US" sz="1800" dirty="0"/>
              <a:t>光的溫暖。現在聽診器總是無菌和溫暖每一位患者。</a:t>
            </a:r>
            <a:endParaRPr lang="en-US" altLang="zh-TW" sz="1800" dirty="0"/>
          </a:p>
          <a:p>
            <a:pPr marL="0" indent="0">
              <a:buNone/>
            </a:pPr>
            <a:endParaRPr lang="en-US" altLang="zh-TW" sz="1800" dirty="0"/>
          </a:p>
          <a:p>
            <a:pPr marL="0" indent="0">
              <a:buNone/>
            </a:pPr>
            <a:r>
              <a:rPr lang="zh-TW" altLang="en-US" sz="1800" dirty="0"/>
              <a:t>韓國  釜山</a:t>
            </a:r>
            <a:endParaRPr lang="en-US" altLang="zh-TW" sz="1800" dirty="0"/>
          </a:p>
          <a:p>
            <a:pPr marL="0" indent="0">
              <a:buNone/>
            </a:pPr>
            <a:r>
              <a:rPr lang="zh-TW" altLang="en-US" sz="1800" dirty="0"/>
              <a:t>慶星大學</a:t>
            </a:r>
            <a:endParaRPr lang="en-US" altLang="zh-TW" sz="1800" dirty="0"/>
          </a:p>
          <a:p>
            <a:pPr marL="0" indent="0">
              <a:buNone/>
            </a:pPr>
            <a:r>
              <a:rPr lang="sv-SE" altLang="zh-TW" sz="1800" dirty="0"/>
              <a:t>Min Keun Kown, In San Kim, Chang Man Ha</a:t>
            </a:r>
          </a:p>
          <a:p>
            <a:pPr marL="0" indent="0">
              <a:buNone/>
            </a:pPr>
            <a:endParaRPr lang="sv-SE" altLang="zh-TW" sz="1800" dirty="0"/>
          </a:p>
          <a:p>
            <a:pPr marL="0" indent="0">
              <a:buNone/>
            </a:pPr>
            <a:r>
              <a:rPr lang="zh-TW" altLang="en-US" sz="1800" dirty="0"/>
              <a:t>來源</a:t>
            </a:r>
            <a:r>
              <a:rPr lang="en-US" altLang="zh-TW" sz="1800" dirty="0"/>
              <a:t>:</a:t>
            </a:r>
          </a:p>
          <a:p>
            <a:pPr marL="0" indent="0">
              <a:buNone/>
            </a:pPr>
            <a:r>
              <a:rPr lang="en-US" altLang="zh-TW" sz="1800" dirty="0"/>
              <a:t>http://exhibition.ifdesign.de/entrydetails_en.html?mode=aus&amp;offset=84</a:t>
            </a:r>
          </a:p>
          <a:p>
            <a:pPr marL="0" indent="0">
              <a:buNone/>
            </a:pPr>
            <a:endParaRPr lang="zh-TW" altLang="en-US" dirty="0"/>
          </a:p>
        </p:txBody>
      </p:sp>
      <p:pic>
        <p:nvPicPr>
          <p:cNvPr id="19458" name="Picture 2" descr="http://my.ifdesign.de/upload/award_img_287/oex_large/138851_01_287-138851_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9" y="2166429"/>
            <a:ext cx="3671380" cy="3671380"/>
          </a:xfrm>
          <a:prstGeom prst="rect">
            <a:avLst/>
          </a:prstGeom>
          <a:noFill/>
          <a:extLst>
            <a:ext uri="{909E8E84-426E-40DD-AFC4-6F175D3DCCD1}">
              <a14:hiddenFill xmlns:a14="http://schemas.microsoft.com/office/drawing/2010/main">
                <a:solidFill>
                  <a:srgbClr val="FFFFFF"/>
                </a:solidFill>
              </a14:hiddenFill>
            </a:ext>
          </a:extLst>
        </p:spPr>
      </p:pic>
      <p:pic>
        <p:nvPicPr>
          <p:cNvPr id="19460" name="Picture 4" descr="http://my.ifdesign.de/upload/award_img_287/oex_large/138851_02_287-138851_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32" y="2231077"/>
            <a:ext cx="3542083" cy="35420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19612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6" name="Picture 4" descr="http://my.ifdesign.de/upload/award_img_287/oex_large/133001_02_287-133001_Straw_humidifier_2.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57651" y="3645877"/>
            <a:ext cx="2860314" cy="2988387"/>
          </a:xfrm>
          <a:prstGeom prst="rect">
            <a:avLst/>
          </a:prstGeom>
          <a:noFill/>
          <a:extLst>
            <a:ext uri="{909E8E84-426E-40DD-AFC4-6F175D3DCCD1}">
              <a14:hiddenFill xmlns:a14="http://schemas.microsoft.com/office/drawing/2010/main">
                <a:solidFill>
                  <a:srgbClr val="FFFFFF"/>
                </a:solidFill>
              </a14:hiddenFill>
            </a:ext>
          </a:extLst>
        </p:spPr>
      </p:pic>
      <p:sp>
        <p:nvSpPr>
          <p:cNvPr id="3" name="內容版面配置區 2"/>
          <p:cNvSpPr>
            <a:spLocks noGrp="1"/>
          </p:cNvSpPr>
          <p:nvPr>
            <p:ph idx="1"/>
          </p:nvPr>
        </p:nvSpPr>
        <p:spPr>
          <a:xfrm>
            <a:off x="6429983" y="808640"/>
            <a:ext cx="5351833" cy="6274341"/>
          </a:xfrm>
        </p:spPr>
        <p:txBody>
          <a:bodyPr>
            <a:normAutofit/>
          </a:bodyPr>
          <a:lstStyle/>
          <a:p>
            <a:pPr marL="0" indent="0">
              <a:buNone/>
            </a:pPr>
            <a:r>
              <a:rPr lang="en-US" altLang="zh-TW" sz="1800" b="1" dirty="0"/>
              <a:t>Straw humidifier</a:t>
            </a:r>
          </a:p>
          <a:p>
            <a:pPr marL="0" indent="0">
              <a:buNone/>
            </a:pPr>
            <a:r>
              <a:rPr lang="zh-TW" altLang="en-US" sz="1800" dirty="0">
                <a:latin typeface="Adobe 仿宋 Std R" panose="02020400000000000000" pitchFamily="18" charset="-128"/>
                <a:ea typeface="Adobe 仿宋 Std R" panose="02020400000000000000" pitchFamily="18" charset="-128"/>
              </a:rPr>
              <a:t>乾淨的個人空氣加濕器，可隨時隨地使用。以同樣的方式，人們飲用的時候都渴水，空氣也應該喝水時它缺少水分。因為人們使用一種稱為吸管介質，該基序被用作用於加濕的介質。該設備的設計看起來就像一個吸管和適合自然到任何環境中。</a:t>
            </a:r>
            <a:endParaRPr lang="en-US" altLang="zh-TW" sz="1800" dirty="0">
              <a:latin typeface="Adobe 仿宋 Std R" panose="02020400000000000000" pitchFamily="18" charset="-128"/>
              <a:ea typeface="Adobe 仿宋 Std R" panose="02020400000000000000" pitchFamily="18" charset="-128"/>
            </a:endParaRPr>
          </a:p>
          <a:p>
            <a:pPr marL="0" indent="0">
              <a:buNone/>
            </a:pP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zh-TW" altLang="en-US" sz="1800" dirty="0">
                <a:latin typeface="Adobe 仿宋 Std R" panose="02020400000000000000" pitchFamily="18" charset="-128"/>
                <a:ea typeface="Adobe 仿宋 Std R" panose="02020400000000000000" pitchFamily="18" charset="-128"/>
              </a:rPr>
              <a:t>南韓  漢城</a:t>
            </a: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en-US" altLang="zh-TW" sz="1800" dirty="0">
                <a:latin typeface="Adobe 仿宋 Std R" panose="02020400000000000000" pitchFamily="18" charset="-128"/>
                <a:ea typeface="Adobe 仿宋 Std R" panose="02020400000000000000" pitchFamily="18" charset="-128"/>
              </a:rPr>
              <a:t>SADI</a:t>
            </a:r>
            <a:r>
              <a:rPr lang="zh-TW" altLang="en-US" sz="1800" dirty="0">
                <a:latin typeface="Adobe 仿宋 Std R" panose="02020400000000000000" pitchFamily="18" charset="-128"/>
                <a:ea typeface="Adobe 仿宋 Std R" panose="02020400000000000000" pitchFamily="18" charset="-128"/>
              </a:rPr>
              <a:t>三星美術設計學院</a:t>
            </a:r>
            <a:endParaRPr lang="en-US" altLang="zh-TW" sz="1800" dirty="0">
              <a:latin typeface="Adobe 仿宋 Std R" panose="02020400000000000000" pitchFamily="18" charset="-128"/>
              <a:ea typeface="Adobe 仿宋 Std R" panose="02020400000000000000" pitchFamily="18" charset="-128"/>
            </a:endParaRPr>
          </a:p>
          <a:p>
            <a:pPr marL="0" indent="0">
              <a:buNone/>
            </a:pP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zh-TW" altLang="en-US" sz="1800" dirty="0">
                <a:latin typeface="Adobe 仿宋 Std R" panose="02020400000000000000" pitchFamily="18" charset="-128"/>
                <a:ea typeface="Adobe 仿宋 Std R" panose="02020400000000000000" pitchFamily="18" charset="-128"/>
              </a:rPr>
              <a:t>來源</a:t>
            </a:r>
            <a:r>
              <a:rPr lang="en-US" altLang="zh-TW" sz="1800" dirty="0">
                <a:latin typeface="Adobe 仿宋 Std R" panose="02020400000000000000" pitchFamily="18" charset="-128"/>
                <a:ea typeface="Adobe 仿宋 Std R" panose="02020400000000000000" pitchFamily="18" charset="-128"/>
              </a:rPr>
              <a:t>:</a:t>
            </a:r>
          </a:p>
          <a:p>
            <a:pPr marL="0" indent="0">
              <a:buNone/>
            </a:pPr>
            <a:r>
              <a:rPr lang="en-US" altLang="zh-TW" sz="1800" dirty="0">
                <a:latin typeface="Adobe 仿宋 Std R" panose="02020400000000000000" pitchFamily="18" charset="-128"/>
                <a:ea typeface="Adobe 仿宋 Std R" panose="02020400000000000000" pitchFamily="18" charset="-128"/>
              </a:rPr>
              <a:t>http://exhibition.ifdesign.de/entrydetails_en.html?mode=aus&amp;offset=73</a:t>
            </a:r>
            <a:endParaRPr lang="zh-TW" altLang="en-US" sz="1800" dirty="0">
              <a:latin typeface="Adobe 仿宋 Std R" panose="02020400000000000000" pitchFamily="18" charset="-128"/>
              <a:ea typeface="Adobe 仿宋 Std R" panose="02020400000000000000" pitchFamily="18" charset="-128"/>
            </a:endParaRPr>
          </a:p>
        </p:txBody>
      </p:sp>
      <p:pic>
        <p:nvPicPr>
          <p:cNvPr id="8194" name="Picture 2" descr="http://my.ifdesign.de/upload/award_img_287/oex_large/133001_01_287-133001_Straw_humidifier_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8908" y="229845"/>
            <a:ext cx="3556711" cy="3715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22460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7023370" y="321012"/>
            <a:ext cx="4651443" cy="6186791"/>
          </a:xfrm>
        </p:spPr>
        <p:txBody>
          <a:bodyPr>
            <a:normAutofit/>
          </a:bodyPr>
          <a:lstStyle/>
          <a:p>
            <a:pPr marL="0" indent="0">
              <a:buNone/>
            </a:pPr>
            <a:r>
              <a:rPr lang="en-US" altLang="zh-TW" sz="1800" b="1" dirty="0">
                <a:latin typeface="+mj-lt"/>
              </a:rPr>
              <a:t>shield extinguisher</a:t>
            </a:r>
          </a:p>
          <a:p>
            <a:pPr marL="0" indent="0">
              <a:buNone/>
            </a:pPr>
            <a:r>
              <a:rPr lang="zh-TW" altLang="en-US" sz="1800" dirty="0">
                <a:latin typeface="Adobe 仿宋 Std R" panose="02020400000000000000" pitchFamily="18" charset="-128"/>
                <a:ea typeface="Adobe 仿宋 Std R" panose="02020400000000000000" pitchFamily="18" charset="-128"/>
              </a:rPr>
              <a:t>傳統的滅火器有許多不足之處時，消防隊員開始撲滅火災。首先，它是有時難以直接瞄準滅火器在火源和第二，用戶不能充分地從火僅使用滅火器時的保護。這種新類型的滅火器配備有遮罩提供額外的保護，以更好地引導滅火劑的流動性和防止諸如其它事故如爆炸和灼傷和熄火同時。</a:t>
            </a:r>
            <a:endParaRPr lang="en-US" altLang="zh-TW" sz="1800" dirty="0">
              <a:latin typeface="Adobe 仿宋 Std R" panose="02020400000000000000" pitchFamily="18" charset="-128"/>
              <a:ea typeface="Adobe 仿宋 Std R" panose="02020400000000000000" pitchFamily="18" charset="-128"/>
            </a:endParaRPr>
          </a:p>
          <a:p>
            <a:pPr marL="0" indent="0">
              <a:buNone/>
            </a:pP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zh-TW" altLang="en-US" sz="1800" dirty="0">
                <a:latin typeface="Adobe 仿宋 Std R" panose="02020400000000000000" pitchFamily="18" charset="-128"/>
                <a:ea typeface="Adobe 仿宋 Std R" panose="02020400000000000000" pitchFamily="18" charset="-128"/>
              </a:rPr>
              <a:t>韓國  安山州市</a:t>
            </a: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zh-TW" altLang="en-US" sz="1800" dirty="0">
                <a:latin typeface="Adobe 仿宋 Std R" panose="02020400000000000000" pitchFamily="18" charset="-128"/>
                <a:ea typeface="Adobe 仿宋 Std R" panose="02020400000000000000" pitchFamily="18" charset="-128"/>
              </a:rPr>
              <a:t>漢陽大學</a:t>
            </a: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en-US" altLang="zh-TW" sz="1800" dirty="0">
                <a:latin typeface="Adobe 仿宋 Std R" panose="02020400000000000000" pitchFamily="18" charset="-128"/>
                <a:ea typeface="Adobe 仿宋 Std R" panose="02020400000000000000" pitchFamily="18" charset="-128"/>
              </a:rPr>
              <a:t>June Young Kim, </a:t>
            </a:r>
            <a:r>
              <a:rPr lang="en-US" altLang="zh-TW" sz="1800" dirty="0" err="1">
                <a:latin typeface="Adobe 仿宋 Std R" panose="02020400000000000000" pitchFamily="18" charset="-128"/>
                <a:ea typeface="Adobe 仿宋 Std R" panose="02020400000000000000" pitchFamily="18" charset="-128"/>
              </a:rPr>
              <a:t>Ji</a:t>
            </a:r>
            <a:r>
              <a:rPr lang="en-US" altLang="zh-TW" sz="1800" dirty="0">
                <a:latin typeface="Adobe 仿宋 Std R" panose="02020400000000000000" pitchFamily="18" charset="-128"/>
                <a:ea typeface="Adobe 仿宋 Std R" panose="02020400000000000000" pitchFamily="18" charset="-128"/>
              </a:rPr>
              <a:t> Min Lee</a:t>
            </a:r>
          </a:p>
          <a:p>
            <a:pPr marL="0" indent="0">
              <a:buNone/>
            </a:pP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zh-TW" altLang="en-US" sz="1800" dirty="0">
                <a:latin typeface="Adobe 仿宋 Std R" panose="02020400000000000000" pitchFamily="18" charset="-128"/>
                <a:ea typeface="Adobe 仿宋 Std R" panose="02020400000000000000" pitchFamily="18" charset="-128"/>
              </a:rPr>
              <a:t>來源</a:t>
            </a:r>
            <a:r>
              <a:rPr lang="en-US" altLang="zh-TW" sz="1800" dirty="0">
                <a:latin typeface="Adobe 仿宋 Std R" panose="02020400000000000000" pitchFamily="18" charset="-128"/>
                <a:ea typeface="Adobe 仿宋 Std R" panose="02020400000000000000" pitchFamily="18" charset="-128"/>
              </a:rPr>
              <a:t>:</a:t>
            </a:r>
          </a:p>
          <a:p>
            <a:pPr marL="0" indent="0">
              <a:buNone/>
            </a:pPr>
            <a:r>
              <a:rPr lang="en-US" altLang="zh-TW" sz="1800" dirty="0">
                <a:latin typeface="Adobe 仿宋 Std R" panose="02020400000000000000" pitchFamily="18" charset="-128"/>
                <a:ea typeface="Adobe 仿宋 Std R" panose="02020400000000000000" pitchFamily="18" charset="-128"/>
              </a:rPr>
              <a:t>http://exhibition.ifdesign.de/entrydetails_en.html?mode=aus&amp;offset=67</a:t>
            </a:r>
            <a:endParaRPr lang="zh-TW" altLang="en-US" sz="1800" dirty="0">
              <a:latin typeface="Adobe 仿宋 Std R" panose="02020400000000000000" pitchFamily="18" charset="-128"/>
              <a:ea typeface="Adobe 仿宋 Std R" panose="02020400000000000000" pitchFamily="18" charset="-128"/>
            </a:endParaRPr>
          </a:p>
        </p:txBody>
      </p:sp>
      <p:pic>
        <p:nvPicPr>
          <p:cNvPr id="2050" name="Picture 2" descr="http://my.ifdesign.de/upload/award_img_287/oex_large/143703_01_287-143703_shield_extinguisher_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8093" y="820615"/>
            <a:ext cx="2577219" cy="344943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my.ifdesign.de/upload/award_img_287/oex_large/143703_02_287-143703_shield_extinguisher_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5793" y="1203635"/>
            <a:ext cx="3117095" cy="5468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07994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任務統合</a:t>
            </a:r>
            <a:r>
              <a:rPr lang="en-US" altLang="zh-TW" dirty="0"/>
              <a:t>-</a:t>
            </a:r>
            <a:r>
              <a:rPr lang="zh-TW" altLang="en-US" dirty="0"/>
              <a:t>那些舊的東西可以整合出新服務</a:t>
            </a:r>
            <a:r>
              <a:rPr lang="en-US" altLang="zh-TW" dirty="0"/>
              <a:t>?</a:t>
            </a:r>
            <a:endParaRPr lang="zh-TW" altLang="en-US" dirty="0"/>
          </a:p>
        </p:txBody>
      </p:sp>
      <p:sp>
        <p:nvSpPr>
          <p:cNvPr id="3" name="內容版面配置區 2"/>
          <p:cNvSpPr>
            <a:spLocks noGrp="1"/>
          </p:cNvSpPr>
          <p:nvPr>
            <p:ph idx="1"/>
          </p:nvPr>
        </p:nvSpPr>
        <p:spPr/>
        <p:txBody>
          <a:bodyPr/>
          <a:lstStyle/>
          <a:p>
            <a:r>
              <a:rPr lang="zh-TW" altLang="en-US" dirty="0"/>
              <a:t>流程：</a:t>
            </a:r>
            <a:endParaRPr lang="en-US" altLang="zh-TW" dirty="0"/>
          </a:p>
          <a:p>
            <a:r>
              <a:rPr lang="en-US" altLang="zh-TW" dirty="0"/>
              <a:t>1.</a:t>
            </a:r>
            <a:r>
              <a:rPr lang="zh-TW" altLang="en-US" dirty="0"/>
              <a:t>把各類型選定的商品、服務分析至細項。</a:t>
            </a:r>
            <a:endParaRPr lang="en-US" altLang="zh-TW" dirty="0"/>
          </a:p>
          <a:p>
            <a:r>
              <a:rPr lang="en-US" altLang="zh-TW" dirty="0"/>
              <a:t>2.</a:t>
            </a:r>
            <a:r>
              <a:rPr lang="zh-TW" altLang="en-US" dirty="0"/>
              <a:t>思考能否把一些必要的專案分開，然後利用分開出的各項元素細項各自重新組合出，整合出另一個整合性商品或服務。</a:t>
            </a:r>
            <a:endParaRPr lang="en-US" altLang="zh-TW" dirty="0"/>
          </a:p>
          <a:p>
            <a:endParaRPr lang="en-US" altLang="zh-TW" dirty="0"/>
          </a:p>
          <a:p>
            <a:r>
              <a:rPr lang="zh-TW" altLang="en-US" dirty="0"/>
              <a:t>比如：傳統的兌金卷</a:t>
            </a:r>
            <a:r>
              <a:rPr lang="en-US" altLang="zh-TW" dirty="0">
                <a:sym typeface="Wingdings" panose="05000000000000000000" pitchFamily="2" charset="2"/>
              </a:rPr>
              <a:t></a:t>
            </a:r>
            <a:r>
              <a:rPr lang="zh-TW" altLang="en-US" dirty="0">
                <a:sym typeface="Wingdings" panose="05000000000000000000" pitchFamily="2" charset="2"/>
              </a:rPr>
              <a:t>債卷</a:t>
            </a:r>
            <a:r>
              <a:rPr lang="en-US" altLang="zh-TW" dirty="0">
                <a:sym typeface="Wingdings" panose="05000000000000000000" pitchFamily="2" charset="2"/>
              </a:rPr>
              <a:t></a:t>
            </a:r>
            <a:r>
              <a:rPr lang="zh-TW" altLang="en-US" dirty="0">
                <a:sym typeface="Wingdings" panose="05000000000000000000" pitchFamily="2" charset="2"/>
              </a:rPr>
              <a:t>國家貨幣</a:t>
            </a:r>
            <a:r>
              <a:rPr lang="en-US" altLang="zh-TW" dirty="0">
                <a:sym typeface="Wingdings" panose="05000000000000000000" pitchFamily="2" charset="2"/>
              </a:rPr>
              <a:t></a:t>
            </a:r>
          </a:p>
          <a:p>
            <a:r>
              <a:rPr lang="en-US" altLang="zh-TW" dirty="0">
                <a:sym typeface="Wingdings" panose="05000000000000000000" pitchFamily="2" charset="2"/>
              </a:rPr>
              <a:t>A.</a:t>
            </a:r>
            <a:r>
              <a:rPr lang="zh-TW" altLang="en-US" dirty="0">
                <a:sym typeface="Wingdings" panose="05000000000000000000" pitchFamily="2" charset="2"/>
              </a:rPr>
              <a:t>兌換</a:t>
            </a:r>
            <a:r>
              <a:rPr lang="en-US" altLang="zh-TW" dirty="0">
                <a:sym typeface="Wingdings" panose="05000000000000000000" pitchFamily="2" charset="2"/>
              </a:rPr>
              <a:t>B.</a:t>
            </a:r>
            <a:r>
              <a:rPr lang="zh-TW" altLang="en-US" dirty="0">
                <a:sym typeface="Wingdings" panose="05000000000000000000" pitchFamily="2" charset="2"/>
              </a:rPr>
              <a:t>放貸與借款系統</a:t>
            </a:r>
            <a:r>
              <a:rPr lang="en-US" altLang="zh-TW" dirty="0">
                <a:sym typeface="Wingdings" panose="05000000000000000000" pitchFamily="2" charset="2"/>
              </a:rPr>
              <a:t>C.</a:t>
            </a:r>
            <a:r>
              <a:rPr lang="zh-TW" altLang="en-US" dirty="0">
                <a:sym typeface="Wingdings" panose="05000000000000000000" pitchFamily="2" charset="2"/>
              </a:rPr>
              <a:t>資訊系統</a:t>
            </a:r>
            <a:r>
              <a:rPr lang="en-US" altLang="zh-TW" dirty="0">
                <a:sym typeface="Wingdings" panose="05000000000000000000" pitchFamily="2" charset="2"/>
              </a:rPr>
              <a:t>D.</a:t>
            </a:r>
            <a:r>
              <a:rPr lang="zh-TW" altLang="en-US" dirty="0">
                <a:sym typeface="Wingdings" panose="05000000000000000000" pitchFamily="2" charset="2"/>
              </a:rPr>
              <a:t>金融系統</a:t>
            </a:r>
            <a:r>
              <a:rPr lang="en-US" altLang="zh-TW" dirty="0">
                <a:sym typeface="Wingdings" panose="05000000000000000000" pitchFamily="2" charset="2"/>
              </a:rPr>
              <a:t>E.</a:t>
            </a:r>
            <a:r>
              <a:rPr lang="zh-TW" altLang="en-US" dirty="0">
                <a:sym typeface="Wingdings" panose="05000000000000000000" pitchFamily="2" charset="2"/>
              </a:rPr>
              <a:t>被動服務</a:t>
            </a:r>
            <a:r>
              <a:rPr lang="en-US" altLang="zh-TW" dirty="0">
                <a:sym typeface="Wingdings" panose="05000000000000000000" pitchFamily="2" charset="2"/>
              </a:rPr>
              <a:t></a:t>
            </a:r>
          </a:p>
          <a:p>
            <a:pPr marL="0" indent="0">
              <a:buNone/>
            </a:pPr>
            <a:r>
              <a:rPr lang="zh-TW" altLang="en-US" dirty="0">
                <a:sym typeface="Wingdings" panose="05000000000000000000" pitchFamily="2" charset="2"/>
              </a:rPr>
              <a:t>重新組合</a:t>
            </a:r>
            <a:r>
              <a:rPr lang="en-US" altLang="zh-TW" dirty="0">
                <a:sym typeface="Wingdings" panose="05000000000000000000" pitchFamily="2" charset="2"/>
              </a:rPr>
              <a:t></a:t>
            </a:r>
            <a:r>
              <a:rPr lang="zh-TW" altLang="en-US" dirty="0">
                <a:sym typeface="Wingdings" panose="05000000000000000000" pitchFamily="2" charset="2"/>
              </a:rPr>
              <a:t>創造新應用服務與產業：</a:t>
            </a:r>
            <a:r>
              <a:rPr lang="en-US" altLang="zh-TW" dirty="0">
                <a:sym typeface="Wingdings" panose="05000000000000000000" pitchFamily="2" charset="2"/>
              </a:rPr>
              <a:t>ATM</a:t>
            </a:r>
            <a:r>
              <a:rPr lang="zh-TW" altLang="en-US" dirty="0">
                <a:sym typeface="Wingdings" panose="05000000000000000000" pitchFamily="2" charset="2"/>
              </a:rPr>
              <a:t>。</a:t>
            </a:r>
            <a:endParaRPr lang="zh-TW" altLang="en-US" dirty="0"/>
          </a:p>
          <a:p>
            <a:endParaRPr lang="zh-TW" altLang="en-US" dirty="0"/>
          </a:p>
        </p:txBody>
      </p:sp>
    </p:spTree>
    <p:extLst>
      <p:ext uri="{BB962C8B-B14F-4D97-AF65-F5344CB8AC3E}">
        <p14:creationId xmlns:p14="http://schemas.microsoft.com/office/powerpoint/2010/main" val="40237524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descr="http://my.ifdesign.de/upload/award_img_287/oex_large/138220_02_0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057" y="3559324"/>
            <a:ext cx="3450482" cy="3450482"/>
          </a:xfrm>
          <a:prstGeom prst="rect">
            <a:avLst/>
          </a:prstGeom>
          <a:noFill/>
          <a:extLst>
            <a:ext uri="{909E8E84-426E-40DD-AFC4-6F175D3DCCD1}">
              <a14:hiddenFill xmlns:a14="http://schemas.microsoft.com/office/drawing/2010/main">
                <a:solidFill>
                  <a:srgbClr val="FFFFFF"/>
                </a:solidFill>
              </a14:hiddenFill>
            </a:ext>
          </a:extLst>
        </p:spPr>
      </p:pic>
      <p:sp>
        <p:nvSpPr>
          <p:cNvPr id="3" name="內容版面配置區 2"/>
          <p:cNvSpPr>
            <a:spLocks noGrp="1"/>
          </p:cNvSpPr>
          <p:nvPr>
            <p:ph idx="1"/>
          </p:nvPr>
        </p:nvSpPr>
        <p:spPr>
          <a:xfrm>
            <a:off x="6965004" y="282101"/>
            <a:ext cx="4826541" cy="6108971"/>
          </a:xfrm>
        </p:spPr>
        <p:txBody>
          <a:bodyPr>
            <a:normAutofit/>
          </a:bodyPr>
          <a:lstStyle/>
          <a:p>
            <a:pPr marL="0" indent="0">
              <a:buNone/>
            </a:pPr>
            <a:r>
              <a:rPr lang="en-US" altLang="zh-TW" sz="1800" b="1" dirty="0"/>
              <a:t>Slip Panel Switch</a:t>
            </a:r>
          </a:p>
          <a:p>
            <a:pPr marL="0" indent="0">
              <a:buNone/>
            </a:pPr>
            <a:r>
              <a:rPr lang="zh-TW" altLang="en-US" sz="1800" dirty="0">
                <a:latin typeface="Adobe 仿宋 Std R" panose="02020400000000000000" pitchFamily="18" charset="-128"/>
                <a:ea typeface="Adobe 仿宋 Std R" panose="02020400000000000000" pitchFamily="18" charset="-128"/>
              </a:rPr>
              <a:t>在滑面板開關，顧名思義，是一個搖桿的開關。前面板是室內空間的副本，並分成幾平方指示燈和整體室內佈局之間的關係。它不僅使接通和關斷燈更直觀，但是也簡化了安裝成一個單一的元件，使所有的開關的控制。操縱杆的工作方式增加了一個有趣的點點它。</a:t>
            </a:r>
            <a:endParaRPr lang="en-US" altLang="zh-TW" sz="1800" dirty="0">
              <a:latin typeface="Adobe 仿宋 Std R" panose="02020400000000000000" pitchFamily="18" charset="-128"/>
              <a:ea typeface="Adobe 仿宋 Std R" panose="02020400000000000000" pitchFamily="18" charset="-128"/>
            </a:endParaRPr>
          </a:p>
          <a:p>
            <a:pPr marL="0" indent="0">
              <a:buNone/>
            </a:pP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zh-TW" altLang="en-US" sz="1800" dirty="0">
                <a:latin typeface="Adobe 仿宋 Std R" panose="02020400000000000000" pitchFamily="18" charset="-128"/>
                <a:ea typeface="Adobe 仿宋 Std R" panose="02020400000000000000" pitchFamily="18" charset="-128"/>
              </a:rPr>
              <a:t>臺灣  臺北</a:t>
            </a: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zh-TW" altLang="en-US" sz="1800" dirty="0">
                <a:latin typeface="Adobe 仿宋 Std R" panose="02020400000000000000" pitchFamily="18" charset="-128"/>
                <a:ea typeface="Adobe 仿宋 Std R" panose="02020400000000000000" pitchFamily="18" charset="-128"/>
              </a:rPr>
              <a:t>臺灣</a:t>
            </a:r>
            <a:r>
              <a:rPr lang="en-US" altLang="zh-TW" sz="1800" dirty="0">
                <a:latin typeface="Adobe 仿宋 Std R" panose="02020400000000000000" pitchFamily="18" charset="-128"/>
                <a:ea typeface="Adobe 仿宋 Std R" panose="02020400000000000000" pitchFamily="18" charset="-128"/>
              </a:rPr>
              <a:t>TECH</a:t>
            </a:r>
          </a:p>
          <a:p>
            <a:pPr marL="0" indent="0">
              <a:buNone/>
            </a:pPr>
            <a:r>
              <a:rPr lang="de-DE" altLang="zh-TW" sz="1800" dirty="0">
                <a:latin typeface="Adobe 仿宋 Std R" panose="02020400000000000000" pitchFamily="18" charset="-128"/>
                <a:ea typeface="Adobe 仿宋 Std R" panose="02020400000000000000" pitchFamily="18" charset="-128"/>
              </a:rPr>
              <a:t>Jen-Ting Wei, Ching-An Hsu, Chun-Li Chen</a:t>
            </a:r>
          </a:p>
          <a:p>
            <a:pPr marL="0" indent="0">
              <a:buNone/>
            </a:pPr>
            <a:endParaRPr lang="de-DE" altLang="zh-TW" sz="1800" dirty="0">
              <a:latin typeface="Adobe 仿宋 Std R" panose="02020400000000000000" pitchFamily="18" charset="-128"/>
              <a:ea typeface="Adobe 仿宋 Std R" panose="02020400000000000000" pitchFamily="18" charset="-128"/>
            </a:endParaRPr>
          </a:p>
          <a:p>
            <a:pPr marL="0" indent="0">
              <a:buNone/>
            </a:pPr>
            <a:r>
              <a:rPr lang="zh-TW" altLang="en-US" sz="1800" dirty="0">
                <a:latin typeface="Adobe 仿宋 Std R" panose="02020400000000000000" pitchFamily="18" charset="-128"/>
                <a:ea typeface="Adobe 仿宋 Std R" panose="02020400000000000000" pitchFamily="18" charset="-128"/>
              </a:rPr>
              <a:t>來源</a:t>
            </a:r>
            <a:r>
              <a:rPr lang="en-US" altLang="zh-TW" sz="1800" dirty="0">
                <a:latin typeface="Adobe 仿宋 Std R" panose="02020400000000000000" pitchFamily="18" charset="-128"/>
                <a:ea typeface="Adobe 仿宋 Std R" panose="02020400000000000000" pitchFamily="18" charset="-128"/>
              </a:rPr>
              <a:t>:</a:t>
            </a:r>
          </a:p>
          <a:p>
            <a:pPr marL="0" indent="0">
              <a:buNone/>
            </a:pPr>
            <a:r>
              <a:rPr lang="en-US" altLang="zh-TW" sz="1800" dirty="0">
                <a:latin typeface="Adobe 仿宋 Std R" panose="02020400000000000000" pitchFamily="18" charset="-128"/>
                <a:ea typeface="Adobe 仿宋 Std R" panose="02020400000000000000" pitchFamily="18" charset="-128"/>
              </a:rPr>
              <a:t>http://exhibition.ifdesign.de/entrydetails_en.html?mode=aus&amp;offset=69</a:t>
            </a:r>
            <a:endParaRPr lang="zh-TW" altLang="en-US" sz="1800" dirty="0">
              <a:latin typeface="Adobe 仿宋 Std R" panose="02020400000000000000" pitchFamily="18" charset="-128"/>
              <a:ea typeface="Adobe 仿宋 Std R" panose="02020400000000000000" pitchFamily="18" charset="-128"/>
            </a:endParaRPr>
          </a:p>
        </p:txBody>
      </p:sp>
      <p:pic>
        <p:nvPicPr>
          <p:cNvPr id="4098" name="Picture 2" descr="http://my.ifdesign.de/upload/award_img_287/oex_large/138220_01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3027" y="282101"/>
            <a:ext cx="3706238" cy="3706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18872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屬性相依：變變得不變</a:t>
            </a:r>
            <a:r>
              <a:rPr lang="en-US" altLang="zh-TW" dirty="0"/>
              <a:t>-</a:t>
            </a:r>
            <a:r>
              <a:rPr lang="zh-TW" altLang="en-US" dirty="0"/>
              <a:t>創新的根本</a:t>
            </a:r>
          </a:p>
        </p:txBody>
      </p:sp>
      <p:sp>
        <p:nvSpPr>
          <p:cNvPr id="3" name="內容版面配置區 2"/>
          <p:cNvSpPr>
            <a:spLocks noGrp="1"/>
          </p:cNvSpPr>
          <p:nvPr>
            <p:ph idx="1"/>
          </p:nvPr>
        </p:nvSpPr>
        <p:spPr/>
        <p:txBody>
          <a:bodyPr>
            <a:normAutofit/>
          </a:bodyPr>
          <a:lstStyle/>
          <a:p>
            <a:r>
              <a:rPr lang="zh-TW" altLang="en-US" dirty="0"/>
              <a:t>流程：</a:t>
            </a:r>
            <a:endParaRPr lang="en-US" altLang="zh-TW" dirty="0"/>
          </a:p>
          <a:p>
            <a:r>
              <a:rPr lang="en-US" altLang="zh-TW" dirty="0"/>
              <a:t>1.</a:t>
            </a:r>
            <a:r>
              <a:rPr lang="zh-TW" altLang="en-US" dirty="0"/>
              <a:t>把某種屬性、訊息和辨識單位分析。</a:t>
            </a:r>
            <a:endParaRPr lang="en-US" altLang="zh-TW" dirty="0"/>
          </a:p>
          <a:p>
            <a:r>
              <a:rPr lang="en-US" altLang="zh-TW" dirty="0"/>
              <a:t>2.</a:t>
            </a:r>
            <a:r>
              <a:rPr lang="zh-TW" altLang="en-US" dirty="0"/>
              <a:t>思考能否把上述屬性</a:t>
            </a:r>
            <a:r>
              <a:rPr lang="en-US" altLang="zh-TW" dirty="0"/>
              <a:t>(</a:t>
            </a:r>
            <a:r>
              <a:rPr lang="zh-TW" altLang="en-US" dirty="0"/>
              <a:t>色彩或冷熱</a:t>
            </a:r>
            <a:r>
              <a:rPr lang="en-US" altLang="zh-TW" dirty="0"/>
              <a:t>)</a:t>
            </a:r>
            <a:r>
              <a:rPr lang="zh-TW" altLang="en-US" dirty="0"/>
              <a:t>、訊息</a:t>
            </a:r>
            <a:r>
              <a:rPr lang="en-US" altLang="zh-TW" dirty="0"/>
              <a:t>(</a:t>
            </a:r>
            <a:r>
              <a:rPr lang="zh-TW" altLang="en-US" dirty="0"/>
              <a:t>文字或聲音</a:t>
            </a:r>
            <a:r>
              <a:rPr lang="en-US" altLang="zh-TW" dirty="0"/>
              <a:t>)</a:t>
            </a:r>
            <a:r>
              <a:rPr lang="zh-TW" altLang="en-US" dirty="0"/>
              <a:t>和辨識單位</a:t>
            </a:r>
            <a:r>
              <a:rPr lang="en-US" altLang="zh-TW" dirty="0"/>
              <a:t>(</a:t>
            </a:r>
            <a:r>
              <a:rPr lang="zh-TW" altLang="en-US" dirty="0"/>
              <a:t>圖表或圖案</a:t>
            </a:r>
            <a:r>
              <a:rPr lang="en-US" altLang="zh-TW" dirty="0"/>
              <a:t>)</a:t>
            </a:r>
            <a:r>
              <a:rPr lang="zh-TW" altLang="en-US" dirty="0"/>
              <a:t>整理出來，然後利用于目前正在開發的商品與服務，創造更有服務與產品特性的創新方案。</a:t>
            </a:r>
            <a:endParaRPr lang="en-US" altLang="zh-TW" dirty="0"/>
          </a:p>
          <a:p>
            <a:r>
              <a:rPr lang="zh-TW" altLang="en-US" dirty="0"/>
              <a:t>比如：傳統的隨身杯蓋</a:t>
            </a:r>
            <a:r>
              <a:rPr lang="en-US" altLang="zh-TW" dirty="0">
                <a:sym typeface="Wingdings" panose="05000000000000000000" pitchFamily="2" charset="2"/>
              </a:rPr>
              <a:t></a:t>
            </a:r>
            <a:r>
              <a:rPr lang="zh-TW" altLang="en-US" dirty="0">
                <a:sym typeface="Wingdings" panose="05000000000000000000" pitchFamily="2" charset="2"/>
              </a:rPr>
              <a:t>加上溫度變色的材質</a:t>
            </a:r>
            <a:r>
              <a:rPr lang="en-US" altLang="zh-TW" dirty="0">
                <a:sym typeface="Wingdings" panose="05000000000000000000" pitchFamily="2" charset="2"/>
              </a:rPr>
              <a:t></a:t>
            </a:r>
            <a:r>
              <a:rPr lang="zh-TW" altLang="en-US" dirty="0">
                <a:sym typeface="Wingdings" panose="05000000000000000000" pitchFamily="2" charset="2"/>
              </a:rPr>
              <a:t>可隨溫度變色的隨身杯蓋 </a:t>
            </a:r>
            <a:r>
              <a:rPr lang="en-US" altLang="zh-TW" dirty="0">
                <a:sym typeface="Wingdings" panose="05000000000000000000" pitchFamily="2" charset="2"/>
              </a:rPr>
              <a:t>(</a:t>
            </a:r>
            <a:r>
              <a:rPr lang="zh-TW" altLang="en-US" dirty="0">
                <a:sym typeface="Wingdings" panose="05000000000000000000" pitchFamily="2" charset="2"/>
              </a:rPr>
              <a:t>安全</a:t>
            </a:r>
            <a:r>
              <a:rPr lang="en-US" altLang="zh-TW" dirty="0">
                <a:sym typeface="Wingdings" panose="05000000000000000000" pitchFamily="2" charset="2"/>
              </a:rPr>
              <a:t>)</a:t>
            </a:r>
            <a:r>
              <a:rPr lang="zh-TW" altLang="en-US" dirty="0">
                <a:sym typeface="Wingdings" panose="05000000000000000000" pitchFamily="2" charset="2"/>
              </a:rPr>
              <a:t>。</a:t>
            </a:r>
            <a:endParaRPr lang="en-US" altLang="zh-TW" dirty="0">
              <a:sym typeface="Wingdings" panose="05000000000000000000" pitchFamily="2" charset="2"/>
            </a:endParaRPr>
          </a:p>
          <a:p>
            <a:r>
              <a:rPr lang="en-US" altLang="zh-TW" dirty="0">
                <a:sym typeface="Wingdings" panose="05000000000000000000" pitchFamily="2" charset="2"/>
              </a:rPr>
              <a:t>A.</a:t>
            </a:r>
            <a:r>
              <a:rPr lang="zh-TW" altLang="en-US" dirty="0">
                <a:sym typeface="Wingdings" panose="05000000000000000000" pitchFamily="2" charset="2"/>
              </a:rPr>
              <a:t>溫度屬性</a:t>
            </a:r>
            <a:r>
              <a:rPr lang="en-US" altLang="zh-TW" dirty="0">
                <a:sym typeface="Wingdings" panose="05000000000000000000" pitchFamily="2" charset="2"/>
              </a:rPr>
              <a:t></a:t>
            </a:r>
            <a:r>
              <a:rPr lang="zh-TW" altLang="en-US" dirty="0">
                <a:sym typeface="Wingdings" panose="05000000000000000000" pitchFamily="2" charset="2"/>
              </a:rPr>
              <a:t>藍</a:t>
            </a:r>
            <a:r>
              <a:rPr lang="en-US" altLang="zh-TW" dirty="0">
                <a:sym typeface="Wingdings" panose="05000000000000000000" pitchFamily="2" charset="2"/>
              </a:rPr>
              <a:t>(</a:t>
            </a:r>
            <a:r>
              <a:rPr lang="zh-TW" altLang="en-US" dirty="0">
                <a:sym typeface="Wingdings" panose="05000000000000000000" pitchFamily="2" charset="2"/>
              </a:rPr>
              <a:t>低溫</a:t>
            </a:r>
            <a:r>
              <a:rPr lang="en-US" altLang="zh-TW" dirty="0">
                <a:sym typeface="Wingdings" panose="05000000000000000000" pitchFamily="2" charset="2"/>
              </a:rPr>
              <a:t>)</a:t>
            </a:r>
            <a:r>
              <a:rPr lang="zh-TW" altLang="en-US" dirty="0">
                <a:sym typeface="Wingdings" panose="05000000000000000000" pitchFamily="2" charset="2"/>
              </a:rPr>
              <a:t>紅</a:t>
            </a:r>
            <a:r>
              <a:rPr lang="en-US" altLang="zh-TW" dirty="0">
                <a:sym typeface="Wingdings" panose="05000000000000000000" pitchFamily="2" charset="2"/>
              </a:rPr>
              <a:t>(</a:t>
            </a:r>
            <a:r>
              <a:rPr lang="zh-TW" altLang="en-US" dirty="0">
                <a:sym typeface="Wingdings" panose="05000000000000000000" pitchFamily="2" charset="2"/>
              </a:rPr>
              <a:t>高溫</a:t>
            </a:r>
            <a:r>
              <a:rPr lang="en-US" altLang="zh-TW" dirty="0">
                <a:sym typeface="Wingdings" panose="05000000000000000000" pitchFamily="2" charset="2"/>
              </a:rPr>
              <a:t>)B.</a:t>
            </a:r>
            <a:r>
              <a:rPr lang="zh-TW" altLang="en-US" dirty="0">
                <a:sym typeface="Wingdings" panose="05000000000000000000" pitchFamily="2" charset="2"/>
              </a:rPr>
              <a:t>溫度變色材料</a:t>
            </a:r>
            <a:r>
              <a:rPr lang="en-US" altLang="zh-TW" dirty="0">
                <a:sym typeface="Wingdings" panose="05000000000000000000" pitchFamily="2" charset="2"/>
              </a:rPr>
              <a:t>C.</a:t>
            </a:r>
            <a:r>
              <a:rPr lang="zh-TW" altLang="en-US" dirty="0">
                <a:sym typeface="Wingdings" panose="05000000000000000000" pitchFamily="2" charset="2"/>
              </a:rPr>
              <a:t>瓶蓋系統</a:t>
            </a:r>
            <a:r>
              <a:rPr lang="en-US" altLang="zh-TW" dirty="0">
                <a:sym typeface="Wingdings" panose="05000000000000000000" pitchFamily="2" charset="2"/>
              </a:rPr>
              <a:t>D.</a:t>
            </a:r>
            <a:r>
              <a:rPr lang="zh-TW" altLang="en-US" dirty="0">
                <a:sym typeface="Wingdings" panose="05000000000000000000" pitchFamily="2" charset="2"/>
              </a:rPr>
              <a:t>溫度屬性重要度</a:t>
            </a:r>
            <a:r>
              <a:rPr lang="en-US" altLang="zh-TW" dirty="0">
                <a:sym typeface="Wingdings" panose="05000000000000000000" pitchFamily="2" charset="2"/>
              </a:rPr>
              <a:t>E.</a:t>
            </a:r>
            <a:r>
              <a:rPr lang="zh-TW" altLang="en-US" dirty="0">
                <a:sym typeface="Wingdings" panose="05000000000000000000" pitchFamily="2" charset="2"/>
              </a:rPr>
              <a:t>商品創新</a:t>
            </a:r>
            <a:endParaRPr lang="en-US" altLang="zh-TW" dirty="0">
              <a:sym typeface="Wingdings" panose="05000000000000000000" pitchFamily="2" charset="2"/>
            </a:endParaRPr>
          </a:p>
          <a:p>
            <a:pPr marL="0" indent="0">
              <a:buNone/>
            </a:pPr>
            <a:r>
              <a:rPr lang="zh-TW" altLang="en-US" dirty="0">
                <a:sym typeface="Wingdings" panose="05000000000000000000" pitchFamily="2" charset="2"/>
              </a:rPr>
              <a:t>重新組合</a:t>
            </a:r>
            <a:r>
              <a:rPr lang="en-US" altLang="zh-TW" dirty="0">
                <a:sym typeface="Wingdings" panose="05000000000000000000" pitchFamily="2" charset="2"/>
              </a:rPr>
              <a:t></a:t>
            </a:r>
            <a:r>
              <a:rPr lang="zh-TW" altLang="en-US" dirty="0">
                <a:sym typeface="Wingdings" panose="05000000000000000000" pitchFamily="2" charset="2"/>
              </a:rPr>
              <a:t>創造新應用服務與產業：變色隨身杯蓋、牛奶瓶、老人杯。</a:t>
            </a:r>
            <a:endParaRPr lang="zh-TW" altLang="en-US" dirty="0"/>
          </a:p>
          <a:p>
            <a:endParaRPr lang="zh-TW" altLang="en-US" dirty="0"/>
          </a:p>
        </p:txBody>
      </p:sp>
    </p:spTree>
    <p:extLst>
      <p:ext uri="{BB962C8B-B14F-4D97-AF65-F5344CB8AC3E}">
        <p14:creationId xmlns:p14="http://schemas.microsoft.com/office/powerpoint/2010/main" val="6240461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6690634" y="583659"/>
            <a:ext cx="5137826" cy="6274341"/>
          </a:xfrm>
        </p:spPr>
        <p:txBody>
          <a:bodyPr>
            <a:normAutofit/>
          </a:bodyPr>
          <a:lstStyle/>
          <a:p>
            <a:pPr marL="0" indent="0">
              <a:buNone/>
            </a:pPr>
            <a:r>
              <a:rPr lang="zh-TW" altLang="en-US" sz="1800" dirty="0"/>
              <a:t>水溶性吊牌</a:t>
            </a:r>
            <a:endParaRPr lang="en-US" altLang="zh-TW" sz="1800" dirty="0"/>
          </a:p>
          <a:p>
            <a:pPr marL="0" indent="0">
              <a:buNone/>
            </a:pPr>
            <a:r>
              <a:rPr lang="zh-TW" altLang="en-US" sz="1800" dirty="0"/>
              <a:t>每年，大約</a:t>
            </a:r>
            <a:r>
              <a:rPr lang="en-US" altLang="zh-TW" sz="1800" dirty="0"/>
              <a:t>36</a:t>
            </a:r>
            <a:r>
              <a:rPr lang="zh-TW" altLang="en-US" sz="1800" dirty="0"/>
              <a:t>十億件衣服生產遍佈世界各地，這意味著有</a:t>
            </a:r>
            <a:r>
              <a:rPr lang="en-US" altLang="zh-TW" sz="1800" dirty="0"/>
              <a:t>36</a:t>
            </a:r>
            <a:r>
              <a:rPr lang="zh-TW" altLang="en-US" sz="1800" dirty="0"/>
              <a:t>個十億標籤必須作出與它們匹配</a:t>
            </a:r>
            <a:r>
              <a:rPr lang="en-US" altLang="zh-TW" sz="1800" dirty="0"/>
              <a:t>;</a:t>
            </a:r>
            <a:r>
              <a:rPr lang="zh-TW" altLang="en-US" sz="1800" dirty="0"/>
              <a:t>這是一個驚人的數字和大量的木材消耗來製造這些標籤。為了解決這個問題，我們重新設計的標記。現在它是由主要的洗衣皂或洗滌劑，它是柔性的並且完全可生物降解的</a:t>
            </a:r>
            <a:r>
              <a:rPr lang="en-US" altLang="zh-TW" sz="1800" dirty="0"/>
              <a:t>;</a:t>
            </a:r>
            <a:r>
              <a:rPr lang="zh-TW" altLang="en-US" sz="1800" dirty="0"/>
              <a:t>即使該字串是水溶性的。新服可以洗他們購買後直接，即標籤溶解成液體洗滌劑和洗出任何殘留的化學物質在服裝。這也更親切到消費者的皮膚上。</a:t>
            </a:r>
            <a:endParaRPr lang="en-US" altLang="zh-TW" sz="1800" dirty="0"/>
          </a:p>
          <a:p>
            <a:pPr marL="0" indent="0">
              <a:buNone/>
            </a:pPr>
            <a:endParaRPr lang="en-US" altLang="zh-TW" sz="1800" dirty="0"/>
          </a:p>
          <a:p>
            <a:pPr marL="0" indent="0">
              <a:buNone/>
            </a:pPr>
            <a:r>
              <a:rPr lang="zh-TW" altLang="en-US" sz="1800" dirty="0"/>
              <a:t>中國  福州</a:t>
            </a:r>
            <a:endParaRPr lang="en-US" altLang="zh-TW" sz="1800" dirty="0"/>
          </a:p>
          <a:p>
            <a:pPr marL="0" indent="0">
              <a:buNone/>
            </a:pPr>
            <a:r>
              <a:rPr lang="zh-TW" altLang="en-US" sz="1800" dirty="0"/>
              <a:t>江蘇師範大學</a:t>
            </a:r>
            <a:endParaRPr lang="en-US" altLang="zh-TW" sz="1800" dirty="0"/>
          </a:p>
          <a:p>
            <a:pPr marL="0" indent="0">
              <a:buNone/>
            </a:pPr>
            <a:r>
              <a:rPr lang="en-US" altLang="zh-TW" sz="1800" dirty="0" err="1"/>
              <a:t>Danghui</a:t>
            </a:r>
            <a:r>
              <a:rPr lang="en-US" altLang="zh-TW" sz="1800" dirty="0"/>
              <a:t> Li, </a:t>
            </a:r>
            <a:r>
              <a:rPr lang="en-US" altLang="zh-TW" sz="1800" dirty="0" err="1"/>
              <a:t>Yuexin</a:t>
            </a:r>
            <a:r>
              <a:rPr lang="en-US" altLang="zh-TW" sz="1800" dirty="0"/>
              <a:t> Huang, Yao Zhang, Long Chen</a:t>
            </a:r>
          </a:p>
          <a:p>
            <a:pPr marL="0" indent="0">
              <a:buNone/>
            </a:pPr>
            <a:endParaRPr lang="en-US" altLang="zh-TW" sz="1800" dirty="0"/>
          </a:p>
          <a:p>
            <a:pPr marL="0" indent="0">
              <a:buNone/>
            </a:pPr>
            <a:r>
              <a:rPr lang="zh-TW" altLang="en-US" sz="1800" dirty="0"/>
              <a:t>來源</a:t>
            </a:r>
            <a:r>
              <a:rPr lang="en-US" altLang="zh-TW" sz="1800" dirty="0"/>
              <a:t>:</a:t>
            </a:r>
          </a:p>
          <a:p>
            <a:pPr marL="0" indent="0">
              <a:buNone/>
            </a:pPr>
            <a:r>
              <a:rPr lang="en-US" altLang="zh-TW" sz="1800" dirty="0"/>
              <a:t>http://exhibition.ifdesign.de/entrydetails_en.html?mode=aus&amp;offset=89</a:t>
            </a:r>
            <a:endParaRPr lang="zh-TW" altLang="en-US" sz="1800" dirty="0"/>
          </a:p>
        </p:txBody>
      </p:sp>
      <p:pic>
        <p:nvPicPr>
          <p:cNvPr id="24578" name="Picture 2" descr="http://my.ifdesign.de/upload/award_img_287/oex_large/143686_01_287-143686-Water-Soluble-Hangtag-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377" y="1970583"/>
            <a:ext cx="6272902" cy="4432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81289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6685397" y="515566"/>
            <a:ext cx="5244829" cy="6342434"/>
          </a:xfrm>
        </p:spPr>
        <p:txBody>
          <a:bodyPr/>
          <a:lstStyle/>
          <a:p>
            <a:pPr marL="0" indent="0">
              <a:buNone/>
            </a:pPr>
            <a:r>
              <a:rPr lang="en-US" altLang="zh-TW" sz="1800" b="1" dirty="0"/>
              <a:t>Swing Baton</a:t>
            </a:r>
          </a:p>
          <a:p>
            <a:pPr marL="0" indent="0">
              <a:buNone/>
            </a:pPr>
            <a:r>
              <a:rPr lang="zh-TW" altLang="en-US" sz="1800" dirty="0">
                <a:latin typeface="Adobe 仿宋 Std R" panose="02020400000000000000" pitchFamily="18" charset="-128"/>
                <a:ea typeface="Adobe 仿宋 Std R" panose="02020400000000000000" pitchFamily="18" charset="-128"/>
              </a:rPr>
              <a:t>在“搖擺指揮棒”是交警的好工具。他們可以使用“搖擺指揮棒”來表示的方向，並提供與其他重要資訊的驅動程式。通過揮動著指揮棒和閃爍的</a:t>
            </a:r>
            <a:r>
              <a:rPr lang="en-US" altLang="zh-TW" sz="1800" dirty="0">
                <a:latin typeface="Adobe 仿宋 Std R" panose="02020400000000000000" pitchFamily="18" charset="-128"/>
                <a:ea typeface="Adobe 仿宋 Std R" panose="02020400000000000000" pitchFamily="18" charset="-128"/>
              </a:rPr>
              <a:t>LED</a:t>
            </a:r>
            <a:r>
              <a:rPr lang="zh-TW" altLang="en-US" sz="1800" dirty="0">
                <a:latin typeface="Adobe 仿宋 Std R" panose="02020400000000000000" pitchFamily="18" charset="-128"/>
                <a:ea typeface="Adobe 仿宋 Std R" panose="02020400000000000000" pitchFamily="18" charset="-128"/>
              </a:rPr>
              <a:t>機制產生快速的動作創建一個可以很容易地看到司機一個臨時的視覺形象。這樣的圖像可以被用於傳達這樣的資訊作為所述驅動方向或交通警告。</a:t>
            </a:r>
            <a:endParaRPr lang="en-US" altLang="zh-TW" sz="1800" dirty="0">
              <a:latin typeface="Adobe 仿宋 Std R" panose="02020400000000000000" pitchFamily="18" charset="-128"/>
              <a:ea typeface="Adobe 仿宋 Std R" panose="02020400000000000000" pitchFamily="18" charset="-128"/>
            </a:endParaRPr>
          </a:p>
          <a:p>
            <a:pPr marL="0" indent="0">
              <a:buNone/>
            </a:pP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zh-TW" altLang="en-US" sz="1800" dirty="0">
                <a:latin typeface="Adobe 仿宋 Std R" panose="02020400000000000000" pitchFamily="18" charset="-128"/>
                <a:ea typeface="Adobe 仿宋 Std R" panose="02020400000000000000" pitchFamily="18" charset="-128"/>
              </a:rPr>
              <a:t>臺灣  臺北市</a:t>
            </a: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zh-TW" altLang="en-US" sz="1800" dirty="0">
                <a:latin typeface="Adobe 仿宋 Std R" panose="02020400000000000000" pitchFamily="18" charset="-128"/>
                <a:ea typeface="Adobe 仿宋 Std R" panose="02020400000000000000" pitchFamily="18" charset="-128"/>
              </a:rPr>
              <a:t>臺北科技大學</a:t>
            </a: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de-DE" altLang="zh-TW" sz="1800" dirty="0">
                <a:latin typeface="Adobe 仿宋 Std R" panose="02020400000000000000" pitchFamily="18" charset="-128"/>
                <a:ea typeface="Adobe 仿宋 Std R" panose="02020400000000000000" pitchFamily="18" charset="-128"/>
              </a:rPr>
              <a:t>Philip Hwang Chih-Wei Lai Chi Wang</a:t>
            </a:r>
          </a:p>
          <a:p>
            <a:pPr marL="0" indent="0">
              <a:buNone/>
            </a:pPr>
            <a:endParaRPr lang="de-DE" altLang="zh-TW" sz="1800" dirty="0">
              <a:latin typeface="Adobe 仿宋 Std R" panose="02020400000000000000" pitchFamily="18" charset="-128"/>
              <a:ea typeface="Adobe 仿宋 Std R" panose="02020400000000000000" pitchFamily="18" charset="-128"/>
            </a:endParaRPr>
          </a:p>
          <a:p>
            <a:pPr marL="0" indent="0">
              <a:buNone/>
            </a:pPr>
            <a:r>
              <a:rPr lang="zh-TW" altLang="en-US" sz="1800" dirty="0">
                <a:latin typeface="Adobe 仿宋 Std R" panose="02020400000000000000" pitchFamily="18" charset="-128"/>
                <a:ea typeface="Adobe 仿宋 Std R" panose="02020400000000000000" pitchFamily="18" charset="-128"/>
              </a:rPr>
              <a:t>來源</a:t>
            </a:r>
            <a:r>
              <a:rPr lang="en-US" altLang="zh-TW" sz="1800" dirty="0">
                <a:latin typeface="Adobe 仿宋 Std R" panose="02020400000000000000" pitchFamily="18" charset="-128"/>
                <a:ea typeface="Adobe 仿宋 Std R" panose="02020400000000000000" pitchFamily="18" charset="-128"/>
              </a:rPr>
              <a:t>:</a:t>
            </a:r>
          </a:p>
          <a:p>
            <a:pPr marL="0" indent="0">
              <a:buNone/>
            </a:pPr>
            <a:r>
              <a:rPr lang="en-US" altLang="zh-TW" sz="1800" dirty="0">
                <a:latin typeface="Adobe 仿宋 Std R" panose="02020400000000000000" pitchFamily="18" charset="-128"/>
                <a:ea typeface="Adobe 仿宋 Std R" panose="02020400000000000000" pitchFamily="18" charset="-128"/>
              </a:rPr>
              <a:t>http://exhibition.ifdesign.de/entrydetails_en.html?mode=aus&amp;offset=77</a:t>
            </a:r>
            <a:endParaRPr lang="zh-TW" altLang="en-US" sz="1800" dirty="0">
              <a:latin typeface="Adobe 仿宋 Std R" panose="02020400000000000000" pitchFamily="18" charset="-128"/>
              <a:ea typeface="Adobe 仿宋 Std R" panose="02020400000000000000" pitchFamily="18" charset="-128"/>
            </a:endParaRPr>
          </a:p>
        </p:txBody>
      </p:sp>
      <p:pic>
        <p:nvPicPr>
          <p:cNvPr id="12290" name="Picture 2" descr="http://my.ifdesign.de/upload/award_img_287/oex_large/145924_01_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3984" y="1134645"/>
            <a:ext cx="4824918" cy="48249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01266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6361889" y="405198"/>
            <a:ext cx="5458839" cy="6293796"/>
          </a:xfrm>
        </p:spPr>
        <p:txBody>
          <a:bodyPr>
            <a:normAutofit/>
          </a:bodyPr>
          <a:lstStyle/>
          <a:p>
            <a:pPr marL="0" indent="0">
              <a:buNone/>
            </a:pPr>
            <a:r>
              <a:rPr lang="en-US" altLang="zh-TW" sz="1800" b="1" dirty="0"/>
              <a:t>Sun Stamp</a:t>
            </a:r>
          </a:p>
          <a:p>
            <a:pPr marL="0" indent="0">
              <a:buNone/>
            </a:pPr>
            <a:r>
              <a:rPr lang="zh-TW" altLang="en-US" sz="1800" dirty="0">
                <a:latin typeface="Adobe 仿宋 Std R" panose="02020400000000000000" pitchFamily="18" charset="-128"/>
                <a:ea typeface="Adobe 仿宋 Std R" panose="02020400000000000000" pitchFamily="18" charset="-128"/>
              </a:rPr>
              <a:t>雖然</a:t>
            </a:r>
            <a:r>
              <a:rPr lang="en-US" altLang="zh-TW" sz="1800" dirty="0">
                <a:latin typeface="Adobe 仿宋 Std R" panose="02020400000000000000" pitchFamily="18" charset="-128"/>
                <a:ea typeface="Adobe 仿宋 Std R" panose="02020400000000000000" pitchFamily="18" charset="-128"/>
              </a:rPr>
              <a:t>SPF</a:t>
            </a:r>
            <a:r>
              <a:rPr lang="zh-TW" altLang="en-US" sz="1800" dirty="0">
                <a:latin typeface="Adobe 仿宋 Std R" panose="02020400000000000000" pitchFamily="18" charset="-128"/>
                <a:ea typeface="Adobe 仿宋 Std R" panose="02020400000000000000" pitchFamily="18" charset="-128"/>
              </a:rPr>
              <a:t>和</a:t>
            </a:r>
            <a:r>
              <a:rPr lang="en-US" altLang="zh-TW" sz="1800" dirty="0">
                <a:latin typeface="Adobe 仿宋 Std R" panose="02020400000000000000" pitchFamily="18" charset="-128"/>
                <a:ea typeface="Adobe 仿宋 Std R" panose="02020400000000000000" pitchFamily="18" charset="-128"/>
              </a:rPr>
              <a:t>PA</a:t>
            </a:r>
            <a:r>
              <a:rPr lang="zh-TW" altLang="en-US" sz="1800" dirty="0">
                <a:latin typeface="Adobe 仿宋 Std R" panose="02020400000000000000" pitchFamily="18" charset="-128"/>
                <a:ea typeface="Adobe 仿宋 Std R" panose="02020400000000000000" pitchFamily="18" charset="-128"/>
              </a:rPr>
              <a:t>通常標示在產品，它仍然是容易讓人們忘記了，當它的時間來重新申請防曬霜。所以它得到重新應用後期甚至忘記了一起，從而導致曬傷，甚至皮膚癌。 “太陽印記”是一個瓶上的瓶蓋光致變色郵票，而底部部分用於防曬存儲。簡單地把郵票上你的手臂。然後塗上防曬，覆蓋郵票的圖案。黑色郵票的圖案變為紅色的防曬霜吸收紫外線並保護您的利益開始低位運行。它將作為一個提醒的什麼時候重新申請防曬霜的人。</a:t>
            </a:r>
            <a:endParaRPr lang="en-US" altLang="zh-TW" sz="1800" dirty="0">
              <a:latin typeface="Adobe 仿宋 Std R" panose="02020400000000000000" pitchFamily="18" charset="-128"/>
              <a:ea typeface="Adobe 仿宋 Std R" panose="02020400000000000000" pitchFamily="18" charset="-128"/>
            </a:endParaRPr>
          </a:p>
          <a:p>
            <a:pPr marL="0" indent="0">
              <a:buNone/>
            </a:pP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zh-TW" altLang="en-US" sz="1800" dirty="0">
                <a:latin typeface="Adobe 仿宋 Std R" panose="02020400000000000000" pitchFamily="18" charset="-128"/>
                <a:ea typeface="Adobe 仿宋 Std R" panose="02020400000000000000" pitchFamily="18" charset="-128"/>
              </a:rPr>
              <a:t>臺灣  臺北</a:t>
            </a: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zh-TW" altLang="en-US" sz="1800" dirty="0">
                <a:latin typeface="Adobe 仿宋 Std R" panose="02020400000000000000" pitchFamily="18" charset="-128"/>
                <a:ea typeface="Adobe 仿宋 Std R" panose="02020400000000000000" pitchFamily="18" charset="-128"/>
              </a:rPr>
              <a:t>國立臺北科技大學</a:t>
            </a:r>
            <a:endParaRPr lang="en-US" altLang="zh-TW" sz="1800" dirty="0">
              <a:latin typeface="Adobe 仿宋 Std R" panose="02020400000000000000" pitchFamily="18" charset="-128"/>
              <a:ea typeface="Adobe 仿宋 Std R" panose="02020400000000000000" pitchFamily="18" charset="-128"/>
            </a:endParaRPr>
          </a:p>
          <a:p>
            <a:pPr marL="0" indent="0">
              <a:buNone/>
            </a:pP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zh-TW" altLang="en-US" sz="1800" dirty="0">
                <a:latin typeface="Adobe 仿宋 Std R" panose="02020400000000000000" pitchFamily="18" charset="-128"/>
                <a:ea typeface="Adobe 仿宋 Std R" panose="02020400000000000000" pitchFamily="18" charset="-128"/>
              </a:rPr>
              <a:t>來源</a:t>
            </a:r>
            <a:r>
              <a:rPr lang="en-US" altLang="zh-TW" sz="1800" dirty="0">
                <a:latin typeface="Adobe 仿宋 Std R" panose="02020400000000000000" pitchFamily="18" charset="-128"/>
                <a:ea typeface="Adobe 仿宋 Std R" panose="02020400000000000000" pitchFamily="18" charset="-128"/>
              </a:rPr>
              <a:t>:</a:t>
            </a:r>
          </a:p>
          <a:p>
            <a:pPr marL="0" indent="0">
              <a:buNone/>
            </a:pPr>
            <a:r>
              <a:rPr lang="en-US" altLang="zh-TW" sz="1800" dirty="0">
                <a:latin typeface="Adobe 仿宋 Std R" panose="02020400000000000000" pitchFamily="18" charset="-128"/>
                <a:ea typeface="Adobe 仿宋 Std R" panose="02020400000000000000" pitchFamily="18" charset="-128"/>
              </a:rPr>
              <a:t>http://exhibition.ifdesign.de/entrydetails_en.html?mode=aus&amp;offset=75</a:t>
            </a:r>
            <a:endParaRPr lang="zh-TW" altLang="en-US" sz="1800" dirty="0">
              <a:latin typeface="Adobe 仿宋 Std R" panose="02020400000000000000" pitchFamily="18" charset="-128"/>
              <a:ea typeface="Adobe 仿宋 Std R" panose="02020400000000000000" pitchFamily="18" charset="-128"/>
            </a:endParaRPr>
          </a:p>
        </p:txBody>
      </p:sp>
      <p:pic>
        <p:nvPicPr>
          <p:cNvPr id="10242" name="Picture 2" descr="http://my.ifdesign.de/upload/award_img_287/oex_large/142460_01_0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3976" y="311285"/>
            <a:ext cx="4384743" cy="2923162"/>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http://my.ifdesign.de/upload/award_img_287/oex_large/142460_02_02-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3976" y="3458183"/>
            <a:ext cx="4833905" cy="32226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18542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6887184" y="389106"/>
            <a:ext cx="4914088" cy="6079788"/>
          </a:xfrm>
        </p:spPr>
        <p:txBody>
          <a:bodyPr>
            <a:normAutofit/>
          </a:bodyPr>
          <a:lstStyle/>
          <a:p>
            <a:pPr marL="0" indent="0">
              <a:buNone/>
            </a:pPr>
            <a:r>
              <a:rPr lang="zh-TW" altLang="en-US" sz="1800" b="1" dirty="0">
                <a:latin typeface="+mj-lt"/>
              </a:rPr>
              <a:t>信號車牌</a:t>
            </a:r>
            <a:endParaRPr lang="en-US" altLang="zh-TW" sz="1800" b="1" dirty="0">
              <a:latin typeface="+mj-lt"/>
            </a:endParaRPr>
          </a:p>
          <a:p>
            <a:pPr marL="0" indent="0">
              <a:buNone/>
            </a:pPr>
            <a:r>
              <a:rPr lang="zh-TW" altLang="en-US" sz="1800" dirty="0">
                <a:latin typeface="Adobe 仿宋 Std R" panose="02020400000000000000" pitchFamily="18" charset="-128"/>
                <a:ea typeface="Adobe 仿宋 Std R" panose="02020400000000000000" pitchFamily="18" charset="-128"/>
              </a:rPr>
              <a:t>當駕駛等大型車輛如貨車或客車的後面，司機可能沒有路的景色前方。其結果是，它可能無法對駕駛員後面看到的交通燈。這意味著，有一種或去闖了紅燈進入車禍，因為交通信號燈突然改變的風險增加。這就是為什麼我們設計了一個車牌，指示交通的狀態指示燈前方。這讓誰從背後傳來的司機提前知道他們是否需要準備停車。</a:t>
            </a:r>
            <a:endParaRPr lang="en-US" altLang="zh-TW" sz="1800" dirty="0">
              <a:latin typeface="Adobe 仿宋 Std R" panose="02020400000000000000" pitchFamily="18" charset="-128"/>
              <a:ea typeface="Adobe 仿宋 Std R" panose="02020400000000000000" pitchFamily="18" charset="-128"/>
            </a:endParaRPr>
          </a:p>
          <a:p>
            <a:pPr marL="0" indent="0">
              <a:buNone/>
            </a:pP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zh-TW" altLang="en-US" sz="1800" dirty="0">
                <a:latin typeface="Adobe 仿宋 Std R" panose="02020400000000000000" pitchFamily="18" charset="-128"/>
                <a:ea typeface="Adobe 仿宋 Std R" panose="02020400000000000000" pitchFamily="18" charset="-128"/>
              </a:rPr>
              <a:t>韓國  釜山</a:t>
            </a: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zh-TW" altLang="en-US" sz="1800" dirty="0">
                <a:latin typeface="Adobe 仿宋 Std R" panose="02020400000000000000" pitchFamily="18" charset="-128"/>
                <a:ea typeface="Adobe 仿宋 Std R" panose="02020400000000000000" pitchFamily="18" charset="-128"/>
              </a:rPr>
              <a:t>東西大學</a:t>
            </a: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en-US" altLang="zh-TW" sz="1800" dirty="0" err="1">
                <a:latin typeface="Adobe 仿宋 Std R" panose="02020400000000000000" pitchFamily="18" charset="-128"/>
                <a:ea typeface="Adobe 仿宋 Std R" panose="02020400000000000000" pitchFamily="18" charset="-128"/>
              </a:rPr>
              <a:t>Jin</a:t>
            </a:r>
            <a:r>
              <a:rPr lang="en-US" altLang="zh-TW" sz="1800" dirty="0">
                <a:latin typeface="Adobe 仿宋 Std R" panose="02020400000000000000" pitchFamily="18" charset="-128"/>
                <a:ea typeface="Adobe 仿宋 Std R" panose="02020400000000000000" pitchFamily="18" charset="-128"/>
              </a:rPr>
              <a:t> Won </a:t>
            </a:r>
            <a:r>
              <a:rPr lang="en-US" altLang="zh-TW" sz="1800" dirty="0" err="1">
                <a:latin typeface="Adobe 仿宋 Std R" panose="02020400000000000000" pitchFamily="18" charset="-128"/>
                <a:ea typeface="Adobe 仿宋 Std R" panose="02020400000000000000" pitchFamily="18" charset="-128"/>
              </a:rPr>
              <a:t>Heo</a:t>
            </a:r>
            <a:r>
              <a:rPr lang="en-US" altLang="zh-TW" sz="1800" dirty="0">
                <a:latin typeface="Adobe 仿宋 Std R" panose="02020400000000000000" pitchFamily="18" charset="-128"/>
                <a:ea typeface="Adobe 仿宋 Std R" panose="02020400000000000000" pitchFamily="18" charset="-128"/>
              </a:rPr>
              <a:t>, Da </a:t>
            </a:r>
            <a:r>
              <a:rPr lang="en-US" altLang="zh-TW" sz="1800" dirty="0" err="1">
                <a:latin typeface="Adobe 仿宋 Std R" panose="02020400000000000000" pitchFamily="18" charset="-128"/>
                <a:ea typeface="Adobe 仿宋 Std R" panose="02020400000000000000" pitchFamily="18" charset="-128"/>
              </a:rPr>
              <a:t>Som</a:t>
            </a:r>
            <a:r>
              <a:rPr lang="en-US" altLang="zh-TW" sz="1800" dirty="0">
                <a:latin typeface="Adobe 仿宋 Std R" panose="02020400000000000000" pitchFamily="18" charset="-128"/>
                <a:ea typeface="Adobe 仿宋 Std R" panose="02020400000000000000" pitchFamily="18" charset="-128"/>
              </a:rPr>
              <a:t> Kim</a:t>
            </a:r>
          </a:p>
          <a:p>
            <a:pPr marL="0" indent="0">
              <a:buNone/>
            </a:pPr>
            <a:endParaRPr lang="en-US" altLang="zh-TW" sz="1800" dirty="0">
              <a:latin typeface="Adobe 仿宋 Std R" panose="02020400000000000000" pitchFamily="18" charset="-128"/>
              <a:ea typeface="Adobe 仿宋 Std R" panose="02020400000000000000" pitchFamily="18" charset="-128"/>
            </a:endParaRPr>
          </a:p>
          <a:p>
            <a:pPr marL="0" indent="0">
              <a:buNone/>
            </a:pPr>
            <a:r>
              <a:rPr lang="zh-TW" altLang="en-US" sz="1800" dirty="0">
                <a:latin typeface="Adobe 仿宋 Std R" panose="02020400000000000000" pitchFamily="18" charset="-128"/>
                <a:ea typeface="Adobe 仿宋 Std R" panose="02020400000000000000" pitchFamily="18" charset="-128"/>
              </a:rPr>
              <a:t>來源</a:t>
            </a:r>
            <a:r>
              <a:rPr lang="en-US" altLang="zh-TW" sz="1800" dirty="0">
                <a:latin typeface="Adobe 仿宋 Std R" panose="02020400000000000000" pitchFamily="18" charset="-128"/>
                <a:ea typeface="Adobe 仿宋 Std R" panose="02020400000000000000" pitchFamily="18" charset="-128"/>
              </a:rPr>
              <a:t>:</a:t>
            </a:r>
          </a:p>
          <a:p>
            <a:pPr marL="0" indent="0">
              <a:buNone/>
            </a:pPr>
            <a:r>
              <a:rPr lang="en-US" altLang="zh-TW" sz="1800" dirty="0">
                <a:latin typeface="Adobe 仿宋 Std R" panose="02020400000000000000" pitchFamily="18" charset="-128"/>
                <a:ea typeface="Adobe 仿宋 Std R" panose="02020400000000000000" pitchFamily="18" charset="-128"/>
              </a:rPr>
              <a:t>http://exhibition.ifdesign.de/entrydetails_en.html?mode=aus&amp;offset=68</a:t>
            </a:r>
            <a:endParaRPr lang="zh-TW" altLang="en-US" sz="1800" dirty="0">
              <a:latin typeface="Adobe 仿宋 Std R" panose="02020400000000000000" pitchFamily="18" charset="-128"/>
              <a:ea typeface="Adobe 仿宋 Std R" panose="02020400000000000000" pitchFamily="18" charset="-128"/>
            </a:endParaRPr>
          </a:p>
        </p:txBody>
      </p:sp>
      <p:pic>
        <p:nvPicPr>
          <p:cNvPr id="3074" name="Picture 2" descr="http://my.ifdesign.de/upload/award_img_287/oex_large/132858_01_287-132858_Signal_License_Plate_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9841" y="389106"/>
            <a:ext cx="5697761" cy="273492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my.ifdesign.de/upload/award_img_287/oex_large/132858_02_287-132858_Signal_License_Plate_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9841" y="3429000"/>
            <a:ext cx="5451542" cy="2616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29643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6834799" y="427890"/>
            <a:ext cx="4959349" cy="6686550"/>
          </a:xfrm>
        </p:spPr>
        <p:txBody>
          <a:bodyPr/>
          <a:lstStyle/>
          <a:p>
            <a:pPr marL="0" indent="0">
              <a:buNone/>
            </a:pPr>
            <a:r>
              <a:rPr lang="en-US" altLang="zh-TW" b="1" dirty="0" err="1"/>
              <a:t>ColorMe</a:t>
            </a:r>
            <a:r>
              <a:rPr lang="en-US" altLang="zh-TW" b="1" dirty="0"/>
              <a:t> APP</a:t>
            </a:r>
          </a:p>
          <a:p>
            <a:pPr marL="0" indent="0">
              <a:buNone/>
            </a:pPr>
            <a:r>
              <a:rPr lang="zh-TW" altLang="en-US" sz="2200" dirty="0"/>
              <a:t>快樂米視覺化的色盲人士的顏色是無法看到的形狀或紋理，並提出了記憶通過檢索具有相同的彩色圖像。</a:t>
            </a:r>
            <a:endParaRPr lang="en-US" altLang="zh-TW" sz="2200" dirty="0"/>
          </a:p>
          <a:p>
            <a:pPr marL="0" indent="0">
              <a:buNone/>
            </a:pPr>
            <a:r>
              <a:rPr lang="zh-TW" altLang="en-US" sz="2200" dirty="0"/>
              <a:t>它利用了智慧手機結合影像處理和增強現實技術來建立一個易於使用的系統，說明人們用色覺缺陷識別顏色的相機。</a:t>
            </a:r>
          </a:p>
          <a:p>
            <a:pPr marL="0" indent="0">
              <a:buNone/>
            </a:pPr>
            <a:r>
              <a:rPr lang="zh-TW" altLang="en-US" sz="2000" dirty="0"/>
              <a:t>台灣 國立臺灣科技大學</a:t>
            </a:r>
            <a:r>
              <a:rPr lang="en-US" altLang="zh-TW" sz="2000" dirty="0" err="1"/>
              <a:t>Ya-Chih</a:t>
            </a:r>
            <a:r>
              <a:rPr lang="en-US" altLang="zh-TW" sz="2000" dirty="0"/>
              <a:t> Li, Chao-</a:t>
            </a:r>
            <a:r>
              <a:rPr lang="en-US" altLang="zh-TW" sz="2000" dirty="0" err="1"/>
              <a:t>Huai</a:t>
            </a:r>
            <a:r>
              <a:rPr lang="en-US" altLang="zh-TW" sz="2000" dirty="0"/>
              <a:t> Su</a:t>
            </a:r>
          </a:p>
          <a:p>
            <a:pPr marL="0" indent="0">
              <a:buNone/>
            </a:pPr>
            <a:r>
              <a:rPr lang="zh-TW" altLang="en-US" sz="2000" dirty="0"/>
              <a:t>來源</a:t>
            </a:r>
            <a:r>
              <a:rPr lang="en-US" altLang="zh-TW" sz="2000" dirty="0"/>
              <a:t>:</a:t>
            </a:r>
          </a:p>
          <a:p>
            <a:pPr marL="0" indent="0">
              <a:buNone/>
            </a:pPr>
            <a:r>
              <a:rPr lang="en-US" altLang="zh-TW" sz="2000" dirty="0"/>
              <a:t>http://exhibition.ifdesign.de/entrydetails_en.html?mode=aus&amp;offset=21</a:t>
            </a:r>
            <a:r>
              <a:rPr lang="zh-TW" altLang="en-US" sz="2000" dirty="0"/>
              <a:t> </a:t>
            </a:r>
          </a:p>
        </p:txBody>
      </p:sp>
      <p:pic>
        <p:nvPicPr>
          <p:cNvPr id="7170" name="Picture 2" descr="http://my.ifdesign.de/upload/award_img_287/oex_large/134806_01_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512" y="808893"/>
            <a:ext cx="5176470" cy="51764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82116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6518765" y="535779"/>
            <a:ext cx="5172074" cy="5674520"/>
          </a:xfrm>
        </p:spPr>
        <p:txBody>
          <a:bodyPr>
            <a:normAutofit/>
          </a:bodyPr>
          <a:lstStyle/>
          <a:p>
            <a:pPr marL="0" indent="0">
              <a:buNone/>
            </a:pPr>
            <a:r>
              <a:rPr lang="en-US" altLang="zh-TW" dirty="0"/>
              <a:t>Cup for the blind</a:t>
            </a:r>
          </a:p>
          <a:p>
            <a:pPr marL="0" indent="0">
              <a:buNone/>
            </a:pPr>
            <a:r>
              <a:rPr lang="zh-TW" altLang="en-US" sz="2200" dirty="0"/>
              <a:t>此杯具有類似熱水瓶，這使得回波聲音，而水被填充在真空結構，隨著水位的上升，有在杯中的空氣少，回聲聲音可以得到更高的音調，這是容易聽見。這可以幫助盲人“聽”的水位，並知道什麼時候關上水龍頭。</a:t>
            </a:r>
            <a:endParaRPr lang="en-US" altLang="zh-TW" sz="2200" dirty="0"/>
          </a:p>
          <a:p>
            <a:pPr marL="0" indent="0">
              <a:buNone/>
            </a:pPr>
            <a:r>
              <a:rPr lang="zh-TW" altLang="en-US" sz="2200" dirty="0"/>
              <a:t>當從一個水壺灌非常熱的水倒入杯中，例如，盲人可能會燙傷，如果他們不能告訴時，水已經達到了頂級。這杯解決了這個問題。</a:t>
            </a:r>
            <a:endParaRPr lang="en-US" altLang="zh-TW" sz="2200" dirty="0"/>
          </a:p>
          <a:p>
            <a:pPr marL="0" indent="0">
              <a:buNone/>
            </a:pPr>
            <a:r>
              <a:rPr lang="zh-TW" altLang="en-US" sz="2000" dirty="0"/>
              <a:t>中國浙江大學  </a:t>
            </a:r>
            <a:r>
              <a:rPr lang="en-US" altLang="zh-TW" sz="2000" dirty="0" err="1"/>
              <a:t>Leijing</a:t>
            </a:r>
            <a:r>
              <a:rPr lang="en-US" altLang="zh-TW" sz="2000" dirty="0"/>
              <a:t> Zhou, </a:t>
            </a:r>
            <a:r>
              <a:rPr lang="en-US" altLang="zh-TW" sz="2000" dirty="0" err="1"/>
              <a:t>Yilei</a:t>
            </a:r>
            <a:r>
              <a:rPr lang="en-US" altLang="zh-TW" sz="2000" dirty="0"/>
              <a:t> Sang, </a:t>
            </a:r>
            <a:r>
              <a:rPr lang="en-US" altLang="zh-TW" sz="2000" dirty="0" err="1"/>
              <a:t>Danping</a:t>
            </a:r>
            <a:r>
              <a:rPr lang="en-US" altLang="zh-TW" sz="2000" dirty="0"/>
              <a:t> Shen, </a:t>
            </a:r>
            <a:r>
              <a:rPr lang="en-US" altLang="zh-TW" sz="2000" dirty="0" err="1"/>
              <a:t>Huifei</a:t>
            </a:r>
            <a:r>
              <a:rPr lang="en-US" altLang="zh-TW" sz="2000" dirty="0"/>
              <a:t> Bao</a:t>
            </a:r>
          </a:p>
          <a:p>
            <a:pPr marL="0" indent="0">
              <a:buNone/>
            </a:pPr>
            <a:r>
              <a:rPr lang="zh-TW" altLang="en-US" sz="2000" dirty="0"/>
              <a:t>來源</a:t>
            </a:r>
            <a:r>
              <a:rPr lang="en-US" altLang="zh-TW" sz="2000" dirty="0"/>
              <a:t>:</a:t>
            </a:r>
          </a:p>
          <a:p>
            <a:pPr marL="0" indent="0">
              <a:buNone/>
            </a:pPr>
            <a:r>
              <a:rPr lang="en-US" altLang="zh-TW" sz="2000" dirty="0"/>
              <a:t>http://exhibition.ifdesign.de/entrydetails_en.html?mode=aus&amp;offset=24</a:t>
            </a:r>
            <a:endParaRPr lang="zh-TW" altLang="en-US" sz="2000" dirty="0"/>
          </a:p>
        </p:txBody>
      </p:sp>
      <p:pic>
        <p:nvPicPr>
          <p:cNvPr id="8194" name="Picture 2" descr="http://my.ifdesign.de/upload/award_img_287/oex_large/143871_01_287-143871_Cup_for_the_blin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7108" y="165179"/>
            <a:ext cx="4536830" cy="6415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64834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5549503" y="787887"/>
            <a:ext cx="6343557" cy="5611814"/>
          </a:xfrm>
        </p:spPr>
        <p:txBody>
          <a:bodyPr/>
          <a:lstStyle/>
          <a:p>
            <a:pPr marL="0" indent="0">
              <a:buNone/>
            </a:pPr>
            <a:r>
              <a:rPr lang="en-US" altLang="zh-TW" b="1" dirty="0"/>
              <a:t>Balance </a:t>
            </a:r>
            <a:r>
              <a:rPr lang="en-US" altLang="zh-TW" b="1" dirty="0" err="1"/>
              <a:t>Taomee</a:t>
            </a:r>
            <a:r>
              <a:rPr lang="en-US" altLang="zh-TW" b="1" dirty="0"/>
              <a:t> device</a:t>
            </a:r>
          </a:p>
          <a:p>
            <a:pPr marL="0" indent="0">
              <a:buNone/>
            </a:pPr>
            <a:r>
              <a:rPr lang="zh-TW" altLang="en-US" dirty="0"/>
              <a:t>這量杯使得更容易煮米飯完美。當大米洗乾淨煮熟之前，往往有殘留水抱住它，你不能確定有多少水分的補充的烹飪過程。這可能會影響米飯的品質。這個杯子可以用來先沖洗和漏米飯然後會告訴你多少水補充到做出完美米飯。</a:t>
            </a:r>
            <a:endParaRPr lang="en-US" altLang="zh-TW" dirty="0"/>
          </a:p>
          <a:p>
            <a:pPr marL="0" indent="0">
              <a:buNone/>
            </a:pPr>
            <a:endParaRPr lang="en-US" altLang="zh-TW" sz="2400" dirty="0"/>
          </a:p>
          <a:p>
            <a:pPr marL="0" indent="0">
              <a:buNone/>
            </a:pPr>
            <a:r>
              <a:rPr lang="zh-TW" altLang="en-US" sz="2400" dirty="0"/>
              <a:t>中國鄭州輕工業學院  </a:t>
            </a:r>
            <a:r>
              <a:rPr lang="en-US" altLang="zh-TW" sz="2400" dirty="0" err="1"/>
              <a:t>Mengying</a:t>
            </a:r>
            <a:r>
              <a:rPr lang="en-US" altLang="zh-TW" sz="2400" dirty="0"/>
              <a:t> Ren, </a:t>
            </a:r>
            <a:r>
              <a:rPr lang="en-US" altLang="zh-TW" sz="2400" dirty="0" err="1"/>
              <a:t>Xinle</a:t>
            </a:r>
            <a:r>
              <a:rPr lang="en-US" altLang="zh-TW" sz="2400" dirty="0"/>
              <a:t> Ma</a:t>
            </a:r>
          </a:p>
          <a:p>
            <a:pPr marL="0" indent="0">
              <a:buNone/>
            </a:pPr>
            <a:r>
              <a:rPr lang="zh-TW" altLang="en-US" sz="2400" dirty="0"/>
              <a:t>來源</a:t>
            </a:r>
            <a:r>
              <a:rPr lang="en-US" altLang="zh-TW" sz="2400" dirty="0"/>
              <a:t>:</a:t>
            </a:r>
          </a:p>
          <a:p>
            <a:pPr marL="0" indent="0">
              <a:buNone/>
            </a:pPr>
            <a:r>
              <a:rPr lang="en-US" altLang="zh-TW" sz="2400" dirty="0"/>
              <a:t>http://exhibition.ifdesign.de/entrydetails_en.html?mode=aus&amp;offset=12</a:t>
            </a:r>
            <a:endParaRPr lang="zh-TW" altLang="en-US" sz="2400" dirty="0"/>
          </a:p>
        </p:txBody>
      </p:sp>
      <p:pic>
        <p:nvPicPr>
          <p:cNvPr id="7170" name="Picture 2" descr="G:\1.概念\134621_01_287-134621_Balance_Taomee_device_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2450" y="1221325"/>
            <a:ext cx="4463268" cy="4463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15716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感謝聆聽</a:t>
            </a:r>
          </a:p>
        </p:txBody>
      </p:sp>
      <p:sp>
        <p:nvSpPr>
          <p:cNvPr id="3" name="內容版面配置區 2"/>
          <p:cNvSpPr>
            <a:spLocks noGrp="1"/>
          </p:cNvSpPr>
          <p:nvPr>
            <p:ph idx="1"/>
          </p:nvPr>
        </p:nvSpPr>
        <p:spPr/>
        <p:txBody>
          <a:bodyPr/>
          <a:lstStyle/>
          <a:p>
            <a:endParaRPr lang="en-US" altLang="zh-TW" dirty="0"/>
          </a:p>
          <a:p>
            <a:r>
              <a:rPr lang="zh-TW" altLang="en-US" dirty="0"/>
              <a:t>這個世界是由人類的思考所產生的結果，也是由創新的推動加速這個結果。</a:t>
            </a:r>
          </a:p>
        </p:txBody>
      </p:sp>
    </p:spTree>
    <p:extLst>
      <p:ext uri="{BB962C8B-B14F-4D97-AF65-F5344CB8AC3E}">
        <p14:creationId xmlns:p14="http://schemas.microsoft.com/office/powerpoint/2010/main" val="4248063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積分">
  <a:themeElements>
    <a:clrScheme name="積分">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積分">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積分">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68</TotalTime>
  <Words>3829</Words>
  <Application>Microsoft Office PowerPoint</Application>
  <PresentationFormat>寬螢幕</PresentationFormat>
  <Paragraphs>349</Paragraphs>
  <Slides>36</Slides>
  <Notes>0</Notes>
  <HiddenSlides>0</HiddenSlides>
  <MMClips>0</MMClips>
  <ScaleCrop>false</ScaleCrop>
  <HeadingPairs>
    <vt:vector size="6" baseType="variant">
      <vt:variant>
        <vt:lpstr>使用字型</vt:lpstr>
      </vt:variant>
      <vt:variant>
        <vt:i4>10</vt:i4>
      </vt:variant>
      <vt:variant>
        <vt:lpstr>佈景主題</vt:lpstr>
      </vt:variant>
      <vt:variant>
        <vt:i4>1</vt:i4>
      </vt:variant>
      <vt:variant>
        <vt:lpstr>投影片標題</vt:lpstr>
      </vt:variant>
      <vt:variant>
        <vt:i4>36</vt:i4>
      </vt:variant>
    </vt:vector>
  </HeadingPairs>
  <TitlesOfParts>
    <vt:vector size="47" baseType="lpstr">
      <vt:lpstr>Adobe 仿宋 Std R</vt:lpstr>
      <vt:lpstr>微軟正黑體</vt:lpstr>
      <vt:lpstr>標楷體</vt:lpstr>
      <vt:lpstr>Arial</vt:lpstr>
      <vt:lpstr>Calibri</vt:lpstr>
      <vt:lpstr>Times New Roman</vt:lpstr>
      <vt:lpstr>Tw Cen MT</vt:lpstr>
      <vt:lpstr>Tw Cen MT Condensed</vt:lpstr>
      <vt:lpstr>Wingdings</vt:lpstr>
      <vt:lpstr>Wingdings 3</vt:lpstr>
      <vt:lpstr>積分</vt:lpstr>
      <vt:lpstr>封閉性創新 快速提案方法</vt:lpstr>
      <vt:lpstr>封閉性創新的原則</vt:lpstr>
      <vt:lpstr>找出更有可能性的細節 (分析矩陣)</vt:lpstr>
      <vt:lpstr>筷子的應用(一)</vt:lpstr>
      <vt:lpstr>筷子的應用(二)</vt:lpstr>
      <vt:lpstr>筷子的應用(三)</vt:lpstr>
      <vt:lpstr>筷子的應用(四)</vt:lpstr>
      <vt:lpstr>封閉性創新的五大方法</vt:lpstr>
      <vt:lpstr>簡化-有哪些可以去掉？</vt:lpstr>
      <vt:lpstr>PowerPoint 簡報</vt:lpstr>
      <vt:lpstr>PowerPoint 簡報</vt:lpstr>
      <vt:lpstr>PowerPoint 簡報</vt:lpstr>
      <vt:lpstr>PowerPoint 簡報</vt:lpstr>
      <vt:lpstr>分割-有哪些可以分開再組合?</vt:lpstr>
      <vt:lpstr>PowerPoint 簡報</vt:lpstr>
      <vt:lpstr>PowerPoint 簡報</vt:lpstr>
      <vt:lpstr>PowerPoint 簡報</vt:lpstr>
      <vt:lpstr>PowerPoint 簡報</vt:lpstr>
      <vt:lpstr>PowerPoint 簡報</vt:lpstr>
      <vt:lpstr>加乘-有哪些可以從新組合與應用?</vt:lpstr>
      <vt:lpstr>PowerPoint 簡報</vt:lpstr>
      <vt:lpstr>PowerPoint 簡報</vt:lpstr>
      <vt:lpstr>PowerPoint 簡報</vt:lpstr>
      <vt:lpstr>PowerPoint 簡報</vt:lpstr>
      <vt:lpstr>PowerPoint 簡報</vt:lpstr>
      <vt:lpstr>任務統合-那些舊的東西可以整合出新服務?</vt:lpstr>
      <vt:lpstr>PowerPoint 簡報</vt:lpstr>
      <vt:lpstr>屬性相依：變變得不變-創新的根本</vt:lpstr>
      <vt:lpstr>PowerPoint 簡報</vt:lpstr>
      <vt:lpstr>PowerPoint 簡報</vt:lpstr>
      <vt:lpstr>PowerPoint 簡報</vt:lpstr>
      <vt:lpstr>PowerPoint 簡報</vt:lpstr>
      <vt:lpstr>PowerPoint 簡報</vt:lpstr>
      <vt:lpstr>PowerPoint 簡報</vt:lpstr>
      <vt:lpstr>PowerPoint 簡報</vt:lpstr>
      <vt:lpstr>感謝聆聽</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封閉性創新 快速創新提案方法</dc:title>
  <dc:creator>白乃遠</dc:creator>
  <cp:lastModifiedBy>Billy</cp:lastModifiedBy>
  <cp:revision>17</cp:revision>
  <dcterms:created xsi:type="dcterms:W3CDTF">2015-03-08T06:48:23Z</dcterms:created>
  <dcterms:modified xsi:type="dcterms:W3CDTF">2020-09-16T18:59:59Z</dcterms:modified>
</cp:coreProperties>
</file>