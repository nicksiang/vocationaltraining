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notesMasterIdLst>
    <p:notesMasterId r:id="rId33"/>
  </p:notesMasterIdLst>
  <p:sldIdLst>
    <p:sldId id="256" r:id="rId2"/>
    <p:sldId id="278" r:id="rId3"/>
    <p:sldId id="331" r:id="rId4"/>
    <p:sldId id="332" r:id="rId5"/>
    <p:sldId id="333" r:id="rId6"/>
    <p:sldId id="334" r:id="rId7"/>
    <p:sldId id="335" r:id="rId8"/>
    <p:sldId id="336" r:id="rId9"/>
    <p:sldId id="337" r:id="rId10"/>
    <p:sldId id="338" r:id="rId11"/>
    <p:sldId id="339" r:id="rId12"/>
    <p:sldId id="340" r:id="rId13"/>
    <p:sldId id="341" r:id="rId14"/>
    <p:sldId id="342" r:id="rId15"/>
    <p:sldId id="343" r:id="rId16"/>
    <p:sldId id="344" r:id="rId17"/>
    <p:sldId id="345" r:id="rId18"/>
    <p:sldId id="346" r:id="rId19"/>
    <p:sldId id="347" r:id="rId20"/>
    <p:sldId id="348" r:id="rId21"/>
    <p:sldId id="349" r:id="rId22"/>
    <p:sldId id="350" r:id="rId23"/>
    <p:sldId id="351" r:id="rId24"/>
    <p:sldId id="352" r:id="rId25"/>
    <p:sldId id="353" r:id="rId26"/>
    <p:sldId id="355" r:id="rId27"/>
    <p:sldId id="354" r:id="rId28"/>
    <p:sldId id="356" r:id="rId29"/>
    <p:sldId id="357" r:id="rId30"/>
    <p:sldId id="358" r:id="rId31"/>
    <p:sldId id="330" r:id="rId3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D9152C-D565-4B6C-ABFB-A2B4DB199ABA}" type="datetimeFigureOut">
              <a:rPr lang="zh-TW" altLang="en-US" smtClean="0"/>
              <a:t>2023/8/11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8BC695-3BEB-4289-A55E-C2FCAB363348}" type="slidenum">
              <a:rPr lang="zh-TW" altLang="en-US" smtClean="0"/>
              <a:t>‹#›</a:t>
            </a:fld>
            <a:endParaRPr lang="zh-TW" altLang="en-US"/>
          </a:p>
        </p:txBody>
      </p:sp>
    </p:spTree>
    <p:extLst>
      <p:ext uri="{BB962C8B-B14F-4D97-AF65-F5344CB8AC3E}">
        <p14:creationId xmlns:p14="http://schemas.microsoft.com/office/powerpoint/2010/main" val="2018193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6" name="Rectangle 5"/>
          <p:cNvSpPr/>
          <p:nvPr userDrawn="1"/>
        </p:nvSpPr>
        <p:spPr>
          <a:xfrm>
            <a:off x="-3472" y="0"/>
            <a:ext cx="211223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pic>
        <p:nvPicPr>
          <p:cNvPr id="3074" name="Picture 2" descr="E:\002-KIMS BUSINESS\007-02-Fullslidesppt-Contents\20161228\02-edu\bulb-item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52645" y="1250975"/>
            <a:ext cx="2112235" cy="4687944"/>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E:\002-KIMS BUSINESS\007-02-Fullslidesppt-Contents\20161228\02-edu\bulb-item.pn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r="50000"/>
          <a:stretch/>
        </p:blipFill>
        <p:spPr bwMode="auto">
          <a:xfrm>
            <a:off x="1052646" y="1250975"/>
            <a:ext cx="1056117" cy="468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633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 Layout">
    <p:spTree>
      <p:nvGrpSpPr>
        <p:cNvPr id="1" name=""/>
        <p:cNvGrpSpPr/>
        <p:nvPr/>
      </p:nvGrpSpPr>
      <p:grpSpPr>
        <a:xfrm>
          <a:off x="0" y="0"/>
          <a:ext cx="0" cy="0"/>
          <a:chOff x="0" y="0"/>
          <a:chExt cx="0" cy="0"/>
        </a:xfrm>
      </p:grpSpPr>
      <p:sp>
        <p:nvSpPr>
          <p:cNvPr id="6" name="Rectangle 5"/>
          <p:cNvSpPr/>
          <p:nvPr userDrawn="1"/>
        </p:nvSpPr>
        <p:spPr>
          <a:xfrm>
            <a:off x="-3472" y="0"/>
            <a:ext cx="211223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pic>
        <p:nvPicPr>
          <p:cNvPr id="3074" name="Picture 2" descr="E:\002-KIMS BUSINESS\007-02-Fullslidesppt-Contents\20161228\02-edu\bulb-item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2314" y="3909054"/>
            <a:ext cx="1260665" cy="2797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472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Basic Layout">
    <p:spTree>
      <p:nvGrpSpPr>
        <p:cNvPr id="1" name=""/>
        <p:cNvGrpSpPr/>
        <p:nvPr/>
      </p:nvGrpSpPr>
      <p:grpSpPr>
        <a:xfrm>
          <a:off x="0" y="0"/>
          <a:ext cx="0" cy="0"/>
          <a:chOff x="0" y="0"/>
          <a:chExt cx="0" cy="0"/>
        </a:xfrm>
      </p:grpSpPr>
      <p:sp>
        <p:nvSpPr>
          <p:cNvPr id="2" name="Rectangle 1"/>
          <p:cNvSpPr/>
          <p:nvPr userDrawn="1"/>
        </p:nvSpPr>
        <p:spPr>
          <a:xfrm>
            <a:off x="0" y="4533123"/>
            <a:ext cx="12192000" cy="23248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p>
        </p:txBody>
      </p:sp>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Oval 3"/>
          <p:cNvSpPr/>
          <p:nvPr userDrawn="1"/>
        </p:nvSpPr>
        <p:spPr>
          <a:xfrm>
            <a:off x="5391415" y="3813043"/>
            <a:ext cx="1440160" cy="1440160"/>
          </a:xfrm>
          <a:prstGeom prst="ellipse">
            <a:avLst/>
          </a:pr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pic>
        <p:nvPicPr>
          <p:cNvPr id="5"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877409" y="4013590"/>
            <a:ext cx="468171" cy="1039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42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6618000"/>
            <a:ext cx="12192000" cy="2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5" name="Rectangle 4"/>
          <p:cNvSpPr/>
          <p:nvPr userDrawn="1"/>
        </p:nvSpPr>
        <p:spPr>
          <a:xfrm>
            <a:off x="0" y="0"/>
            <a:ext cx="12192000" cy="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Tree>
    <p:extLst>
      <p:ext uri="{BB962C8B-B14F-4D97-AF65-F5344CB8AC3E}">
        <p14:creationId xmlns:p14="http://schemas.microsoft.com/office/powerpoint/2010/main" val="435232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48612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s and Contents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191344" y="123479"/>
            <a:ext cx="11809312" cy="6611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bg1"/>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bg1"/>
                </a:solidFill>
                <a:latin typeface="+mn-lt"/>
                <a:cs typeface="Arial" pitchFamily="34" charset="0"/>
              </a:defRPr>
            </a:lvl1pPr>
          </a:lstStyle>
          <a:p>
            <a:pPr lvl="0"/>
            <a:r>
              <a:rPr lang="en-US" altLang="ko-KR" dirty="0"/>
              <a:t>Insert the title of your subtitle Here</a:t>
            </a:r>
          </a:p>
        </p:txBody>
      </p:sp>
      <p:sp>
        <p:nvSpPr>
          <p:cNvPr id="6" name="Picture Placeholder 2"/>
          <p:cNvSpPr>
            <a:spLocks noGrp="1"/>
          </p:cNvSpPr>
          <p:nvPr>
            <p:ph type="pic" idx="12" hasCustomPrompt="1"/>
          </p:nvPr>
        </p:nvSpPr>
        <p:spPr>
          <a:xfrm>
            <a:off x="0" y="1797032"/>
            <a:ext cx="2880320" cy="2496064"/>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3103893" y="1797032"/>
            <a:ext cx="2880320" cy="2496064"/>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6207787" y="1797032"/>
            <a:ext cx="2880320" cy="2496064"/>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9" name="Picture Placeholder 2"/>
          <p:cNvSpPr>
            <a:spLocks noGrp="1"/>
          </p:cNvSpPr>
          <p:nvPr>
            <p:ph type="pic" idx="15" hasCustomPrompt="1"/>
          </p:nvPr>
        </p:nvSpPr>
        <p:spPr>
          <a:xfrm>
            <a:off x="9311680" y="1797032"/>
            <a:ext cx="2880320" cy="2496064"/>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3" name="Rectangle 2"/>
          <p:cNvSpPr/>
          <p:nvPr userDrawn="1"/>
        </p:nvSpPr>
        <p:spPr>
          <a:xfrm>
            <a:off x="0" y="4293096"/>
            <a:ext cx="2880000" cy="21122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2" name="Rectangle 11"/>
          <p:cNvSpPr/>
          <p:nvPr userDrawn="1"/>
        </p:nvSpPr>
        <p:spPr>
          <a:xfrm>
            <a:off x="3104000" y="4293096"/>
            <a:ext cx="2880000" cy="21122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3" name="Rectangle 12"/>
          <p:cNvSpPr/>
          <p:nvPr userDrawn="1"/>
        </p:nvSpPr>
        <p:spPr>
          <a:xfrm>
            <a:off x="6208000" y="4293096"/>
            <a:ext cx="2880000" cy="21122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4" name="Rectangle 13"/>
          <p:cNvSpPr/>
          <p:nvPr userDrawn="1"/>
        </p:nvSpPr>
        <p:spPr>
          <a:xfrm>
            <a:off x="9312000" y="4293096"/>
            <a:ext cx="2880000" cy="21122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Tree>
    <p:extLst>
      <p:ext uri="{BB962C8B-B14F-4D97-AF65-F5344CB8AC3E}">
        <p14:creationId xmlns:p14="http://schemas.microsoft.com/office/powerpoint/2010/main" val="3615810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7" name="Rectangle 6"/>
          <p:cNvSpPr/>
          <p:nvPr userDrawn="1"/>
        </p:nvSpPr>
        <p:spPr>
          <a:xfrm>
            <a:off x="0" y="3909485"/>
            <a:ext cx="12192000" cy="29485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p>
        </p:txBody>
      </p:sp>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407701" y="1508787"/>
            <a:ext cx="9640360" cy="4903243"/>
          </a:xfrm>
          <a:prstGeom prst="rect">
            <a:avLst/>
          </a:prstGeom>
          <a:noFill/>
          <a:extLst>
            <a:ext uri="{909E8E84-426E-40DD-AFC4-6F175D3DCCD1}">
              <a14:hiddenFill xmlns:a14="http://schemas.microsoft.com/office/drawing/2010/main">
                <a:solidFill>
                  <a:srgbClr val="FFFFFF"/>
                </a:solidFill>
              </a14:hiddenFill>
            </a:ext>
          </a:extLst>
        </p:spPr>
      </p:pic>
      <p:sp>
        <p:nvSpPr>
          <p:cNvPr id="6" name="Picture Placeholder 2"/>
          <p:cNvSpPr>
            <a:spLocks noGrp="1"/>
          </p:cNvSpPr>
          <p:nvPr>
            <p:ph type="pic" idx="1" hasCustomPrompt="1"/>
          </p:nvPr>
        </p:nvSpPr>
        <p:spPr>
          <a:xfrm>
            <a:off x="6017974" y="2168343"/>
            <a:ext cx="4620289" cy="341680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3" name="Rectangle 2"/>
          <p:cNvSpPr/>
          <p:nvPr userDrawn="1"/>
        </p:nvSpPr>
        <p:spPr>
          <a:xfrm>
            <a:off x="623392" y="4485118"/>
            <a:ext cx="4032448" cy="13441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Tree>
    <p:extLst>
      <p:ext uri="{BB962C8B-B14F-4D97-AF65-F5344CB8AC3E}">
        <p14:creationId xmlns:p14="http://schemas.microsoft.com/office/powerpoint/2010/main" val="3622792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2346339"/>
            <a:ext cx="12192000" cy="29485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p>
        </p:txBody>
      </p:sp>
      <p:pic>
        <p:nvPicPr>
          <p:cNvPr id="6" name="Picture 2" descr="D:\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0944" y="1389641"/>
            <a:ext cx="3825696" cy="4632841"/>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9840416" y="1566977"/>
            <a:ext cx="1344149" cy="34081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9" name="Picture Placeholder 2"/>
          <p:cNvSpPr>
            <a:spLocks noGrp="1"/>
          </p:cNvSpPr>
          <p:nvPr>
            <p:ph type="pic" idx="12" hasCustomPrompt="1"/>
          </p:nvPr>
        </p:nvSpPr>
        <p:spPr>
          <a:xfrm>
            <a:off x="7524359" y="1681512"/>
            <a:ext cx="2206355" cy="34081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286631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4079776" cy="685800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 name="Rectangle 1"/>
          <p:cNvSpPr/>
          <p:nvPr userDrawn="1"/>
        </p:nvSpPr>
        <p:spPr>
          <a:xfrm>
            <a:off x="6480043" y="0"/>
            <a:ext cx="4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3" name="Rectangle 2"/>
          <p:cNvSpPr/>
          <p:nvPr userDrawn="1"/>
        </p:nvSpPr>
        <p:spPr>
          <a:xfrm>
            <a:off x="6528043" y="1749000"/>
            <a:ext cx="240000" cy="3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Tree>
    <p:extLst>
      <p:ext uri="{BB962C8B-B14F-4D97-AF65-F5344CB8AC3E}">
        <p14:creationId xmlns:p14="http://schemas.microsoft.com/office/powerpoint/2010/main" val="1344959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12192000" cy="41021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880754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4175787" y="242176"/>
            <a:ext cx="801621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4175787" y="1010261"/>
            <a:ext cx="801621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0" y="-1"/>
            <a:ext cx="4079776" cy="685800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4195293" y="1508787"/>
            <a:ext cx="4079776" cy="5349213"/>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6175201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5" name="Rectangle 4"/>
          <p:cNvSpPr/>
          <p:nvPr userDrawn="1"/>
        </p:nvSpPr>
        <p:spPr>
          <a:xfrm>
            <a:off x="0" y="548680"/>
            <a:ext cx="8592277" cy="5760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2400"/>
          </a:p>
        </p:txBody>
      </p:sp>
      <p:sp>
        <p:nvSpPr>
          <p:cNvPr id="6" name="Picture Placeholder 2"/>
          <p:cNvSpPr>
            <a:spLocks noGrp="1"/>
          </p:cNvSpPr>
          <p:nvPr>
            <p:ph type="pic" idx="1" hasCustomPrompt="1"/>
          </p:nvPr>
        </p:nvSpPr>
        <p:spPr>
          <a:xfrm>
            <a:off x="180829" y="260650"/>
            <a:ext cx="2592288" cy="633670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7" name="Picture Placeholder 2"/>
          <p:cNvSpPr>
            <a:spLocks noGrp="1"/>
          </p:cNvSpPr>
          <p:nvPr>
            <p:ph type="pic" idx="10" hasCustomPrompt="1"/>
          </p:nvPr>
        </p:nvSpPr>
        <p:spPr>
          <a:xfrm>
            <a:off x="2965139" y="260650"/>
            <a:ext cx="2592288" cy="633670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5749448" y="260650"/>
            <a:ext cx="2592288" cy="633670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663289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8592277" y="356659"/>
            <a:ext cx="2880000" cy="2880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6" name="Picture Placeholder 2"/>
          <p:cNvSpPr>
            <a:spLocks noGrp="1"/>
          </p:cNvSpPr>
          <p:nvPr>
            <p:ph type="pic" idx="10" hasCustomPrompt="1"/>
          </p:nvPr>
        </p:nvSpPr>
        <p:spPr>
          <a:xfrm>
            <a:off x="8592277" y="3621021"/>
            <a:ext cx="2880000" cy="2880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7" name="Picture Placeholder 2"/>
          <p:cNvSpPr>
            <a:spLocks noGrp="1"/>
          </p:cNvSpPr>
          <p:nvPr>
            <p:ph type="pic" idx="11" hasCustomPrompt="1"/>
          </p:nvPr>
        </p:nvSpPr>
        <p:spPr>
          <a:xfrm>
            <a:off x="5314951" y="356659"/>
            <a:ext cx="2880000" cy="2880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5314951" y="3621021"/>
            <a:ext cx="2880000" cy="2880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999700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527381" y="4389107"/>
            <a:ext cx="11664619"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527381" y="5157192"/>
            <a:ext cx="11664619"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6618000"/>
            <a:ext cx="12192000" cy="2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6" name="Rectangle 5"/>
          <p:cNvSpPr/>
          <p:nvPr userDrawn="1"/>
        </p:nvSpPr>
        <p:spPr>
          <a:xfrm>
            <a:off x="0" y="0"/>
            <a:ext cx="12192000" cy="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7" name="Picture Placeholder 2"/>
          <p:cNvSpPr>
            <a:spLocks noGrp="1"/>
          </p:cNvSpPr>
          <p:nvPr>
            <p:ph type="pic" idx="12" hasCustomPrompt="1"/>
          </p:nvPr>
        </p:nvSpPr>
        <p:spPr>
          <a:xfrm>
            <a:off x="623392" y="452669"/>
            <a:ext cx="4416171" cy="3744096"/>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3" hasCustomPrompt="1"/>
          </p:nvPr>
        </p:nvSpPr>
        <p:spPr>
          <a:xfrm>
            <a:off x="5327915" y="452669"/>
            <a:ext cx="6240693" cy="177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9" name="Picture Placeholder 2"/>
          <p:cNvSpPr>
            <a:spLocks noGrp="1"/>
          </p:cNvSpPr>
          <p:nvPr>
            <p:ph type="pic" idx="14" hasCustomPrompt="1"/>
          </p:nvPr>
        </p:nvSpPr>
        <p:spPr>
          <a:xfrm>
            <a:off x="5327915" y="2420765"/>
            <a:ext cx="1920000" cy="177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5" hasCustomPrompt="1"/>
          </p:nvPr>
        </p:nvSpPr>
        <p:spPr>
          <a:xfrm>
            <a:off x="7488261" y="2420765"/>
            <a:ext cx="1920000" cy="177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6" hasCustomPrompt="1"/>
          </p:nvPr>
        </p:nvSpPr>
        <p:spPr>
          <a:xfrm>
            <a:off x="9648608" y="2420765"/>
            <a:ext cx="1920000" cy="177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876054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hapes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12347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p14="http://schemas.microsoft.com/office/powerpoint/2010/main" val="38700103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11" name="Rounded Rectangle 10"/>
          <p:cNvSpPr/>
          <p:nvPr userDrawn="1"/>
        </p:nvSpPr>
        <p:spPr>
          <a:xfrm>
            <a:off x="472011" y="1508786"/>
            <a:ext cx="3799787" cy="4865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p>
        </p:txBody>
      </p:sp>
      <p:sp>
        <p:nvSpPr>
          <p:cNvPr id="17" name="Rounded Rectangle 16"/>
          <p:cNvSpPr/>
          <p:nvPr userDrawn="1"/>
        </p:nvSpPr>
        <p:spPr>
          <a:xfrm>
            <a:off x="709243" y="1796667"/>
            <a:ext cx="144693" cy="4320631"/>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endParaRPr>
          </a:p>
        </p:txBody>
      </p:sp>
      <p:sp>
        <p:nvSpPr>
          <p:cNvPr id="18" name="Half Frame 17"/>
          <p:cNvSpPr/>
          <p:nvPr userDrawn="1"/>
        </p:nvSpPr>
        <p:spPr>
          <a:xfrm rot="5400000">
            <a:off x="3456857" y="1650935"/>
            <a:ext cx="669775" cy="669775"/>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endParaRPr>
          </a:p>
        </p:txBody>
      </p:sp>
    </p:spTree>
    <p:extLst>
      <p:ext uri="{BB962C8B-B14F-4D97-AF65-F5344CB8AC3E}">
        <p14:creationId xmlns:p14="http://schemas.microsoft.com/office/powerpoint/2010/main" val="1098450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D5C1F7-19AF-40BC-98F8-18EEB6348E31}"/>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B00E7E4-7392-4B71-B0E1-0E84D2CF8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083F5933-0483-4D7F-BF24-E7B42A47D169}"/>
              </a:ext>
            </a:extLst>
          </p:cNvPr>
          <p:cNvSpPr>
            <a:spLocks noGrp="1"/>
          </p:cNvSpPr>
          <p:nvPr>
            <p:ph type="dt" sz="half" idx="10"/>
          </p:nvPr>
        </p:nvSpPr>
        <p:spPr/>
        <p:txBody>
          <a:bodyPr/>
          <a:lstStyle/>
          <a:p>
            <a:fld id="{9D08ADFF-73E6-46D2-A058-E5EE0F854344}" type="datetimeFigureOut">
              <a:rPr lang="zh-TW" altLang="en-US" smtClean="0"/>
              <a:t>2023/8/11</a:t>
            </a:fld>
            <a:endParaRPr lang="zh-TW" altLang="en-US"/>
          </a:p>
        </p:txBody>
      </p:sp>
      <p:sp>
        <p:nvSpPr>
          <p:cNvPr id="5" name="頁尾版面配置區 4">
            <a:extLst>
              <a:ext uri="{FF2B5EF4-FFF2-40B4-BE49-F238E27FC236}">
                <a16:creationId xmlns:a16="http://schemas.microsoft.com/office/drawing/2014/main" id="{5A5A97F9-C203-4806-A662-BAB5A6C03CB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4F49A48-613D-4670-B480-70003354D9EE}"/>
              </a:ext>
            </a:extLst>
          </p:cNvPr>
          <p:cNvSpPr>
            <a:spLocks noGrp="1"/>
          </p:cNvSpPr>
          <p:nvPr>
            <p:ph type="sldNum" sz="quarter" idx="12"/>
          </p:nvPr>
        </p:nvSpPr>
        <p:spPr/>
        <p:txBody>
          <a:bodyPr/>
          <a:lstStyle/>
          <a:p>
            <a:fld id="{EC6763D2-2EF5-4D08-9A8B-76B71DC36BF1}" type="slidenum">
              <a:rPr lang="zh-TW" altLang="en-US" smtClean="0"/>
              <a:t>‹#›</a:t>
            </a:fld>
            <a:endParaRPr lang="zh-TW" altLang="en-US"/>
          </a:p>
        </p:txBody>
      </p:sp>
    </p:spTree>
    <p:extLst>
      <p:ext uri="{BB962C8B-B14F-4D97-AF65-F5344CB8AC3E}">
        <p14:creationId xmlns:p14="http://schemas.microsoft.com/office/powerpoint/2010/main" val="1749694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2499698"/>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6" r:id="rId17"/>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billy_pai@hotmail.com" TargetMode="Externa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tmp"/><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17.xml"/><Relationship Id="rId5" Type="http://schemas.openxmlformats.org/officeDocument/2006/relationships/image" Target="../media/image19.tmp"/><Relationship Id="rId4" Type="http://schemas.openxmlformats.org/officeDocument/2006/relationships/image" Target="../media/image18.tmp"/></Relationships>
</file>

<file path=ppt/slides/_rels/slide10.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tmp"/><Relationship Id="rId1" Type="http://schemas.openxmlformats.org/officeDocument/2006/relationships/slideLayout" Target="../slideLayouts/slideLayout17.xml"/><Relationship Id="rId6" Type="http://schemas.openxmlformats.org/officeDocument/2006/relationships/image" Target="../media/image24.tmp"/><Relationship Id="rId5" Type="http://schemas.openxmlformats.org/officeDocument/2006/relationships/image" Target="../media/image23.tmp"/><Relationship Id="rId4" Type="http://schemas.openxmlformats.org/officeDocument/2006/relationships/image" Target="../media/image22.tmp"/></Relationships>
</file>

<file path=ppt/slides/_rels/slide11.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33.tmp"/><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image" Target="../media/image35.tmp"/><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38.tmp"/><Relationship Id="rId2" Type="http://schemas.openxmlformats.org/officeDocument/2006/relationships/image" Target="../media/image37.tmp"/><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40.tmp"/><Relationship Id="rId2" Type="http://schemas.openxmlformats.org/officeDocument/2006/relationships/image" Target="../media/image39.tmp"/><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42.tmp"/><Relationship Id="rId7" Type="http://schemas.openxmlformats.org/officeDocument/2006/relationships/image" Target="../media/image46.tmp"/><Relationship Id="rId2" Type="http://schemas.openxmlformats.org/officeDocument/2006/relationships/image" Target="../media/image41.tmp"/><Relationship Id="rId1" Type="http://schemas.openxmlformats.org/officeDocument/2006/relationships/slideLayout" Target="../slideLayouts/slideLayout17.xml"/><Relationship Id="rId6" Type="http://schemas.openxmlformats.org/officeDocument/2006/relationships/image" Target="../media/image45.tmp"/><Relationship Id="rId5" Type="http://schemas.openxmlformats.org/officeDocument/2006/relationships/image" Target="../media/image44.tmp"/><Relationship Id="rId4" Type="http://schemas.openxmlformats.org/officeDocument/2006/relationships/image" Target="../media/image43.tmp"/></Relationships>
</file>

<file path=ppt/slides/_rels/slide25.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image" Target="../media/image41.tmp"/><Relationship Id="rId1" Type="http://schemas.openxmlformats.org/officeDocument/2006/relationships/slideLayout" Target="../slideLayouts/slideLayout17.xml"/><Relationship Id="rId4" Type="http://schemas.openxmlformats.org/officeDocument/2006/relationships/image" Target="../media/image47.tmp"/></Relationships>
</file>

<file path=ppt/slides/_rels/slide26.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image" Target="../media/image41.tmp"/><Relationship Id="rId1" Type="http://schemas.openxmlformats.org/officeDocument/2006/relationships/slideLayout" Target="../slideLayouts/slideLayout17.xml"/><Relationship Id="rId4" Type="http://schemas.openxmlformats.org/officeDocument/2006/relationships/image" Target="../media/image48.tmp"/></Relationships>
</file>

<file path=ppt/slides/_rels/slide27.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image" Target="../media/image41.tmp"/><Relationship Id="rId1" Type="http://schemas.openxmlformats.org/officeDocument/2006/relationships/slideLayout" Target="../slideLayouts/slideLayout17.xml"/><Relationship Id="rId4" Type="http://schemas.openxmlformats.org/officeDocument/2006/relationships/image" Target="../media/image49.tmp"/></Relationships>
</file>

<file path=ppt/slides/_rels/slide28.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image" Target="../media/image41.tmp"/><Relationship Id="rId1" Type="http://schemas.openxmlformats.org/officeDocument/2006/relationships/slideLayout" Target="../slideLayouts/slideLayout17.xml"/><Relationship Id="rId4" Type="http://schemas.openxmlformats.org/officeDocument/2006/relationships/image" Target="../media/image50.tmp"/></Relationships>
</file>

<file path=ppt/slides/_rels/slide29.xml.rels><?xml version="1.0" encoding="UTF-8" standalone="yes"?>
<Relationships xmlns="http://schemas.openxmlformats.org/package/2006/relationships"><Relationship Id="rId3" Type="http://schemas.openxmlformats.org/officeDocument/2006/relationships/image" Target="../media/image52.tmp"/><Relationship Id="rId2" Type="http://schemas.openxmlformats.org/officeDocument/2006/relationships/image" Target="../media/image51.tmp"/><Relationship Id="rId1" Type="http://schemas.openxmlformats.org/officeDocument/2006/relationships/slideLayout" Target="../slideLayouts/slideLayout17.xml"/><Relationship Id="rId6" Type="http://schemas.openxmlformats.org/officeDocument/2006/relationships/image" Target="../media/image55.tmp"/><Relationship Id="rId5" Type="http://schemas.openxmlformats.org/officeDocument/2006/relationships/image" Target="../media/image54.tmp"/><Relationship Id="rId4" Type="http://schemas.openxmlformats.org/officeDocument/2006/relationships/image" Target="../media/image53.tmp"/></Relationships>
</file>

<file path=ppt/slides/_rels/slide30.xml.rels><?xml version="1.0" encoding="UTF-8" standalone="yes"?>
<Relationships xmlns="http://schemas.openxmlformats.org/package/2006/relationships"><Relationship Id="rId3" Type="http://schemas.openxmlformats.org/officeDocument/2006/relationships/image" Target="../media/image57.tmp"/><Relationship Id="rId2" Type="http://schemas.openxmlformats.org/officeDocument/2006/relationships/image" Target="../media/image56.tmp"/><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8C8136-5A46-4162-92F6-768CDAD2BDA0}"/>
              </a:ext>
            </a:extLst>
          </p:cNvPr>
          <p:cNvSpPr>
            <a:spLocks noGrp="1"/>
          </p:cNvSpPr>
          <p:nvPr>
            <p:ph type="ctrTitle"/>
          </p:nvPr>
        </p:nvSpPr>
        <p:spPr/>
        <p:txBody>
          <a:bodyPr>
            <a:normAutofit fontScale="90000"/>
          </a:bodyPr>
          <a:lstStyle/>
          <a:p>
            <a:r>
              <a:rPr lang="zh-TW" altLang="en-US" dirty="0"/>
              <a:t>自媒體行銷班</a:t>
            </a:r>
            <a:br>
              <a:rPr lang="en-US" altLang="zh-TW" dirty="0"/>
            </a:br>
            <a:r>
              <a:rPr lang="zh-TW" altLang="en-US" dirty="0"/>
              <a:t>創新策略課程</a:t>
            </a:r>
            <a:br>
              <a:rPr lang="en-US" altLang="zh-TW" dirty="0"/>
            </a:br>
            <a:r>
              <a:rPr lang="zh-TW" altLang="en-US" dirty="0"/>
              <a:t>第二次創意提案</a:t>
            </a:r>
            <a:r>
              <a:rPr lang="en-US" altLang="zh-TW" dirty="0"/>
              <a:t>-</a:t>
            </a:r>
            <a:r>
              <a:rPr lang="zh-TW" altLang="en-US" dirty="0"/>
              <a:t>擇優提案</a:t>
            </a:r>
          </a:p>
        </p:txBody>
      </p:sp>
      <p:sp>
        <p:nvSpPr>
          <p:cNvPr id="3" name="副標題 2">
            <a:extLst>
              <a:ext uri="{FF2B5EF4-FFF2-40B4-BE49-F238E27FC236}">
                <a16:creationId xmlns:a16="http://schemas.microsoft.com/office/drawing/2014/main" id="{7953E2AF-B685-4663-85FE-58960209A802}"/>
              </a:ext>
            </a:extLst>
          </p:cNvPr>
          <p:cNvSpPr>
            <a:spLocks noGrp="1"/>
          </p:cNvSpPr>
          <p:nvPr>
            <p:ph type="subTitle" idx="1"/>
          </p:nvPr>
        </p:nvSpPr>
        <p:spPr>
          <a:xfrm>
            <a:off x="1524000" y="4079875"/>
            <a:ext cx="9144000" cy="1655762"/>
          </a:xfrm>
        </p:spPr>
        <p:txBody>
          <a:bodyPr>
            <a:normAutofit lnSpcReduction="10000"/>
          </a:bodyPr>
          <a:lstStyle/>
          <a:p>
            <a:r>
              <a:rPr lang="zh-TW" altLang="en-US" dirty="0"/>
              <a:t>白乃遠 老師</a:t>
            </a:r>
            <a:endParaRPr lang="en-US" altLang="zh-TW" dirty="0"/>
          </a:p>
          <a:p>
            <a:r>
              <a:rPr lang="en-US" altLang="zh-TW" dirty="0"/>
              <a:t>Line</a:t>
            </a:r>
            <a:r>
              <a:rPr lang="zh-TW" altLang="en-US" dirty="0"/>
              <a:t>：</a:t>
            </a:r>
            <a:r>
              <a:rPr lang="en-US" altLang="zh-TW" dirty="0" err="1"/>
              <a:t>billy_pai</a:t>
            </a:r>
            <a:endParaRPr lang="en-US" altLang="zh-TW" dirty="0"/>
          </a:p>
          <a:p>
            <a:r>
              <a:rPr lang="en-US" altLang="zh-TW" dirty="0"/>
              <a:t>Mail</a:t>
            </a:r>
            <a:r>
              <a:rPr lang="zh-TW" altLang="en-US" dirty="0"/>
              <a:t>：</a:t>
            </a:r>
            <a:r>
              <a:rPr lang="en-US" altLang="zh-TW" dirty="0">
                <a:hlinkClick r:id="rId2"/>
              </a:rPr>
              <a:t>billy_pai@hotmail.com</a:t>
            </a:r>
            <a:endParaRPr lang="en-US" altLang="zh-TW" dirty="0"/>
          </a:p>
          <a:p>
            <a:r>
              <a:rPr lang="en-US" altLang="zh-TW" dirty="0"/>
              <a:t>Facebook</a:t>
            </a:r>
            <a:r>
              <a:rPr lang="zh-TW" altLang="en-US" dirty="0"/>
              <a:t>：</a:t>
            </a:r>
            <a:r>
              <a:rPr lang="en-US" altLang="zh-TW" dirty="0"/>
              <a:t>PAI</a:t>
            </a:r>
            <a:r>
              <a:rPr lang="zh-TW" altLang="en-US" dirty="0"/>
              <a:t> </a:t>
            </a:r>
            <a:r>
              <a:rPr lang="en-US" altLang="zh-TW" dirty="0"/>
              <a:t>XIAO</a:t>
            </a:r>
            <a:r>
              <a:rPr lang="zh-TW" altLang="en-US" dirty="0"/>
              <a:t> </a:t>
            </a:r>
            <a:r>
              <a:rPr lang="en-US" altLang="zh-TW" dirty="0"/>
              <a:t>PAI</a:t>
            </a:r>
            <a:endParaRPr lang="zh-TW" altLang="en-US" dirty="0"/>
          </a:p>
        </p:txBody>
      </p:sp>
    </p:spTree>
    <p:extLst>
      <p:ext uri="{BB962C8B-B14F-4D97-AF65-F5344CB8AC3E}">
        <p14:creationId xmlns:p14="http://schemas.microsoft.com/office/powerpoint/2010/main" val="2012472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李璟瑤</a:t>
            </a:r>
          </a:p>
        </p:txBody>
      </p:sp>
      <p:sp>
        <p:nvSpPr>
          <p:cNvPr id="5" name="文字方塊 4">
            <a:extLst>
              <a:ext uri="{FF2B5EF4-FFF2-40B4-BE49-F238E27FC236}">
                <a16:creationId xmlns:a16="http://schemas.microsoft.com/office/drawing/2014/main" id="{FDDED376-89C6-4985-B207-9327194F605C}"/>
              </a:ext>
            </a:extLst>
          </p:cNvPr>
          <p:cNvSpPr txBox="1"/>
          <p:nvPr/>
        </p:nvSpPr>
        <p:spPr>
          <a:xfrm>
            <a:off x="232997" y="852256"/>
            <a:ext cx="2572871" cy="584775"/>
          </a:xfrm>
          <a:prstGeom prst="rect">
            <a:avLst/>
          </a:prstGeom>
          <a:noFill/>
        </p:spPr>
        <p:txBody>
          <a:bodyPr wrap="square">
            <a:spAutoFit/>
          </a:bodyPr>
          <a:lstStyle/>
          <a:p>
            <a:r>
              <a:rPr lang="en-US" altLang="zh-TW" sz="3200" b="1" dirty="0" err="1">
                <a:solidFill>
                  <a:srgbClr val="00B050"/>
                </a:solidFill>
                <a:latin typeface="+mj-ea"/>
                <a:ea typeface="+mj-ea"/>
              </a:rPr>
              <a:t>Ubike</a:t>
            </a:r>
            <a:r>
              <a:rPr lang="zh-TW" altLang="en-US" sz="3200" b="1" dirty="0">
                <a:latin typeface="+mj-ea"/>
                <a:ea typeface="+mj-ea"/>
              </a:rPr>
              <a:t>改善案</a:t>
            </a:r>
            <a:endParaRPr lang="zh-TW" altLang="en-US" sz="3200" dirty="0"/>
          </a:p>
        </p:txBody>
      </p:sp>
      <p:pic>
        <p:nvPicPr>
          <p:cNvPr id="6" name="圖片 5">
            <a:extLst>
              <a:ext uri="{FF2B5EF4-FFF2-40B4-BE49-F238E27FC236}">
                <a16:creationId xmlns:a16="http://schemas.microsoft.com/office/drawing/2014/main" id="{C826F949-5BA9-4972-B1F2-BF64FD1D76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1402" y="168870"/>
            <a:ext cx="6222927" cy="6360602"/>
          </a:xfrm>
          <a:prstGeom prst="rect">
            <a:avLst/>
          </a:prstGeom>
        </p:spPr>
      </p:pic>
    </p:spTree>
    <p:extLst>
      <p:ext uri="{BB962C8B-B14F-4D97-AF65-F5344CB8AC3E}">
        <p14:creationId xmlns:p14="http://schemas.microsoft.com/office/powerpoint/2010/main" val="1847299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李璟瑤</a:t>
            </a:r>
          </a:p>
        </p:txBody>
      </p:sp>
      <p:sp>
        <p:nvSpPr>
          <p:cNvPr id="5" name="文字方塊 4">
            <a:extLst>
              <a:ext uri="{FF2B5EF4-FFF2-40B4-BE49-F238E27FC236}">
                <a16:creationId xmlns:a16="http://schemas.microsoft.com/office/drawing/2014/main" id="{FDDED376-89C6-4985-B207-9327194F605C}"/>
              </a:ext>
            </a:extLst>
          </p:cNvPr>
          <p:cNvSpPr txBox="1"/>
          <p:nvPr/>
        </p:nvSpPr>
        <p:spPr>
          <a:xfrm>
            <a:off x="232997" y="852256"/>
            <a:ext cx="4876885" cy="584775"/>
          </a:xfrm>
          <a:prstGeom prst="rect">
            <a:avLst/>
          </a:prstGeom>
          <a:noFill/>
        </p:spPr>
        <p:txBody>
          <a:bodyPr wrap="square">
            <a:spAutoFit/>
          </a:bodyPr>
          <a:lstStyle/>
          <a:p>
            <a:r>
              <a:rPr lang="zh-TW" altLang="en-US" sz="3200"/>
              <a:t>創新提案</a:t>
            </a:r>
            <a:r>
              <a:rPr lang="en-US" altLang="zh-TW" sz="3200"/>
              <a:t>:</a:t>
            </a:r>
            <a:r>
              <a:rPr lang="zh-TW" altLang="en-US" sz="3200"/>
              <a:t>被動式運動器材</a:t>
            </a:r>
            <a:endParaRPr lang="zh-TW" altLang="en-US" sz="3200" dirty="0"/>
          </a:p>
        </p:txBody>
      </p:sp>
      <p:pic>
        <p:nvPicPr>
          <p:cNvPr id="3" name="圖片 2">
            <a:extLst>
              <a:ext uri="{FF2B5EF4-FFF2-40B4-BE49-F238E27FC236}">
                <a16:creationId xmlns:a16="http://schemas.microsoft.com/office/drawing/2014/main" id="{028DE774-5E41-4699-A60D-62BC99C10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683" y="2021806"/>
            <a:ext cx="5146858" cy="3815919"/>
          </a:xfrm>
          <a:prstGeom prst="rect">
            <a:avLst/>
          </a:prstGeom>
        </p:spPr>
      </p:pic>
      <p:pic>
        <p:nvPicPr>
          <p:cNvPr id="7" name="圖片 6">
            <a:extLst>
              <a:ext uri="{FF2B5EF4-FFF2-40B4-BE49-F238E27FC236}">
                <a16:creationId xmlns:a16="http://schemas.microsoft.com/office/drawing/2014/main" id="{943466CB-7CF7-4994-BEF7-0C130DFEE7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2834" y="1867314"/>
            <a:ext cx="6325483" cy="4124901"/>
          </a:xfrm>
          <a:prstGeom prst="rect">
            <a:avLst/>
          </a:prstGeom>
        </p:spPr>
      </p:pic>
    </p:spTree>
    <p:extLst>
      <p:ext uri="{BB962C8B-B14F-4D97-AF65-F5344CB8AC3E}">
        <p14:creationId xmlns:p14="http://schemas.microsoft.com/office/powerpoint/2010/main" val="272997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曹維雯</a:t>
            </a:r>
          </a:p>
        </p:txBody>
      </p:sp>
      <p:pic>
        <p:nvPicPr>
          <p:cNvPr id="4" name="圖片 3">
            <a:extLst>
              <a:ext uri="{FF2B5EF4-FFF2-40B4-BE49-F238E27FC236}">
                <a16:creationId xmlns:a16="http://schemas.microsoft.com/office/drawing/2014/main" id="{8B9D7184-1660-4D5E-A457-E8CF65F60B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0028" y="1102392"/>
            <a:ext cx="10648455" cy="5271513"/>
          </a:xfrm>
          <a:prstGeom prst="rect">
            <a:avLst/>
          </a:prstGeom>
        </p:spPr>
      </p:pic>
    </p:spTree>
    <p:extLst>
      <p:ext uri="{BB962C8B-B14F-4D97-AF65-F5344CB8AC3E}">
        <p14:creationId xmlns:p14="http://schemas.microsoft.com/office/powerpoint/2010/main" val="3226694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曹維雯</a:t>
            </a:r>
          </a:p>
        </p:txBody>
      </p:sp>
      <p:sp>
        <p:nvSpPr>
          <p:cNvPr id="5" name="文字方塊 4">
            <a:extLst>
              <a:ext uri="{FF2B5EF4-FFF2-40B4-BE49-F238E27FC236}">
                <a16:creationId xmlns:a16="http://schemas.microsoft.com/office/drawing/2014/main" id="{03842DE4-F0D7-4519-99CB-50EC242449EE}"/>
              </a:ext>
            </a:extLst>
          </p:cNvPr>
          <p:cNvSpPr txBox="1"/>
          <p:nvPr/>
        </p:nvSpPr>
        <p:spPr>
          <a:xfrm>
            <a:off x="232997" y="852256"/>
            <a:ext cx="6096000" cy="461665"/>
          </a:xfrm>
          <a:prstGeom prst="rect">
            <a:avLst/>
          </a:prstGeom>
          <a:noFill/>
        </p:spPr>
        <p:txBody>
          <a:bodyPr wrap="square">
            <a:spAutoFit/>
          </a:bodyPr>
          <a:lstStyle/>
          <a:p>
            <a:r>
              <a:rPr lang="zh-TW" altLang="en-US" sz="2400" dirty="0"/>
              <a:t>低卡穀物棒</a:t>
            </a:r>
            <a:r>
              <a:rPr lang="en-US" altLang="zh-TW" sz="2400" dirty="0"/>
              <a:t>-</a:t>
            </a:r>
            <a:r>
              <a:rPr lang="zh-TW" altLang="en-US" sz="2400" dirty="0"/>
              <a:t>產品行銷方法</a:t>
            </a:r>
          </a:p>
        </p:txBody>
      </p:sp>
      <p:pic>
        <p:nvPicPr>
          <p:cNvPr id="6" name="圖片 5">
            <a:extLst>
              <a:ext uri="{FF2B5EF4-FFF2-40B4-BE49-F238E27FC236}">
                <a16:creationId xmlns:a16="http://schemas.microsoft.com/office/drawing/2014/main" id="{5478F258-C5A0-47FD-B9FD-88CAE9FE8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85" y="1437031"/>
            <a:ext cx="9037861" cy="5021695"/>
          </a:xfrm>
          <a:prstGeom prst="rect">
            <a:avLst/>
          </a:prstGeom>
        </p:spPr>
      </p:pic>
      <p:sp>
        <p:nvSpPr>
          <p:cNvPr id="9" name="文字方塊 8">
            <a:extLst>
              <a:ext uri="{FF2B5EF4-FFF2-40B4-BE49-F238E27FC236}">
                <a16:creationId xmlns:a16="http://schemas.microsoft.com/office/drawing/2014/main" id="{13CE4B29-40BA-49D9-832D-EB275FD06D89}"/>
              </a:ext>
            </a:extLst>
          </p:cNvPr>
          <p:cNvSpPr txBox="1"/>
          <p:nvPr/>
        </p:nvSpPr>
        <p:spPr>
          <a:xfrm>
            <a:off x="9235000" y="991192"/>
            <a:ext cx="2822615" cy="5324535"/>
          </a:xfrm>
          <a:prstGeom prst="rect">
            <a:avLst/>
          </a:prstGeom>
          <a:noFill/>
        </p:spPr>
        <p:txBody>
          <a:bodyPr wrap="square">
            <a:spAutoFit/>
          </a:bodyPr>
          <a:lstStyle/>
          <a:p>
            <a:r>
              <a:rPr lang="zh-TW" altLang="en-US" dirty="0"/>
              <a:t>選擇方案：</a:t>
            </a:r>
            <a:endParaRPr lang="en-US" altLang="zh-TW" dirty="0"/>
          </a:p>
          <a:p>
            <a:endParaRPr lang="zh-TW" altLang="en-US" dirty="0"/>
          </a:p>
          <a:p>
            <a:r>
              <a:rPr lang="zh-TW" altLang="en-US" sz="1600" dirty="0"/>
              <a:t>一、贈送試吃品給合作客戶，再請相關部門協助於平日下午時段發放給各職員，產品提供的飽足感，增加工作幸福感！建議增加贈送數量讓職員能與親友分享。</a:t>
            </a:r>
            <a:endParaRPr lang="en-US" altLang="zh-TW" sz="1600" dirty="0"/>
          </a:p>
          <a:p>
            <a:endParaRPr lang="zh-TW" altLang="en-US" sz="1600" dirty="0"/>
          </a:p>
          <a:p>
            <a:r>
              <a:rPr lang="zh-TW" altLang="en-US" sz="1600" dirty="0"/>
              <a:t>二、賽季期間</a:t>
            </a:r>
            <a:r>
              <a:rPr lang="en-US" altLang="zh-TW" sz="1600" dirty="0"/>
              <a:t>(</a:t>
            </a:r>
            <a:r>
              <a:rPr lang="zh-TW" altLang="en-US" sz="1600" dirty="0"/>
              <a:t>周末</a:t>
            </a:r>
            <a:r>
              <a:rPr lang="en-US" altLang="zh-TW" sz="1600" dirty="0"/>
              <a:t>)</a:t>
            </a:r>
            <a:r>
              <a:rPr lang="zh-TW" altLang="en-US" sz="1600" dirty="0"/>
              <a:t>於各大運動賽場指派人員發放試吃品，小巧易食的低卡穀物棒適合觀賽民眾食用；亦可在賽場周圍購買廣告，宣傳產品。</a:t>
            </a:r>
            <a:endParaRPr lang="en-US" altLang="zh-TW" sz="1600" dirty="0"/>
          </a:p>
          <a:p>
            <a:endParaRPr lang="zh-TW" altLang="en-US" sz="1600" dirty="0"/>
          </a:p>
          <a:p>
            <a:r>
              <a:rPr lang="zh-TW" altLang="en-US" sz="1600" dirty="0"/>
              <a:t>三、與餐飲店家合作</a:t>
            </a:r>
            <a:r>
              <a:rPr lang="en-US" altLang="zh-TW" sz="1600" dirty="0"/>
              <a:t>(</a:t>
            </a:r>
            <a:r>
              <a:rPr lang="zh-TW" altLang="en-US" sz="1600" dirty="0"/>
              <a:t>例：健康餐盒、舒食系列</a:t>
            </a:r>
            <a:r>
              <a:rPr lang="en-US" altLang="zh-TW" sz="1600" dirty="0"/>
              <a:t>)</a:t>
            </a:r>
            <a:r>
              <a:rPr lang="zh-TW" altLang="en-US" sz="1600" dirty="0"/>
              <a:t>，將低卡穀物棒與各家產品結合於晚餐時段推出特定餐點。若是顧客撰寫好評推薦，可至店家櫃台索取試吃品。</a:t>
            </a:r>
          </a:p>
        </p:txBody>
      </p:sp>
    </p:spTree>
    <p:extLst>
      <p:ext uri="{BB962C8B-B14F-4D97-AF65-F5344CB8AC3E}">
        <p14:creationId xmlns:p14="http://schemas.microsoft.com/office/powerpoint/2010/main" val="766116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吳孟樺</a:t>
            </a:r>
          </a:p>
        </p:txBody>
      </p:sp>
      <p:pic>
        <p:nvPicPr>
          <p:cNvPr id="3" name="圖片 2">
            <a:extLst>
              <a:ext uri="{FF2B5EF4-FFF2-40B4-BE49-F238E27FC236}">
                <a16:creationId xmlns:a16="http://schemas.microsoft.com/office/drawing/2014/main" id="{7FC16793-E560-425C-99FD-54EE0B2528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64" y="881441"/>
            <a:ext cx="10802471" cy="5709078"/>
          </a:xfrm>
          <a:prstGeom prst="rect">
            <a:avLst/>
          </a:prstGeom>
        </p:spPr>
      </p:pic>
    </p:spTree>
    <p:extLst>
      <p:ext uri="{BB962C8B-B14F-4D97-AF65-F5344CB8AC3E}">
        <p14:creationId xmlns:p14="http://schemas.microsoft.com/office/powerpoint/2010/main" val="3224804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吳孟樺</a:t>
            </a:r>
          </a:p>
        </p:txBody>
      </p:sp>
      <p:pic>
        <p:nvPicPr>
          <p:cNvPr id="4" name="圖片 3">
            <a:extLst>
              <a:ext uri="{FF2B5EF4-FFF2-40B4-BE49-F238E27FC236}">
                <a16:creationId xmlns:a16="http://schemas.microsoft.com/office/drawing/2014/main" id="{ED64188B-61B0-4AE4-90DF-B4D7E1DCF0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317" y="852256"/>
            <a:ext cx="10829365" cy="5762564"/>
          </a:xfrm>
          <a:prstGeom prst="rect">
            <a:avLst/>
          </a:prstGeom>
        </p:spPr>
      </p:pic>
    </p:spTree>
    <p:extLst>
      <p:ext uri="{BB962C8B-B14F-4D97-AF65-F5344CB8AC3E}">
        <p14:creationId xmlns:p14="http://schemas.microsoft.com/office/powerpoint/2010/main" val="1188523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吳孟樺</a:t>
            </a:r>
          </a:p>
        </p:txBody>
      </p:sp>
      <p:pic>
        <p:nvPicPr>
          <p:cNvPr id="3" name="圖片 2">
            <a:extLst>
              <a:ext uri="{FF2B5EF4-FFF2-40B4-BE49-F238E27FC236}">
                <a16:creationId xmlns:a16="http://schemas.microsoft.com/office/drawing/2014/main" id="{D9473D70-84E0-4012-A4CB-EB5CA941C4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999" y="787994"/>
            <a:ext cx="10856259" cy="5982191"/>
          </a:xfrm>
          <a:prstGeom prst="rect">
            <a:avLst/>
          </a:prstGeom>
        </p:spPr>
      </p:pic>
    </p:spTree>
    <p:extLst>
      <p:ext uri="{BB962C8B-B14F-4D97-AF65-F5344CB8AC3E}">
        <p14:creationId xmlns:p14="http://schemas.microsoft.com/office/powerpoint/2010/main" val="3479647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李承蓉</a:t>
            </a:r>
          </a:p>
        </p:txBody>
      </p:sp>
      <p:pic>
        <p:nvPicPr>
          <p:cNvPr id="4" name="圖片 3">
            <a:extLst>
              <a:ext uri="{FF2B5EF4-FFF2-40B4-BE49-F238E27FC236}">
                <a16:creationId xmlns:a16="http://schemas.microsoft.com/office/drawing/2014/main" id="{B72EEEC1-C16C-4F11-A254-DFBD481763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1335" y="311945"/>
            <a:ext cx="4121760" cy="3422695"/>
          </a:xfrm>
          <a:prstGeom prst="rect">
            <a:avLst/>
          </a:prstGeom>
        </p:spPr>
      </p:pic>
      <p:pic>
        <p:nvPicPr>
          <p:cNvPr id="6" name="圖片 5">
            <a:extLst>
              <a:ext uri="{FF2B5EF4-FFF2-40B4-BE49-F238E27FC236}">
                <a16:creationId xmlns:a16="http://schemas.microsoft.com/office/drawing/2014/main" id="{DF7FAF71-37C4-47AB-B23B-2DF44BC126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1726" y="387193"/>
            <a:ext cx="3589450" cy="3272201"/>
          </a:xfrm>
          <a:prstGeom prst="rect">
            <a:avLst/>
          </a:prstGeom>
        </p:spPr>
      </p:pic>
      <p:pic>
        <p:nvPicPr>
          <p:cNvPr id="8" name="圖片 7">
            <a:extLst>
              <a:ext uri="{FF2B5EF4-FFF2-40B4-BE49-F238E27FC236}">
                <a16:creationId xmlns:a16="http://schemas.microsoft.com/office/drawing/2014/main" id="{4E516A1F-A654-46B3-BD11-1723FA815F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1478" y="3873061"/>
            <a:ext cx="3901474" cy="2841451"/>
          </a:xfrm>
          <a:prstGeom prst="rect">
            <a:avLst/>
          </a:prstGeom>
        </p:spPr>
      </p:pic>
      <p:pic>
        <p:nvPicPr>
          <p:cNvPr id="11" name="圖片 10">
            <a:extLst>
              <a:ext uri="{FF2B5EF4-FFF2-40B4-BE49-F238E27FC236}">
                <a16:creationId xmlns:a16="http://schemas.microsoft.com/office/drawing/2014/main" id="{D09BC91F-33BC-462D-A183-BE08064A92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39050" y="3944779"/>
            <a:ext cx="2300565" cy="2841451"/>
          </a:xfrm>
          <a:prstGeom prst="rect">
            <a:avLst/>
          </a:prstGeom>
        </p:spPr>
      </p:pic>
    </p:spTree>
    <p:extLst>
      <p:ext uri="{BB962C8B-B14F-4D97-AF65-F5344CB8AC3E}">
        <p14:creationId xmlns:p14="http://schemas.microsoft.com/office/powerpoint/2010/main" val="707853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李承蓉</a:t>
            </a:r>
          </a:p>
        </p:txBody>
      </p:sp>
      <p:pic>
        <p:nvPicPr>
          <p:cNvPr id="3" name="圖片 2">
            <a:extLst>
              <a:ext uri="{FF2B5EF4-FFF2-40B4-BE49-F238E27FC236}">
                <a16:creationId xmlns:a16="http://schemas.microsoft.com/office/drawing/2014/main" id="{685FD4BE-F7F1-4C89-A43F-33D8DE2FCF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7131" y="852256"/>
            <a:ext cx="2722468" cy="2946469"/>
          </a:xfrm>
          <a:prstGeom prst="rect">
            <a:avLst/>
          </a:prstGeom>
        </p:spPr>
      </p:pic>
      <p:pic>
        <p:nvPicPr>
          <p:cNvPr id="7" name="圖片 6">
            <a:extLst>
              <a:ext uri="{FF2B5EF4-FFF2-40B4-BE49-F238E27FC236}">
                <a16:creationId xmlns:a16="http://schemas.microsoft.com/office/drawing/2014/main" id="{70B3804D-6579-4929-B524-66144DF3F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579" y="267481"/>
            <a:ext cx="4723893" cy="2748699"/>
          </a:xfrm>
          <a:prstGeom prst="rect">
            <a:avLst/>
          </a:prstGeom>
        </p:spPr>
      </p:pic>
      <p:pic>
        <p:nvPicPr>
          <p:cNvPr id="12" name="圖片 11">
            <a:extLst>
              <a:ext uri="{FF2B5EF4-FFF2-40B4-BE49-F238E27FC236}">
                <a16:creationId xmlns:a16="http://schemas.microsoft.com/office/drawing/2014/main" id="{B6A11977-6A4D-4EB6-A67C-936A634CCF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329" y="3871123"/>
            <a:ext cx="5412465" cy="2748698"/>
          </a:xfrm>
          <a:prstGeom prst="rect">
            <a:avLst/>
          </a:prstGeom>
        </p:spPr>
      </p:pic>
      <p:pic>
        <p:nvPicPr>
          <p:cNvPr id="14" name="圖片 13">
            <a:extLst>
              <a:ext uri="{FF2B5EF4-FFF2-40B4-BE49-F238E27FC236}">
                <a16:creationId xmlns:a16="http://schemas.microsoft.com/office/drawing/2014/main" id="{82ED0E7D-F407-4DC9-8F89-FF3E72D6F9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37326" y="3081549"/>
            <a:ext cx="6367020" cy="3650095"/>
          </a:xfrm>
          <a:prstGeom prst="rect">
            <a:avLst/>
          </a:prstGeom>
        </p:spPr>
      </p:pic>
      <p:pic>
        <p:nvPicPr>
          <p:cNvPr id="16" name="圖片 15">
            <a:extLst>
              <a:ext uri="{FF2B5EF4-FFF2-40B4-BE49-F238E27FC236}">
                <a16:creationId xmlns:a16="http://schemas.microsoft.com/office/drawing/2014/main" id="{3BFA3063-97D0-45E7-A778-F4CF249E59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13452" y="1156447"/>
            <a:ext cx="2488301" cy="1783977"/>
          </a:xfrm>
          <a:prstGeom prst="rect">
            <a:avLst/>
          </a:prstGeom>
        </p:spPr>
      </p:pic>
    </p:spTree>
    <p:extLst>
      <p:ext uri="{BB962C8B-B14F-4D97-AF65-F5344CB8AC3E}">
        <p14:creationId xmlns:p14="http://schemas.microsoft.com/office/powerpoint/2010/main" val="4049698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劉素卿</a:t>
            </a:r>
          </a:p>
        </p:txBody>
      </p:sp>
      <p:pic>
        <p:nvPicPr>
          <p:cNvPr id="4" name="圖片 3">
            <a:extLst>
              <a:ext uri="{FF2B5EF4-FFF2-40B4-BE49-F238E27FC236}">
                <a16:creationId xmlns:a16="http://schemas.microsoft.com/office/drawing/2014/main" id="{ABA84755-FF21-47D7-8020-E1F93E6F4E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064" y="744680"/>
            <a:ext cx="10418583" cy="5910901"/>
          </a:xfrm>
          <a:prstGeom prst="rect">
            <a:avLst/>
          </a:prstGeom>
        </p:spPr>
      </p:pic>
    </p:spTree>
    <p:extLst>
      <p:ext uri="{BB962C8B-B14F-4D97-AF65-F5344CB8AC3E}">
        <p14:creationId xmlns:p14="http://schemas.microsoft.com/office/powerpoint/2010/main" val="259196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劉素卿</a:t>
            </a:r>
          </a:p>
        </p:txBody>
      </p:sp>
      <p:pic>
        <p:nvPicPr>
          <p:cNvPr id="3" name="圖片 2">
            <a:extLst>
              <a:ext uri="{FF2B5EF4-FFF2-40B4-BE49-F238E27FC236}">
                <a16:creationId xmlns:a16="http://schemas.microsoft.com/office/drawing/2014/main" id="{11783255-FF7A-4C4E-A1AD-02440BE43F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625" y="852256"/>
            <a:ext cx="11181569" cy="5738263"/>
          </a:xfrm>
          <a:prstGeom prst="rect">
            <a:avLst/>
          </a:prstGeom>
        </p:spPr>
      </p:pic>
    </p:spTree>
    <p:extLst>
      <p:ext uri="{BB962C8B-B14F-4D97-AF65-F5344CB8AC3E}">
        <p14:creationId xmlns:p14="http://schemas.microsoft.com/office/powerpoint/2010/main" val="3425950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劉素卿</a:t>
            </a:r>
          </a:p>
        </p:txBody>
      </p:sp>
      <p:pic>
        <p:nvPicPr>
          <p:cNvPr id="4" name="圖片 3">
            <a:extLst>
              <a:ext uri="{FF2B5EF4-FFF2-40B4-BE49-F238E27FC236}">
                <a16:creationId xmlns:a16="http://schemas.microsoft.com/office/drawing/2014/main" id="{C41F54F1-21C9-4A6E-AFFB-EBDF4317EE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396" y="852256"/>
            <a:ext cx="10275208" cy="5814950"/>
          </a:xfrm>
          <a:prstGeom prst="rect">
            <a:avLst/>
          </a:prstGeom>
        </p:spPr>
      </p:pic>
    </p:spTree>
    <p:extLst>
      <p:ext uri="{BB962C8B-B14F-4D97-AF65-F5344CB8AC3E}">
        <p14:creationId xmlns:p14="http://schemas.microsoft.com/office/powerpoint/2010/main" val="350887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許育慈</a:t>
            </a:r>
          </a:p>
        </p:txBody>
      </p:sp>
      <p:sp>
        <p:nvSpPr>
          <p:cNvPr id="5" name="文字方塊 4">
            <a:extLst>
              <a:ext uri="{FF2B5EF4-FFF2-40B4-BE49-F238E27FC236}">
                <a16:creationId xmlns:a16="http://schemas.microsoft.com/office/drawing/2014/main" id="{6E8A310B-D502-4129-A644-662A6F845516}"/>
              </a:ext>
            </a:extLst>
          </p:cNvPr>
          <p:cNvSpPr txBox="1"/>
          <p:nvPr/>
        </p:nvSpPr>
        <p:spPr>
          <a:xfrm>
            <a:off x="1873621" y="298258"/>
            <a:ext cx="7521389" cy="523220"/>
          </a:xfrm>
          <a:prstGeom prst="rect">
            <a:avLst/>
          </a:prstGeom>
          <a:noFill/>
        </p:spPr>
        <p:txBody>
          <a:bodyPr wrap="square">
            <a:spAutoFit/>
          </a:bodyPr>
          <a:lstStyle/>
          <a:p>
            <a:r>
              <a:rPr lang="zh-TW" altLang="en-US" sz="2800" dirty="0"/>
              <a:t>長輩獨自在家使用瓦斯爐潛在危險改善提案</a:t>
            </a:r>
          </a:p>
        </p:txBody>
      </p:sp>
      <p:sp>
        <p:nvSpPr>
          <p:cNvPr id="7" name="文字方塊 6">
            <a:extLst>
              <a:ext uri="{FF2B5EF4-FFF2-40B4-BE49-F238E27FC236}">
                <a16:creationId xmlns:a16="http://schemas.microsoft.com/office/drawing/2014/main" id="{EE3020CB-19E4-4E3D-A12D-69B3B5E0FC75}"/>
              </a:ext>
            </a:extLst>
          </p:cNvPr>
          <p:cNvSpPr txBox="1"/>
          <p:nvPr/>
        </p:nvSpPr>
        <p:spPr>
          <a:xfrm>
            <a:off x="232997" y="1052987"/>
            <a:ext cx="5934721" cy="2677656"/>
          </a:xfrm>
          <a:prstGeom prst="rect">
            <a:avLst/>
          </a:prstGeom>
          <a:noFill/>
        </p:spPr>
        <p:txBody>
          <a:bodyPr wrap="square">
            <a:spAutoFit/>
          </a:bodyPr>
          <a:lstStyle/>
          <a:p>
            <a:pPr>
              <a:lnSpc>
                <a:spcPct val="100000"/>
              </a:lnSpc>
            </a:pPr>
            <a:r>
              <a:rPr lang="en-US" altLang="zh-TW" sz="1400" dirty="0">
                <a:ea typeface="+mj-lt"/>
                <a:cs typeface="+mj-lt"/>
              </a:rPr>
              <a:t>0</a:t>
            </a:r>
            <a:r>
              <a:rPr lang="zh-TW" altLang="zh-TW" sz="1400" dirty="0">
                <a:ea typeface="+mj-lt"/>
                <a:cs typeface="+mj-lt"/>
              </a:rPr>
              <a:t>1.</a:t>
            </a:r>
            <a:r>
              <a:rPr lang="zh-TW" altLang="zh-TW" sz="1400" dirty="0">
                <a:highlight>
                  <a:srgbClr val="FFFF00"/>
                </a:highlight>
                <a:ea typeface="+mj-lt"/>
                <a:cs typeface="+mj-lt"/>
              </a:rPr>
              <a:t>發現問題</a:t>
            </a:r>
            <a:r>
              <a:rPr lang="zh-TW" altLang="zh-TW" sz="1400" dirty="0">
                <a:ea typeface="+mj-lt"/>
                <a:cs typeface="+mj-lt"/>
              </a:rPr>
              <a:t>：</a:t>
            </a:r>
            <a:br>
              <a:rPr lang="zh-TW" altLang="en-US" sz="1400" dirty="0">
                <a:ea typeface="+mj-lt"/>
                <a:cs typeface="+mj-lt"/>
              </a:rPr>
            </a:br>
            <a:r>
              <a:rPr lang="zh-TW" altLang="en-US" sz="1400" dirty="0">
                <a:ea typeface="+mj-lt"/>
                <a:cs typeface="+mj-lt"/>
              </a:rPr>
              <a:t>長輩獨自在家煮東西</a:t>
            </a:r>
            <a:r>
              <a:rPr lang="zh-TW" altLang="zh-TW" sz="1400" dirty="0">
                <a:ea typeface="+mj-lt"/>
                <a:cs typeface="+mj-lt"/>
              </a:rPr>
              <a:t>時會</a:t>
            </a:r>
            <a:r>
              <a:rPr lang="zh-TW" altLang="en-US" sz="1400" dirty="0">
                <a:ea typeface="+mj-lt"/>
                <a:cs typeface="+mj-lt"/>
              </a:rPr>
              <a:t>不小心</a:t>
            </a:r>
            <a:r>
              <a:rPr lang="zh-TW" altLang="zh-TW" sz="1400" dirty="0">
                <a:ea typeface="+mj-lt"/>
                <a:cs typeface="+mj-lt"/>
              </a:rPr>
              <a:t>忘記</a:t>
            </a:r>
            <a:r>
              <a:rPr lang="zh-TW" altLang="en-US" sz="1400" dirty="0">
                <a:ea typeface="+mj-lt"/>
                <a:cs typeface="+mj-lt"/>
              </a:rPr>
              <a:t>瓦斯爐開著</a:t>
            </a:r>
            <a:r>
              <a:rPr lang="zh-TW" altLang="zh-TW" sz="1400" dirty="0">
                <a:ea typeface="+mj-lt"/>
                <a:cs typeface="+mj-lt"/>
              </a:rPr>
              <a:t>，</a:t>
            </a:r>
            <a:r>
              <a:rPr lang="zh-TW" altLang="en-US" sz="1400" dirty="0">
                <a:ea typeface="+mj-lt"/>
                <a:cs typeface="+mj-lt"/>
              </a:rPr>
              <a:t>容易導致危險增加</a:t>
            </a:r>
            <a:endParaRPr lang="zh-TW" altLang="zh-TW" sz="1400" dirty="0"/>
          </a:p>
          <a:p>
            <a:pPr>
              <a:lnSpc>
                <a:spcPct val="100000"/>
              </a:lnSpc>
            </a:pPr>
            <a:br>
              <a:rPr lang="zh-TW" altLang="en-US" sz="1400" dirty="0">
                <a:ea typeface="+mj-lt"/>
                <a:cs typeface="+mj-lt"/>
              </a:rPr>
            </a:br>
            <a:r>
              <a:rPr lang="zh-TW" altLang="zh-TW" sz="1400" dirty="0">
                <a:ea typeface="+mj-lt"/>
                <a:cs typeface="+mj-lt"/>
              </a:rPr>
              <a:t>02.</a:t>
            </a:r>
            <a:r>
              <a:rPr lang="zh-TW" altLang="zh-TW" sz="1400" dirty="0">
                <a:highlight>
                  <a:srgbClr val="FFFF00"/>
                </a:highlight>
                <a:ea typeface="+mj-lt"/>
                <a:cs typeface="+mj-lt"/>
              </a:rPr>
              <a:t>解決問題</a:t>
            </a:r>
            <a:r>
              <a:rPr lang="zh-TW" altLang="zh-TW" sz="1400" dirty="0">
                <a:ea typeface="+mj-lt"/>
                <a:cs typeface="+mj-lt"/>
              </a:rPr>
              <a:t>：</a:t>
            </a:r>
            <a:br>
              <a:rPr lang="zh-TW" altLang="en-US" sz="1400" dirty="0">
                <a:ea typeface="+mj-lt"/>
                <a:cs typeface="+mj-lt"/>
              </a:rPr>
            </a:br>
            <a:r>
              <a:rPr lang="zh-TW" altLang="en-US" sz="1400" dirty="0">
                <a:ea typeface="+mj-lt"/>
                <a:cs typeface="+mj-lt"/>
              </a:rPr>
              <a:t>瓦斯爐有</a:t>
            </a:r>
            <a:r>
              <a:rPr lang="zh-TW" altLang="zh-TW" sz="1400" dirty="0">
                <a:ea typeface="+mj-lt"/>
                <a:cs typeface="+mj-lt"/>
              </a:rPr>
              <a:t>提醒</a:t>
            </a:r>
            <a:r>
              <a:rPr lang="zh-TW" altLang="en-US" sz="1400" dirty="0">
                <a:ea typeface="+mj-lt"/>
                <a:cs typeface="+mj-lt"/>
              </a:rPr>
              <a:t>功能</a:t>
            </a:r>
            <a:r>
              <a:rPr lang="zh-TW" altLang="zh-TW" sz="1400" dirty="0">
                <a:ea typeface="+mj-lt"/>
                <a:cs typeface="+mj-lt"/>
              </a:rPr>
              <a:t>，提</a:t>
            </a:r>
            <a:r>
              <a:rPr lang="zh-TW" altLang="en-US" sz="1400" dirty="0">
                <a:ea typeface="+mj-lt"/>
                <a:cs typeface="+mj-lt"/>
              </a:rPr>
              <a:t>醒</a:t>
            </a:r>
            <a:r>
              <a:rPr lang="zh-TW" altLang="zh-TW" sz="1400" dirty="0">
                <a:ea typeface="+mj-lt"/>
                <a:cs typeface="+mj-lt"/>
              </a:rPr>
              <a:t>的部分不需要另外設定或是只在安裝時一併設定完成，因為以長輩來說他們不見得記得要設定或本身不會設定</a:t>
            </a:r>
            <a:r>
              <a:rPr lang="zh-TW" altLang="en-US" sz="1400" dirty="0">
                <a:ea typeface="+mj-lt"/>
                <a:cs typeface="+mj-lt"/>
              </a:rPr>
              <a:t>，另外也能使用智能</a:t>
            </a:r>
            <a:r>
              <a:rPr lang="en-US" altLang="zh-TW" sz="1400" dirty="0">
                <a:ea typeface="+mj-lt"/>
                <a:cs typeface="+mj-lt"/>
              </a:rPr>
              <a:t>APP</a:t>
            </a:r>
            <a:r>
              <a:rPr lang="zh-TW" altLang="en-US" sz="1400" dirty="0">
                <a:ea typeface="+mj-lt"/>
                <a:cs typeface="+mj-lt"/>
              </a:rPr>
              <a:t>提醒或是瓦斯爐搭配具提醒功能之廚具。</a:t>
            </a:r>
            <a:endParaRPr lang="zh-TW" altLang="zh-TW" sz="1400" dirty="0"/>
          </a:p>
          <a:p>
            <a:pPr>
              <a:lnSpc>
                <a:spcPct val="100000"/>
              </a:lnSpc>
            </a:pPr>
            <a:br>
              <a:rPr lang="zh-TW" altLang="en-US" sz="1400" dirty="0">
                <a:ea typeface="+mj-lt"/>
                <a:cs typeface="+mj-lt"/>
              </a:rPr>
            </a:br>
            <a:r>
              <a:rPr lang="zh-TW" altLang="zh-TW" sz="1400" dirty="0">
                <a:ea typeface="+mj-lt"/>
                <a:cs typeface="+mj-lt"/>
              </a:rPr>
              <a:t>03.</a:t>
            </a:r>
            <a:r>
              <a:rPr lang="zh-TW" altLang="zh-TW" sz="1400" dirty="0">
                <a:highlight>
                  <a:srgbClr val="FFFF00"/>
                </a:highlight>
                <a:ea typeface="+mj-lt"/>
                <a:cs typeface="+mj-lt"/>
              </a:rPr>
              <a:t>創新特色</a:t>
            </a:r>
            <a:r>
              <a:rPr lang="zh-TW" altLang="zh-TW" sz="1400" dirty="0">
                <a:ea typeface="+mj-lt"/>
                <a:cs typeface="+mj-lt"/>
              </a:rPr>
              <a:t>：</a:t>
            </a:r>
            <a:br>
              <a:rPr lang="zh-TW" altLang="zh-TW" sz="1400" dirty="0">
                <a:ea typeface="+mj-lt"/>
                <a:cs typeface="+mj-lt"/>
              </a:rPr>
            </a:br>
            <a:r>
              <a:rPr lang="zh-TW" altLang="en-US" sz="1400" dirty="0">
                <a:ea typeface="+mj-lt"/>
                <a:cs typeface="+mj-lt"/>
              </a:rPr>
              <a:t>目前市面有看到智能瓦斯爐之類的產品，但是長輩可能也不太會設定館火時間或是做其他設定，這次的提案會希望是能夠在不改變長輩使用方式的前提下或不增加繁複的動作，降低長輩使用上的危險</a:t>
            </a:r>
            <a:endParaRPr lang="zh-TW" altLang="en-US" sz="1400" dirty="0"/>
          </a:p>
        </p:txBody>
      </p:sp>
      <p:sp>
        <p:nvSpPr>
          <p:cNvPr id="9" name="文字方塊 8">
            <a:extLst>
              <a:ext uri="{FF2B5EF4-FFF2-40B4-BE49-F238E27FC236}">
                <a16:creationId xmlns:a16="http://schemas.microsoft.com/office/drawing/2014/main" id="{C993F9DE-B918-4636-B79E-C1E26CA566D9}"/>
              </a:ext>
            </a:extLst>
          </p:cNvPr>
          <p:cNvSpPr txBox="1"/>
          <p:nvPr/>
        </p:nvSpPr>
        <p:spPr>
          <a:xfrm>
            <a:off x="6257279" y="1052987"/>
            <a:ext cx="6096000" cy="461665"/>
          </a:xfrm>
          <a:prstGeom prst="rect">
            <a:avLst/>
          </a:prstGeom>
          <a:noFill/>
        </p:spPr>
        <p:txBody>
          <a:bodyPr wrap="square">
            <a:spAutoFit/>
          </a:bodyPr>
          <a:lstStyle/>
          <a:p>
            <a:r>
              <a:rPr lang="zh-TW" altLang="en-US" sz="2400" dirty="0">
                <a:ea typeface="+mj-lt"/>
                <a:cs typeface="+mj-lt"/>
              </a:rPr>
              <a:t>使用瓦斯爐</a:t>
            </a:r>
            <a:r>
              <a:rPr lang="zh-TW" altLang="zh-TW" sz="2400" dirty="0">
                <a:ea typeface="+mj-lt"/>
                <a:cs typeface="+mj-lt"/>
              </a:rPr>
              <a:t>潛在危險改善</a:t>
            </a:r>
            <a:r>
              <a:rPr lang="zh-TW" altLang="en-US" sz="2400" dirty="0"/>
              <a:t>的三種提案</a:t>
            </a:r>
          </a:p>
        </p:txBody>
      </p:sp>
      <p:sp>
        <p:nvSpPr>
          <p:cNvPr id="11" name="文字方塊 10">
            <a:extLst>
              <a:ext uri="{FF2B5EF4-FFF2-40B4-BE49-F238E27FC236}">
                <a16:creationId xmlns:a16="http://schemas.microsoft.com/office/drawing/2014/main" id="{74737166-EEB0-4E39-985D-FA1D8233BDBA}"/>
              </a:ext>
            </a:extLst>
          </p:cNvPr>
          <p:cNvSpPr txBox="1"/>
          <p:nvPr/>
        </p:nvSpPr>
        <p:spPr>
          <a:xfrm>
            <a:off x="6338134" y="1758428"/>
            <a:ext cx="4724400" cy="4801314"/>
          </a:xfrm>
          <a:prstGeom prst="rect">
            <a:avLst/>
          </a:prstGeom>
          <a:noFill/>
        </p:spPr>
        <p:txBody>
          <a:bodyPr wrap="square">
            <a:spAutoFit/>
          </a:bodyPr>
          <a:lstStyle/>
          <a:p>
            <a:r>
              <a:rPr lang="en-US" altLang="zh-TW" sz="1800" dirty="0">
                <a:highlight>
                  <a:srgbClr val="FFFF00"/>
                </a:highlight>
                <a:ea typeface="+mn-lt"/>
                <a:cs typeface="+mn-lt"/>
              </a:rPr>
              <a:t>1.</a:t>
            </a:r>
            <a:r>
              <a:rPr lang="zh-TW" altLang="en-US" sz="1800" dirty="0">
                <a:ea typeface="+mn-lt"/>
                <a:cs typeface="+mn-lt"/>
              </a:rPr>
              <a:t>老人家、長輩獨自在家可以有智能通知，通知家人目前長輩有開火煮飯，需要留意使用狀況，如果長時間</a:t>
            </a:r>
            <a:r>
              <a:rPr lang="en-US" altLang="zh-TW" sz="1800" dirty="0">
                <a:ea typeface="+mn-lt"/>
                <a:cs typeface="+mn-lt"/>
              </a:rPr>
              <a:t>(</a:t>
            </a:r>
            <a:r>
              <a:rPr lang="zh-TW" altLang="en-US" sz="1800" dirty="0">
                <a:ea typeface="+mn-lt"/>
                <a:cs typeface="+mn-lt"/>
              </a:rPr>
              <a:t>一個小時以上</a:t>
            </a:r>
            <a:r>
              <a:rPr lang="en-US" altLang="zh-TW" sz="1800" dirty="0">
                <a:ea typeface="+mn-lt"/>
                <a:cs typeface="+mn-lt"/>
              </a:rPr>
              <a:t>)</a:t>
            </a:r>
            <a:r>
              <a:rPr lang="zh-TW" altLang="en-US" sz="1800" dirty="0">
                <a:ea typeface="+mn-lt"/>
                <a:cs typeface="+mn-lt"/>
              </a:rPr>
              <a:t>火沒有關掉會再次通知確認，</a:t>
            </a:r>
            <a:r>
              <a:rPr lang="zh-TW" altLang="zh-TW" sz="1800" dirty="0">
                <a:ea typeface="+mn-lt"/>
                <a:cs typeface="+mn-lt"/>
              </a:rPr>
              <a:t>因為目前大家基本都會有手機，所以通知的方法可以使用</a:t>
            </a:r>
            <a:r>
              <a:rPr lang="en-US" altLang="zh-TW" sz="1800" dirty="0">
                <a:ea typeface="+mn-lt"/>
                <a:cs typeface="+mn-lt"/>
              </a:rPr>
              <a:t>APP</a:t>
            </a:r>
            <a:r>
              <a:rPr lang="zh-TW" altLang="zh-TW" sz="1800" dirty="0">
                <a:ea typeface="+mn-lt"/>
                <a:cs typeface="+mn-lt"/>
              </a:rPr>
              <a:t>連線通知，另外</a:t>
            </a:r>
            <a:r>
              <a:rPr lang="zh-TW" altLang="en-US" sz="1800" dirty="0">
                <a:ea typeface="+mn-lt"/>
                <a:cs typeface="+mn-lt"/>
              </a:rPr>
              <a:t>也能透過遠端APP去遙控關火。</a:t>
            </a:r>
            <a:endParaRPr lang="zh-TW" altLang="zh-TW" sz="1800" dirty="0"/>
          </a:p>
          <a:p>
            <a:endParaRPr lang="zh-TW" altLang="en-US" sz="1800" dirty="0">
              <a:highlight>
                <a:srgbClr val="FFFF00"/>
              </a:highlight>
              <a:ea typeface="+mn-lt"/>
              <a:cs typeface="+mn-lt"/>
            </a:endParaRPr>
          </a:p>
          <a:p>
            <a:r>
              <a:rPr lang="zh-TW" altLang="zh-TW" sz="1800" dirty="0">
                <a:highlight>
                  <a:srgbClr val="FFFF00"/>
                </a:highlight>
                <a:ea typeface="+mn-lt"/>
                <a:cs typeface="+mn-lt"/>
              </a:rPr>
              <a:t>2.</a:t>
            </a:r>
            <a:r>
              <a:rPr lang="zh-TW" altLang="en-US" sz="1800" dirty="0">
                <a:ea typeface="+mn-lt"/>
                <a:cs typeface="+mn-lt"/>
              </a:rPr>
              <a:t>若長輩聽覺沒問題，能使用聲音提醒</a:t>
            </a:r>
            <a:r>
              <a:rPr lang="zh-TW" altLang="zh-TW" sz="1800" dirty="0">
                <a:ea typeface="+mn-lt"/>
                <a:cs typeface="+mn-lt"/>
              </a:rPr>
              <a:t>的</a:t>
            </a:r>
            <a:r>
              <a:rPr lang="zh-TW" altLang="en-US" sz="1800" dirty="0">
                <a:ea typeface="+mn-lt"/>
                <a:cs typeface="+mn-lt"/>
              </a:rPr>
              <a:t>話</a:t>
            </a:r>
            <a:r>
              <a:rPr lang="zh-TW" altLang="zh-TW" sz="1800" dirty="0">
                <a:ea typeface="+mn-lt"/>
                <a:cs typeface="+mn-lt"/>
              </a:rPr>
              <a:t>，可以</a:t>
            </a:r>
            <a:r>
              <a:rPr lang="zh-TW" altLang="en-US" sz="1800" dirty="0">
                <a:ea typeface="+mn-lt"/>
                <a:cs typeface="+mn-lt"/>
              </a:rPr>
              <a:t>將使用</a:t>
            </a:r>
            <a:r>
              <a:rPr lang="zh-TW" altLang="zh-TW" sz="1800" dirty="0">
                <a:ea typeface="+mn-lt"/>
                <a:cs typeface="+mn-lt"/>
              </a:rPr>
              <a:t>的</a:t>
            </a:r>
            <a:r>
              <a:rPr lang="zh-TW" altLang="en-US" sz="1800" dirty="0">
                <a:ea typeface="+mn-lt"/>
                <a:cs typeface="+mn-lt"/>
              </a:rPr>
              <a:t>鍋碗瓢盆換</a:t>
            </a:r>
            <a:r>
              <a:rPr lang="zh-TW" altLang="zh-TW" sz="1800" dirty="0">
                <a:ea typeface="+mn-lt"/>
                <a:cs typeface="+mn-lt"/>
              </a:rPr>
              <a:t>成</a:t>
            </a:r>
            <a:r>
              <a:rPr lang="zh-TW" altLang="en-US" sz="1800" dirty="0">
                <a:ea typeface="+mn-lt"/>
                <a:cs typeface="+mn-lt"/>
              </a:rPr>
              <a:t>會出聲提醒的。類似我們</a:t>
            </a:r>
            <a:r>
              <a:rPr lang="zh-TW" altLang="zh-TW" sz="1800" dirty="0">
                <a:ea typeface="+mn-lt"/>
                <a:cs typeface="+mn-lt"/>
              </a:rPr>
              <a:t>一</a:t>
            </a:r>
            <a:r>
              <a:rPr lang="zh-TW" altLang="en-US" sz="1800" dirty="0">
                <a:ea typeface="+mn-lt"/>
                <a:cs typeface="+mn-lt"/>
              </a:rPr>
              <a:t>般煮水滾了會有汽笛聲</a:t>
            </a:r>
            <a:r>
              <a:rPr lang="zh-TW" altLang="zh-TW" sz="1800" dirty="0">
                <a:ea typeface="+mn-lt"/>
                <a:cs typeface="+mn-lt"/>
              </a:rPr>
              <a:t>的</a:t>
            </a:r>
            <a:r>
              <a:rPr lang="zh-TW" altLang="en-US" sz="1800" dirty="0">
                <a:ea typeface="+mn-lt"/>
                <a:cs typeface="+mn-lt"/>
              </a:rPr>
              <a:t>笛音壺</a:t>
            </a:r>
            <a:r>
              <a:rPr lang="zh-TW" altLang="zh-TW" sz="1800" dirty="0">
                <a:ea typeface="+mn-lt"/>
                <a:cs typeface="+mn-lt"/>
              </a:rPr>
              <a:t>，</a:t>
            </a:r>
            <a:r>
              <a:rPr lang="zh-TW" altLang="en-US" sz="1800" dirty="0">
                <a:ea typeface="+mn-lt"/>
                <a:cs typeface="+mn-lt"/>
              </a:rPr>
              <a:t>廠商</a:t>
            </a:r>
            <a:r>
              <a:rPr lang="zh-TW" altLang="zh-TW" sz="1800" dirty="0">
                <a:ea typeface="+mn-lt"/>
                <a:cs typeface="+mn-lt"/>
              </a:rPr>
              <a:t>可以</a:t>
            </a:r>
            <a:r>
              <a:rPr lang="zh-TW" altLang="en-US" sz="1800" dirty="0">
                <a:ea typeface="+mn-lt"/>
                <a:cs typeface="+mn-lt"/>
              </a:rPr>
              <a:t>開發一系列</a:t>
            </a:r>
            <a:r>
              <a:rPr lang="zh-TW" altLang="zh-TW" sz="1800" dirty="0">
                <a:ea typeface="+mn-lt"/>
                <a:cs typeface="+mn-lt"/>
              </a:rPr>
              <a:t>跟</a:t>
            </a:r>
            <a:r>
              <a:rPr lang="zh-TW" altLang="en-US" sz="1800" dirty="0">
                <a:ea typeface="+mn-lt"/>
                <a:cs typeface="+mn-lt"/>
              </a:rPr>
              <a:t>笛音壺相同效果</a:t>
            </a:r>
            <a:r>
              <a:rPr lang="zh-TW" altLang="zh-TW" sz="1800" dirty="0">
                <a:ea typeface="+mn-lt"/>
                <a:cs typeface="+mn-lt"/>
              </a:rPr>
              <a:t>的</a:t>
            </a:r>
            <a:r>
              <a:rPr lang="zh-TW" altLang="en-US" sz="1800" dirty="0">
                <a:ea typeface="+mn-lt"/>
                <a:cs typeface="+mn-lt"/>
              </a:rPr>
              <a:t>產品</a:t>
            </a:r>
            <a:endParaRPr lang="zh-TW" altLang="zh-TW" sz="1800" dirty="0"/>
          </a:p>
          <a:p>
            <a:endParaRPr lang="zh-TW" altLang="en-US" sz="1800" dirty="0">
              <a:highlight>
                <a:srgbClr val="FFFF00"/>
              </a:highlight>
              <a:ea typeface="+mn-lt"/>
              <a:cs typeface="+mn-lt"/>
            </a:endParaRPr>
          </a:p>
          <a:p>
            <a:r>
              <a:rPr lang="zh-TW" altLang="zh-TW" sz="1800" dirty="0">
                <a:highlight>
                  <a:srgbClr val="FFFF00"/>
                </a:highlight>
                <a:ea typeface="+mn-lt"/>
                <a:cs typeface="+mn-lt"/>
              </a:rPr>
              <a:t>3.</a:t>
            </a:r>
            <a:r>
              <a:rPr lang="zh-TW" altLang="en-US" sz="1800" dirty="0">
                <a:ea typeface="+mn-lt"/>
                <a:cs typeface="+mn-lt"/>
              </a:rPr>
              <a:t>開發</a:t>
            </a:r>
            <a:r>
              <a:rPr lang="zh-TW" altLang="zh-TW" sz="1800" dirty="0">
                <a:ea typeface="+mn-lt"/>
                <a:cs typeface="+mn-lt"/>
              </a:rPr>
              <a:t>智</a:t>
            </a:r>
            <a:r>
              <a:rPr lang="zh-TW" altLang="en-US" sz="1800" dirty="0">
                <a:ea typeface="+mn-lt"/>
                <a:cs typeface="+mn-lt"/>
              </a:rPr>
              <a:t>能瓦斯爐搭配專屬廚具去</a:t>
            </a:r>
            <a:r>
              <a:rPr lang="zh-TW" altLang="zh-TW" sz="1800" dirty="0">
                <a:ea typeface="+mn-lt"/>
                <a:cs typeface="+mn-lt"/>
              </a:rPr>
              <a:t>偵測</a:t>
            </a:r>
            <a:r>
              <a:rPr lang="zh-TW" altLang="en-US" sz="1800" dirty="0">
                <a:ea typeface="+mn-lt"/>
                <a:cs typeface="+mn-lt"/>
              </a:rPr>
              <a:t>容器中的</a:t>
            </a:r>
            <a:r>
              <a:rPr lang="zh-TW" altLang="zh-TW" sz="1800" dirty="0">
                <a:ea typeface="+mn-lt"/>
                <a:cs typeface="+mn-lt"/>
              </a:rPr>
              <a:t>水</a:t>
            </a:r>
            <a:r>
              <a:rPr lang="zh-TW" altLang="en-US" sz="1800" dirty="0">
                <a:ea typeface="+mn-lt"/>
                <a:cs typeface="+mn-lt"/>
              </a:rPr>
              <a:t>、食</a:t>
            </a:r>
            <a:r>
              <a:rPr lang="zh-TW" altLang="zh-TW" sz="1800" dirty="0">
                <a:ea typeface="+mn-lt"/>
                <a:cs typeface="+mn-lt"/>
              </a:rPr>
              <a:t>物</a:t>
            </a:r>
            <a:r>
              <a:rPr lang="zh-TW" altLang="en-US" sz="1800" dirty="0">
                <a:ea typeface="+mn-lt"/>
                <a:cs typeface="+mn-lt"/>
              </a:rPr>
              <a:t>量、溫度或</a:t>
            </a:r>
            <a:r>
              <a:rPr lang="zh-TW" altLang="zh-TW" sz="1800" dirty="0">
                <a:ea typeface="+mn-lt"/>
                <a:cs typeface="+mn-lt"/>
              </a:rPr>
              <a:t>是可以</a:t>
            </a:r>
            <a:r>
              <a:rPr lang="zh-TW" altLang="en-US" sz="1800" dirty="0">
                <a:ea typeface="+mn-lt"/>
                <a:cs typeface="+mn-lt"/>
              </a:rPr>
              <a:t>依照時間長短去做提醒、控制。另外這個瓦斯爐能搭配遠端APP遙控關火</a:t>
            </a:r>
            <a:endParaRPr lang="zh-TW" altLang="zh-TW" sz="1800" dirty="0">
              <a:ea typeface="+mn-lt"/>
              <a:cs typeface="+mn-lt"/>
            </a:endParaRPr>
          </a:p>
        </p:txBody>
      </p:sp>
      <p:pic>
        <p:nvPicPr>
          <p:cNvPr id="13" name="圖片 12">
            <a:extLst>
              <a:ext uri="{FF2B5EF4-FFF2-40B4-BE49-F238E27FC236}">
                <a16:creationId xmlns:a16="http://schemas.microsoft.com/office/drawing/2014/main" id="{042A4229-4566-4CA1-8398-EDEE0A8D78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831" y="3962152"/>
            <a:ext cx="4601651" cy="2798942"/>
          </a:xfrm>
          <a:prstGeom prst="rect">
            <a:avLst/>
          </a:prstGeom>
        </p:spPr>
      </p:pic>
    </p:spTree>
    <p:extLst>
      <p:ext uri="{BB962C8B-B14F-4D97-AF65-F5344CB8AC3E}">
        <p14:creationId xmlns:p14="http://schemas.microsoft.com/office/powerpoint/2010/main" val="2962116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許瑞玲 </a:t>
            </a:r>
          </a:p>
        </p:txBody>
      </p:sp>
      <p:pic>
        <p:nvPicPr>
          <p:cNvPr id="3" name="圖片 2">
            <a:extLst>
              <a:ext uri="{FF2B5EF4-FFF2-40B4-BE49-F238E27FC236}">
                <a16:creationId xmlns:a16="http://schemas.microsoft.com/office/drawing/2014/main" id="{74ED0385-A918-461F-94CE-D0E7E05373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115" y="925593"/>
            <a:ext cx="10950391" cy="5682295"/>
          </a:xfrm>
          <a:prstGeom prst="rect">
            <a:avLst/>
          </a:prstGeom>
        </p:spPr>
      </p:pic>
    </p:spTree>
    <p:extLst>
      <p:ext uri="{BB962C8B-B14F-4D97-AF65-F5344CB8AC3E}">
        <p14:creationId xmlns:p14="http://schemas.microsoft.com/office/powerpoint/2010/main" val="2621471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許瑞玲 </a:t>
            </a:r>
          </a:p>
        </p:txBody>
      </p:sp>
      <p:pic>
        <p:nvPicPr>
          <p:cNvPr id="4" name="圖片 3">
            <a:extLst>
              <a:ext uri="{FF2B5EF4-FFF2-40B4-BE49-F238E27FC236}">
                <a16:creationId xmlns:a16="http://schemas.microsoft.com/office/drawing/2014/main" id="{D527410D-17B8-4AF8-9AC7-0ED15525DE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189" y="852256"/>
            <a:ext cx="11568451" cy="5602332"/>
          </a:xfrm>
          <a:prstGeom prst="rect">
            <a:avLst/>
          </a:prstGeom>
        </p:spPr>
      </p:pic>
    </p:spTree>
    <p:extLst>
      <p:ext uri="{BB962C8B-B14F-4D97-AF65-F5344CB8AC3E}">
        <p14:creationId xmlns:p14="http://schemas.microsoft.com/office/powerpoint/2010/main" val="1362124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陳禎</a:t>
            </a:r>
          </a:p>
        </p:txBody>
      </p:sp>
      <p:pic>
        <p:nvPicPr>
          <p:cNvPr id="3" name="圖片 2">
            <a:extLst>
              <a:ext uri="{FF2B5EF4-FFF2-40B4-BE49-F238E27FC236}">
                <a16:creationId xmlns:a16="http://schemas.microsoft.com/office/drawing/2014/main" id="{EBEFA92A-C71B-4A9B-B3E1-5E1D91F71A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702" y="945769"/>
            <a:ext cx="10916757" cy="5723993"/>
          </a:xfrm>
          <a:prstGeom prst="rect">
            <a:avLst/>
          </a:prstGeom>
        </p:spPr>
      </p:pic>
    </p:spTree>
    <p:extLst>
      <p:ext uri="{BB962C8B-B14F-4D97-AF65-F5344CB8AC3E}">
        <p14:creationId xmlns:p14="http://schemas.microsoft.com/office/powerpoint/2010/main" val="3506970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陳禎</a:t>
            </a:r>
          </a:p>
        </p:txBody>
      </p:sp>
      <p:pic>
        <p:nvPicPr>
          <p:cNvPr id="4" name="圖片 3">
            <a:extLst>
              <a:ext uri="{FF2B5EF4-FFF2-40B4-BE49-F238E27FC236}">
                <a16:creationId xmlns:a16="http://schemas.microsoft.com/office/drawing/2014/main" id="{7E46B0DE-3B3C-451F-AD02-A850B955EE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597" y="852255"/>
            <a:ext cx="10788453" cy="5738263"/>
          </a:xfrm>
          <a:prstGeom prst="rect">
            <a:avLst/>
          </a:prstGeom>
        </p:spPr>
      </p:pic>
    </p:spTree>
    <p:extLst>
      <p:ext uri="{BB962C8B-B14F-4D97-AF65-F5344CB8AC3E}">
        <p14:creationId xmlns:p14="http://schemas.microsoft.com/office/powerpoint/2010/main" val="461240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陳禎</a:t>
            </a:r>
          </a:p>
        </p:txBody>
      </p:sp>
      <p:pic>
        <p:nvPicPr>
          <p:cNvPr id="3" name="圖片 2">
            <a:extLst>
              <a:ext uri="{FF2B5EF4-FFF2-40B4-BE49-F238E27FC236}">
                <a16:creationId xmlns:a16="http://schemas.microsoft.com/office/drawing/2014/main" id="{E69FE33D-5297-48B2-B693-B7B5FF637C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074" y="852256"/>
            <a:ext cx="10541362" cy="5921540"/>
          </a:xfrm>
          <a:prstGeom prst="rect">
            <a:avLst/>
          </a:prstGeom>
        </p:spPr>
      </p:pic>
    </p:spTree>
    <p:extLst>
      <p:ext uri="{BB962C8B-B14F-4D97-AF65-F5344CB8AC3E}">
        <p14:creationId xmlns:p14="http://schemas.microsoft.com/office/powerpoint/2010/main" val="2780903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嚴以敏</a:t>
            </a:r>
          </a:p>
        </p:txBody>
      </p:sp>
      <p:pic>
        <p:nvPicPr>
          <p:cNvPr id="8" name="圖片 7">
            <a:extLst>
              <a:ext uri="{FF2B5EF4-FFF2-40B4-BE49-F238E27FC236}">
                <a16:creationId xmlns:a16="http://schemas.microsoft.com/office/drawing/2014/main" id="{D5C0A2B9-F6C0-42D1-8071-4C9BF1B78C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610" y="852256"/>
            <a:ext cx="10977825" cy="5905963"/>
          </a:xfrm>
          <a:prstGeom prst="rect">
            <a:avLst/>
          </a:prstGeom>
        </p:spPr>
      </p:pic>
    </p:spTree>
    <p:extLst>
      <p:ext uri="{BB962C8B-B14F-4D97-AF65-F5344CB8AC3E}">
        <p14:creationId xmlns:p14="http://schemas.microsoft.com/office/powerpoint/2010/main" val="2868018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賴美如</a:t>
            </a:r>
          </a:p>
        </p:txBody>
      </p:sp>
      <p:pic>
        <p:nvPicPr>
          <p:cNvPr id="3" name="圖片 2">
            <a:extLst>
              <a:ext uri="{FF2B5EF4-FFF2-40B4-BE49-F238E27FC236}">
                <a16:creationId xmlns:a16="http://schemas.microsoft.com/office/drawing/2014/main" id="{780F1CA6-7667-4F02-B421-372B44B98C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335" y="852256"/>
            <a:ext cx="4444759" cy="2643462"/>
          </a:xfrm>
          <a:prstGeom prst="rect">
            <a:avLst/>
          </a:prstGeom>
        </p:spPr>
      </p:pic>
      <p:pic>
        <p:nvPicPr>
          <p:cNvPr id="5" name="圖片 4">
            <a:extLst>
              <a:ext uri="{FF2B5EF4-FFF2-40B4-BE49-F238E27FC236}">
                <a16:creationId xmlns:a16="http://schemas.microsoft.com/office/drawing/2014/main" id="{E631C155-CEBE-45A0-A4A7-6D660F3076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6780" y="2061883"/>
            <a:ext cx="7528061" cy="4661645"/>
          </a:xfrm>
          <a:prstGeom prst="rect">
            <a:avLst/>
          </a:prstGeom>
        </p:spPr>
      </p:pic>
    </p:spTree>
    <p:extLst>
      <p:ext uri="{BB962C8B-B14F-4D97-AF65-F5344CB8AC3E}">
        <p14:creationId xmlns:p14="http://schemas.microsoft.com/office/powerpoint/2010/main" val="24290739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賴美如</a:t>
            </a:r>
          </a:p>
        </p:txBody>
      </p:sp>
      <p:pic>
        <p:nvPicPr>
          <p:cNvPr id="4" name="圖片 3">
            <a:extLst>
              <a:ext uri="{FF2B5EF4-FFF2-40B4-BE49-F238E27FC236}">
                <a16:creationId xmlns:a16="http://schemas.microsoft.com/office/drawing/2014/main" id="{7CD35C0C-1562-4183-8155-8991A85C5E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997" y="852256"/>
            <a:ext cx="4581050" cy="2812608"/>
          </a:xfrm>
          <a:prstGeom prst="rect">
            <a:avLst/>
          </a:prstGeom>
        </p:spPr>
      </p:pic>
      <p:pic>
        <p:nvPicPr>
          <p:cNvPr id="7" name="圖片 6">
            <a:extLst>
              <a:ext uri="{FF2B5EF4-FFF2-40B4-BE49-F238E27FC236}">
                <a16:creationId xmlns:a16="http://schemas.microsoft.com/office/drawing/2014/main" id="{5D0BD6DA-43C3-4F1C-95C1-AC3A320FF5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0516" y="2173913"/>
            <a:ext cx="7411484" cy="4410691"/>
          </a:xfrm>
          <a:prstGeom prst="rect">
            <a:avLst/>
          </a:prstGeom>
        </p:spPr>
      </p:pic>
    </p:spTree>
    <p:extLst>
      <p:ext uri="{BB962C8B-B14F-4D97-AF65-F5344CB8AC3E}">
        <p14:creationId xmlns:p14="http://schemas.microsoft.com/office/powerpoint/2010/main" val="2694111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王俊惟</a:t>
            </a:r>
          </a:p>
        </p:txBody>
      </p:sp>
      <p:pic>
        <p:nvPicPr>
          <p:cNvPr id="3" name="圖片 2">
            <a:extLst>
              <a:ext uri="{FF2B5EF4-FFF2-40B4-BE49-F238E27FC236}">
                <a16:creationId xmlns:a16="http://schemas.microsoft.com/office/drawing/2014/main" id="{DBEC80D0-AC63-45C9-B3E2-8DE0207BD8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14" y="1757500"/>
            <a:ext cx="5639561" cy="3549606"/>
          </a:xfrm>
          <a:prstGeom prst="rect">
            <a:avLst/>
          </a:prstGeom>
        </p:spPr>
      </p:pic>
      <p:pic>
        <p:nvPicPr>
          <p:cNvPr id="6" name="圖片 5">
            <a:extLst>
              <a:ext uri="{FF2B5EF4-FFF2-40B4-BE49-F238E27FC236}">
                <a16:creationId xmlns:a16="http://schemas.microsoft.com/office/drawing/2014/main" id="{9A370508-0D9F-4B9A-B515-A8676BBD91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0638" y="1667853"/>
            <a:ext cx="5868219" cy="3962953"/>
          </a:xfrm>
          <a:prstGeom prst="rect">
            <a:avLst/>
          </a:prstGeom>
        </p:spPr>
      </p:pic>
    </p:spTree>
    <p:extLst>
      <p:ext uri="{BB962C8B-B14F-4D97-AF65-F5344CB8AC3E}">
        <p14:creationId xmlns:p14="http://schemas.microsoft.com/office/powerpoint/2010/main" val="3319234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施俞旭</a:t>
            </a:r>
          </a:p>
        </p:txBody>
      </p:sp>
      <p:pic>
        <p:nvPicPr>
          <p:cNvPr id="4" name="圖片 3">
            <a:extLst>
              <a:ext uri="{FF2B5EF4-FFF2-40B4-BE49-F238E27FC236}">
                <a16:creationId xmlns:a16="http://schemas.microsoft.com/office/drawing/2014/main" id="{73E3131D-C336-4B55-89EF-3D7E60BC36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170" y="902989"/>
            <a:ext cx="2079512" cy="397695"/>
          </a:xfrm>
          <a:prstGeom prst="rect">
            <a:avLst/>
          </a:prstGeom>
        </p:spPr>
      </p:pic>
      <p:pic>
        <p:nvPicPr>
          <p:cNvPr id="7" name="圖片 6">
            <a:extLst>
              <a:ext uri="{FF2B5EF4-FFF2-40B4-BE49-F238E27FC236}">
                <a16:creationId xmlns:a16="http://schemas.microsoft.com/office/drawing/2014/main" id="{778B5EB6-C092-4C20-B84C-C513E2479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170" y="1356390"/>
            <a:ext cx="1465827" cy="285551"/>
          </a:xfrm>
          <a:prstGeom prst="rect">
            <a:avLst/>
          </a:prstGeom>
        </p:spPr>
      </p:pic>
      <p:pic>
        <p:nvPicPr>
          <p:cNvPr id="9" name="圖片 8">
            <a:extLst>
              <a:ext uri="{FF2B5EF4-FFF2-40B4-BE49-F238E27FC236}">
                <a16:creationId xmlns:a16="http://schemas.microsoft.com/office/drawing/2014/main" id="{59E84E87-4CB1-4B7F-8338-2C9E7F9133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9841" y="559868"/>
            <a:ext cx="3397864" cy="2791103"/>
          </a:xfrm>
          <a:prstGeom prst="rect">
            <a:avLst/>
          </a:prstGeom>
        </p:spPr>
      </p:pic>
      <p:pic>
        <p:nvPicPr>
          <p:cNvPr id="12" name="圖片 11">
            <a:extLst>
              <a:ext uri="{FF2B5EF4-FFF2-40B4-BE49-F238E27FC236}">
                <a16:creationId xmlns:a16="http://schemas.microsoft.com/office/drawing/2014/main" id="{124AF883-60EB-4F9E-BC49-01A0775BFF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7705" y="256732"/>
            <a:ext cx="6017778" cy="3350640"/>
          </a:xfrm>
          <a:prstGeom prst="rect">
            <a:avLst/>
          </a:prstGeom>
        </p:spPr>
      </p:pic>
      <p:pic>
        <p:nvPicPr>
          <p:cNvPr id="14" name="圖片 13">
            <a:extLst>
              <a:ext uri="{FF2B5EF4-FFF2-40B4-BE49-F238E27FC236}">
                <a16:creationId xmlns:a16="http://schemas.microsoft.com/office/drawing/2014/main" id="{FA0332F5-89B9-46F4-BD36-225F46B5854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2644" y="3607372"/>
            <a:ext cx="5541189" cy="3150601"/>
          </a:xfrm>
          <a:prstGeom prst="rect">
            <a:avLst/>
          </a:prstGeom>
        </p:spPr>
      </p:pic>
      <p:pic>
        <p:nvPicPr>
          <p:cNvPr id="16" name="圖片 15">
            <a:extLst>
              <a:ext uri="{FF2B5EF4-FFF2-40B4-BE49-F238E27FC236}">
                <a16:creationId xmlns:a16="http://schemas.microsoft.com/office/drawing/2014/main" id="{95B8D134-8A2D-4192-BCB9-144743AA01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33833" y="3620122"/>
            <a:ext cx="6501241" cy="3150601"/>
          </a:xfrm>
          <a:prstGeom prst="rect">
            <a:avLst/>
          </a:prstGeom>
        </p:spPr>
      </p:pic>
    </p:spTree>
    <p:extLst>
      <p:ext uri="{BB962C8B-B14F-4D97-AF65-F5344CB8AC3E}">
        <p14:creationId xmlns:p14="http://schemas.microsoft.com/office/powerpoint/2010/main" val="17595269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施俞旭</a:t>
            </a:r>
          </a:p>
        </p:txBody>
      </p:sp>
      <p:pic>
        <p:nvPicPr>
          <p:cNvPr id="4" name="圖片 3">
            <a:extLst>
              <a:ext uri="{FF2B5EF4-FFF2-40B4-BE49-F238E27FC236}">
                <a16:creationId xmlns:a16="http://schemas.microsoft.com/office/drawing/2014/main" id="{73E3131D-C336-4B55-89EF-3D7E60BC36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6223" y="164525"/>
            <a:ext cx="3671896" cy="702229"/>
          </a:xfrm>
          <a:prstGeom prst="rect">
            <a:avLst/>
          </a:prstGeom>
        </p:spPr>
      </p:pic>
      <p:pic>
        <p:nvPicPr>
          <p:cNvPr id="7" name="圖片 6">
            <a:extLst>
              <a:ext uri="{FF2B5EF4-FFF2-40B4-BE49-F238E27FC236}">
                <a16:creationId xmlns:a16="http://schemas.microsoft.com/office/drawing/2014/main" id="{778B5EB6-C092-4C20-B84C-C513E2479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3921" y="345525"/>
            <a:ext cx="2200582" cy="428685"/>
          </a:xfrm>
          <a:prstGeom prst="rect">
            <a:avLst/>
          </a:prstGeom>
        </p:spPr>
      </p:pic>
      <p:pic>
        <p:nvPicPr>
          <p:cNvPr id="18" name="圖片 17">
            <a:extLst>
              <a:ext uri="{FF2B5EF4-FFF2-40B4-BE49-F238E27FC236}">
                <a16:creationId xmlns:a16="http://schemas.microsoft.com/office/drawing/2014/main" id="{90DBA881-FA0A-4C07-8ABB-93A126731D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9426" y="1312585"/>
            <a:ext cx="9872655" cy="5088215"/>
          </a:xfrm>
          <a:prstGeom prst="rect">
            <a:avLst/>
          </a:prstGeom>
        </p:spPr>
      </p:pic>
    </p:spTree>
    <p:extLst>
      <p:ext uri="{BB962C8B-B14F-4D97-AF65-F5344CB8AC3E}">
        <p14:creationId xmlns:p14="http://schemas.microsoft.com/office/powerpoint/2010/main" val="390737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施俞旭</a:t>
            </a:r>
          </a:p>
        </p:txBody>
      </p:sp>
      <p:pic>
        <p:nvPicPr>
          <p:cNvPr id="4" name="圖片 3">
            <a:extLst>
              <a:ext uri="{FF2B5EF4-FFF2-40B4-BE49-F238E27FC236}">
                <a16:creationId xmlns:a16="http://schemas.microsoft.com/office/drawing/2014/main" id="{73E3131D-C336-4B55-89EF-3D7E60BC36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6223" y="164525"/>
            <a:ext cx="3671896" cy="702229"/>
          </a:xfrm>
          <a:prstGeom prst="rect">
            <a:avLst/>
          </a:prstGeom>
        </p:spPr>
      </p:pic>
      <p:pic>
        <p:nvPicPr>
          <p:cNvPr id="7" name="圖片 6">
            <a:extLst>
              <a:ext uri="{FF2B5EF4-FFF2-40B4-BE49-F238E27FC236}">
                <a16:creationId xmlns:a16="http://schemas.microsoft.com/office/drawing/2014/main" id="{778B5EB6-C092-4C20-B84C-C513E2479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3921" y="345525"/>
            <a:ext cx="2200582" cy="428685"/>
          </a:xfrm>
          <a:prstGeom prst="rect">
            <a:avLst/>
          </a:prstGeom>
        </p:spPr>
      </p:pic>
      <p:pic>
        <p:nvPicPr>
          <p:cNvPr id="20" name="圖片 19">
            <a:extLst>
              <a:ext uri="{FF2B5EF4-FFF2-40B4-BE49-F238E27FC236}">
                <a16:creationId xmlns:a16="http://schemas.microsoft.com/office/drawing/2014/main" id="{7840D007-14BD-4D84-818E-83FA3550D8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377" y="1035114"/>
            <a:ext cx="10676894" cy="5652474"/>
          </a:xfrm>
          <a:prstGeom prst="rect">
            <a:avLst/>
          </a:prstGeom>
        </p:spPr>
      </p:pic>
    </p:spTree>
    <p:extLst>
      <p:ext uri="{BB962C8B-B14F-4D97-AF65-F5344CB8AC3E}">
        <p14:creationId xmlns:p14="http://schemas.microsoft.com/office/powerpoint/2010/main" val="2117982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施俞旭</a:t>
            </a:r>
          </a:p>
        </p:txBody>
      </p:sp>
      <p:pic>
        <p:nvPicPr>
          <p:cNvPr id="4" name="圖片 3">
            <a:extLst>
              <a:ext uri="{FF2B5EF4-FFF2-40B4-BE49-F238E27FC236}">
                <a16:creationId xmlns:a16="http://schemas.microsoft.com/office/drawing/2014/main" id="{73E3131D-C336-4B55-89EF-3D7E60BC36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6223" y="164525"/>
            <a:ext cx="3671896" cy="702229"/>
          </a:xfrm>
          <a:prstGeom prst="rect">
            <a:avLst/>
          </a:prstGeom>
        </p:spPr>
      </p:pic>
      <p:pic>
        <p:nvPicPr>
          <p:cNvPr id="7" name="圖片 6">
            <a:extLst>
              <a:ext uri="{FF2B5EF4-FFF2-40B4-BE49-F238E27FC236}">
                <a16:creationId xmlns:a16="http://schemas.microsoft.com/office/drawing/2014/main" id="{778B5EB6-C092-4C20-B84C-C513E2479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3921" y="345525"/>
            <a:ext cx="2200582" cy="428685"/>
          </a:xfrm>
          <a:prstGeom prst="rect">
            <a:avLst/>
          </a:prstGeom>
        </p:spPr>
      </p:pic>
      <p:pic>
        <p:nvPicPr>
          <p:cNvPr id="22" name="圖片 21">
            <a:extLst>
              <a:ext uri="{FF2B5EF4-FFF2-40B4-BE49-F238E27FC236}">
                <a16:creationId xmlns:a16="http://schemas.microsoft.com/office/drawing/2014/main" id="{E7A055F5-89DA-4952-B568-82B6FD0DD1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299" y="969710"/>
            <a:ext cx="10386176" cy="5386266"/>
          </a:xfrm>
          <a:prstGeom prst="rect">
            <a:avLst/>
          </a:prstGeom>
        </p:spPr>
      </p:pic>
    </p:spTree>
    <p:extLst>
      <p:ext uri="{BB962C8B-B14F-4D97-AF65-F5344CB8AC3E}">
        <p14:creationId xmlns:p14="http://schemas.microsoft.com/office/powerpoint/2010/main" val="1478602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施俞旭</a:t>
            </a:r>
          </a:p>
        </p:txBody>
      </p:sp>
      <p:pic>
        <p:nvPicPr>
          <p:cNvPr id="4" name="圖片 3">
            <a:extLst>
              <a:ext uri="{FF2B5EF4-FFF2-40B4-BE49-F238E27FC236}">
                <a16:creationId xmlns:a16="http://schemas.microsoft.com/office/drawing/2014/main" id="{73E3131D-C336-4B55-89EF-3D7E60BC36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6223" y="164525"/>
            <a:ext cx="3671896" cy="702229"/>
          </a:xfrm>
          <a:prstGeom prst="rect">
            <a:avLst/>
          </a:prstGeom>
        </p:spPr>
      </p:pic>
      <p:pic>
        <p:nvPicPr>
          <p:cNvPr id="7" name="圖片 6">
            <a:extLst>
              <a:ext uri="{FF2B5EF4-FFF2-40B4-BE49-F238E27FC236}">
                <a16:creationId xmlns:a16="http://schemas.microsoft.com/office/drawing/2014/main" id="{778B5EB6-C092-4C20-B84C-C513E2479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3921" y="345525"/>
            <a:ext cx="2200582" cy="428685"/>
          </a:xfrm>
          <a:prstGeom prst="rect">
            <a:avLst/>
          </a:prstGeom>
        </p:spPr>
      </p:pic>
      <p:pic>
        <p:nvPicPr>
          <p:cNvPr id="24" name="圖片 23">
            <a:extLst>
              <a:ext uri="{FF2B5EF4-FFF2-40B4-BE49-F238E27FC236}">
                <a16:creationId xmlns:a16="http://schemas.microsoft.com/office/drawing/2014/main" id="{F6A8DB45-7C17-4AF5-B426-E873A743D6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357" y="955212"/>
            <a:ext cx="11125285" cy="5807088"/>
          </a:xfrm>
          <a:prstGeom prst="rect">
            <a:avLst/>
          </a:prstGeom>
        </p:spPr>
      </p:pic>
    </p:spTree>
    <p:extLst>
      <p:ext uri="{BB962C8B-B14F-4D97-AF65-F5344CB8AC3E}">
        <p14:creationId xmlns:p14="http://schemas.microsoft.com/office/powerpoint/2010/main" val="116048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施俞旭</a:t>
            </a:r>
          </a:p>
        </p:txBody>
      </p:sp>
      <p:pic>
        <p:nvPicPr>
          <p:cNvPr id="3" name="圖片 2">
            <a:extLst>
              <a:ext uri="{FF2B5EF4-FFF2-40B4-BE49-F238E27FC236}">
                <a16:creationId xmlns:a16="http://schemas.microsoft.com/office/drawing/2014/main" id="{3D3F6BB4-A865-48DE-B3AB-98208E89C2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367" y="355340"/>
            <a:ext cx="1351614" cy="698638"/>
          </a:xfrm>
          <a:prstGeom prst="rect">
            <a:avLst/>
          </a:prstGeom>
        </p:spPr>
      </p:pic>
      <p:pic>
        <p:nvPicPr>
          <p:cNvPr id="6" name="圖片 5">
            <a:extLst>
              <a:ext uri="{FF2B5EF4-FFF2-40B4-BE49-F238E27FC236}">
                <a16:creationId xmlns:a16="http://schemas.microsoft.com/office/drawing/2014/main" id="{089C7BCC-1427-45D6-B98E-CFCF9676D4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0029" y="1021574"/>
            <a:ext cx="3774227" cy="2680164"/>
          </a:xfrm>
          <a:prstGeom prst="rect">
            <a:avLst/>
          </a:prstGeom>
        </p:spPr>
      </p:pic>
      <p:pic>
        <p:nvPicPr>
          <p:cNvPr id="9" name="圖片 8">
            <a:extLst>
              <a:ext uri="{FF2B5EF4-FFF2-40B4-BE49-F238E27FC236}">
                <a16:creationId xmlns:a16="http://schemas.microsoft.com/office/drawing/2014/main" id="{4DE8592A-68FE-400D-8F99-355F507FDB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618" y="3822496"/>
            <a:ext cx="5326911" cy="2680164"/>
          </a:xfrm>
          <a:prstGeom prst="rect">
            <a:avLst/>
          </a:prstGeom>
        </p:spPr>
      </p:pic>
      <p:pic>
        <p:nvPicPr>
          <p:cNvPr id="12" name="圖片 11">
            <a:extLst>
              <a:ext uri="{FF2B5EF4-FFF2-40B4-BE49-F238E27FC236}">
                <a16:creationId xmlns:a16="http://schemas.microsoft.com/office/drawing/2014/main" id="{0102E7D6-D214-4AB5-B7F9-8BAA6371E5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97381" y="116006"/>
            <a:ext cx="4503820" cy="3409296"/>
          </a:xfrm>
          <a:prstGeom prst="rect">
            <a:avLst/>
          </a:prstGeom>
        </p:spPr>
      </p:pic>
      <p:pic>
        <p:nvPicPr>
          <p:cNvPr id="14" name="圖片 13">
            <a:extLst>
              <a:ext uri="{FF2B5EF4-FFF2-40B4-BE49-F238E27FC236}">
                <a16:creationId xmlns:a16="http://schemas.microsoft.com/office/drawing/2014/main" id="{EF5F2178-81C1-4BFC-96FF-70444F7860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51802" y="3570496"/>
            <a:ext cx="6260903" cy="3237248"/>
          </a:xfrm>
          <a:prstGeom prst="rect">
            <a:avLst/>
          </a:prstGeom>
        </p:spPr>
      </p:pic>
    </p:spTree>
    <p:extLst>
      <p:ext uri="{BB962C8B-B14F-4D97-AF65-F5344CB8AC3E}">
        <p14:creationId xmlns:p14="http://schemas.microsoft.com/office/powerpoint/2010/main" val="2662502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字方塊 9">
            <a:extLst>
              <a:ext uri="{FF2B5EF4-FFF2-40B4-BE49-F238E27FC236}">
                <a16:creationId xmlns:a16="http://schemas.microsoft.com/office/drawing/2014/main" id="{C4DB73B4-0E2A-4F0B-806A-2DA7072F48EB}"/>
              </a:ext>
            </a:extLst>
          </p:cNvPr>
          <p:cNvSpPr txBox="1"/>
          <p:nvPr/>
        </p:nvSpPr>
        <p:spPr>
          <a:xfrm>
            <a:off x="232997" y="267481"/>
            <a:ext cx="1754065" cy="584775"/>
          </a:xfrm>
          <a:prstGeom prst="rect">
            <a:avLst/>
          </a:prstGeom>
          <a:noFill/>
        </p:spPr>
        <p:txBody>
          <a:bodyPr wrap="square">
            <a:spAutoFit/>
          </a:bodyPr>
          <a:lstStyle/>
          <a:p>
            <a:r>
              <a:rPr lang="zh-TW" altLang="en-US" sz="3200" dirty="0"/>
              <a:t>張雅筑</a:t>
            </a:r>
          </a:p>
        </p:txBody>
      </p:sp>
      <p:pic>
        <p:nvPicPr>
          <p:cNvPr id="7" name="圖片 6">
            <a:extLst>
              <a:ext uri="{FF2B5EF4-FFF2-40B4-BE49-F238E27FC236}">
                <a16:creationId xmlns:a16="http://schemas.microsoft.com/office/drawing/2014/main" id="{211C9BFD-4B22-4895-9B7A-89D7D10BAC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997" y="1296204"/>
            <a:ext cx="5268060" cy="4534533"/>
          </a:xfrm>
          <a:prstGeom prst="rect">
            <a:avLst/>
          </a:prstGeom>
        </p:spPr>
      </p:pic>
      <p:pic>
        <p:nvPicPr>
          <p:cNvPr id="11" name="圖片 10">
            <a:extLst>
              <a:ext uri="{FF2B5EF4-FFF2-40B4-BE49-F238E27FC236}">
                <a16:creationId xmlns:a16="http://schemas.microsoft.com/office/drawing/2014/main" id="{27A7588D-BCDB-45BA-8BFF-C980BF169B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1057" y="1296204"/>
            <a:ext cx="6469716" cy="4772903"/>
          </a:xfrm>
          <a:prstGeom prst="rect">
            <a:avLst/>
          </a:prstGeom>
        </p:spPr>
      </p:pic>
    </p:spTree>
    <p:extLst>
      <p:ext uri="{BB962C8B-B14F-4D97-AF65-F5344CB8AC3E}">
        <p14:creationId xmlns:p14="http://schemas.microsoft.com/office/powerpoint/2010/main" val="40479711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9AC48000-5E09-4B86-B0E1-DC1DA8EE7294}"/>
              </a:ext>
            </a:extLst>
          </p:cNvPr>
          <p:cNvSpPr>
            <a:spLocks noGrp="1"/>
          </p:cNvSpPr>
          <p:nvPr>
            <p:ph type="body" sz="quarter" idx="10"/>
          </p:nvPr>
        </p:nvSpPr>
        <p:spPr>
          <a:xfrm>
            <a:off x="35124" y="681015"/>
            <a:ext cx="12192000" cy="768085"/>
          </a:xfrm>
        </p:spPr>
        <p:txBody>
          <a:bodyPr/>
          <a:lstStyle/>
          <a:p>
            <a:r>
              <a:rPr lang="zh-TW" altLang="en-US" dirty="0"/>
              <a:t>擇優說明</a:t>
            </a:r>
          </a:p>
        </p:txBody>
      </p:sp>
      <p:sp>
        <p:nvSpPr>
          <p:cNvPr id="3" name="文字版面配置區 2">
            <a:extLst>
              <a:ext uri="{FF2B5EF4-FFF2-40B4-BE49-F238E27FC236}">
                <a16:creationId xmlns:a16="http://schemas.microsoft.com/office/drawing/2014/main" id="{0F25EBE3-6044-4C08-8DC1-BC844572C083}"/>
              </a:ext>
            </a:extLst>
          </p:cNvPr>
          <p:cNvSpPr>
            <a:spLocks noGrp="1"/>
          </p:cNvSpPr>
          <p:nvPr>
            <p:ph type="body" sz="quarter" idx="11"/>
          </p:nvPr>
        </p:nvSpPr>
        <p:spPr>
          <a:xfrm>
            <a:off x="35124" y="300420"/>
            <a:ext cx="12192000" cy="384043"/>
          </a:xfrm>
        </p:spPr>
        <p:txBody>
          <a:bodyPr/>
          <a:lstStyle/>
          <a:p>
            <a:r>
              <a:rPr lang="zh-TW" altLang="en-US" sz="2800" dirty="0"/>
              <a:t>第二次創新提案</a:t>
            </a:r>
          </a:p>
        </p:txBody>
      </p:sp>
      <p:sp>
        <p:nvSpPr>
          <p:cNvPr id="5" name="文字方塊 4">
            <a:extLst>
              <a:ext uri="{FF2B5EF4-FFF2-40B4-BE49-F238E27FC236}">
                <a16:creationId xmlns:a16="http://schemas.microsoft.com/office/drawing/2014/main" id="{90A4166B-2F24-4063-972D-0B132B741301}"/>
              </a:ext>
            </a:extLst>
          </p:cNvPr>
          <p:cNvSpPr txBox="1"/>
          <p:nvPr/>
        </p:nvSpPr>
        <p:spPr>
          <a:xfrm>
            <a:off x="432198" y="1540822"/>
            <a:ext cx="11397852" cy="5016758"/>
          </a:xfrm>
          <a:prstGeom prst="rect">
            <a:avLst/>
          </a:prstGeom>
          <a:noFill/>
        </p:spPr>
        <p:txBody>
          <a:bodyPr wrap="square">
            <a:spAutoFit/>
          </a:bodyPr>
          <a:lstStyle/>
          <a:p>
            <a:r>
              <a:rPr lang="en-US" altLang="zh-TW" sz="3200" b="1" dirty="0">
                <a:solidFill>
                  <a:srgbClr val="0070C0"/>
                </a:solidFill>
              </a:rPr>
              <a:t>1.</a:t>
            </a:r>
            <a:r>
              <a:rPr lang="zh-TW" altLang="en-US" sz="3200" b="1" dirty="0">
                <a:solidFill>
                  <a:srgbClr val="0070C0"/>
                </a:solidFill>
              </a:rPr>
              <a:t>創新提案擇優條件</a:t>
            </a:r>
            <a:r>
              <a:rPr lang="zh-TW" altLang="en-US" sz="3200" dirty="0"/>
              <a:t>：</a:t>
            </a:r>
            <a:endParaRPr lang="en-US" altLang="zh-TW" sz="3200" dirty="0"/>
          </a:p>
          <a:p>
            <a:r>
              <a:rPr lang="zh-TW" altLang="en-US" sz="3200" dirty="0"/>
              <a:t>具有實現可能、有啟發性、有機會申請專利</a:t>
            </a:r>
            <a:r>
              <a:rPr lang="en-US" altLang="zh-TW" sz="3200" dirty="0"/>
              <a:t>(</a:t>
            </a:r>
            <a:r>
              <a:rPr lang="zh-TW" altLang="en-US" sz="3200" dirty="0"/>
              <a:t>具備新穎性與進步性</a:t>
            </a:r>
            <a:r>
              <a:rPr lang="en-US" altLang="zh-TW" sz="3200" dirty="0"/>
              <a:t>)</a:t>
            </a:r>
            <a:r>
              <a:rPr lang="zh-TW" altLang="en-US" sz="3200" dirty="0"/>
              <a:t>，內容細節更為完整且具備創新思考工具輔助的提案。</a:t>
            </a:r>
            <a:endParaRPr lang="en-US" altLang="zh-TW" sz="3200" dirty="0"/>
          </a:p>
          <a:p>
            <a:endParaRPr lang="en-US" altLang="zh-TW" sz="3200" dirty="0"/>
          </a:p>
          <a:p>
            <a:r>
              <a:rPr lang="en-US" altLang="zh-TW" sz="3200" b="1" dirty="0">
                <a:solidFill>
                  <a:srgbClr val="0070C0"/>
                </a:solidFill>
              </a:rPr>
              <a:t>2.</a:t>
            </a:r>
            <a:r>
              <a:rPr lang="zh-TW" altLang="en-US" sz="3200" b="1" dirty="0">
                <a:solidFill>
                  <a:srgbClr val="0070C0"/>
                </a:solidFill>
              </a:rPr>
              <a:t>創新提案擇優說明</a:t>
            </a:r>
            <a:r>
              <a:rPr lang="zh-TW" altLang="en-US" sz="3200" dirty="0"/>
              <a:t>：</a:t>
            </a:r>
            <a:endParaRPr lang="en-US" altLang="zh-TW" sz="3200" dirty="0"/>
          </a:p>
          <a:p>
            <a:r>
              <a:rPr lang="zh-TW" altLang="en-US" sz="3200" dirty="0"/>
              <a:t>第二次擇優挑選會較為嚴格，是否相對創新、具備可行性、具備技術支持原則、具備商業可運行可能</a:t>
            </a:r>
            <a:r>
              <a:rPr lang="en-US" altLang="zh-TW" sz="3200" dirty="0"/>
              <a:t>(</a:t>
            </a:r>
            <a:r>
              <a:rPr lang="zh-TW" altLang="en-US" sz="3200" dirty="0"/>
              <a:t>或推廣可能</a:t>
            </a:r>
            <a:r>
              <a:rPr lang="en-US" altLang="zh-TW" sz="3200" dirty="0"/>
              <a:t>)</a:t>
            </a:r>
            <a:r>
              <a:rPr lang="zh-TW" altLang="en-US" sz="3200" dirty="0"/>
              <a:t>，後續就請各位依照設計思考原則和創新思維工具，開始繼續發掘更有值得解決的問題，並且提供對應問題的完善解決方案，期待各位後續提案與企劃。</a:t>
            </a:r>
            <a:endParaRPr lang="en-US" altLang="zh-TW" sz="3200" dirty="0"/>
          </a:p>
        </p:txBody>
      </p:sp>
    </p:spTree>
    <p:extLst>
      <p:ext uri="{BB962C8B-B14F-4D97-AF65-F5344CB8AC3E}">
        <p14:creationId xmlns:p14="http://schemas.microsoft.com/office/powerpoint/2010/main" val="2788072190"/>
      </p:ext>
    </p:extLst>
  </p:cSld>
  <p:clrMapOvr>
    <a:masterClrMapping/>
  </p:clrMapOvr>
</p:sld>
</file>

<file path=ppt/theme/theme1.xml><?xml version="1.0" encoding="utf-8"?>
<a:theme xmlns:a="http://schemas.openxmlformats.org/drawingml/2006/main" name="Contents Slide Master">
  <a:themeElements>
    <a:clrScheme name="ALLPPT-COLOR-A19">
      <a:dk1>
        <a:sysClr val="windowText" lastClr="000000"/>
      </a:dk1>
      <a:lt1>
        <a:sysClr val="window" lastClr="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2AEB8"/>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TotalTime>
  <Words>703</Words>
  <Application>Microsoft Office PowerPoint</Application>
  <PresentationFormat>寬螢幕</PresentationFormat>
  <Paragraphs>61</Paragraphs>
  <Slides>31</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31</vt:i4>
      </vt:variant>
    </vt:vector>
  </HeadingPairs>
  <TitlesOfParts>
    <vt:vector size="35" baseType="lpstr">
      <vt:lpstr>Arial Unicode MS</vt:lpstr>
      <vt:lpstr>Arial</vt:lpstr>
      <vt:lpstr>Calibri</vt:lpstr>
      <vt:lpstr>Contents Slide Master</vt:lpstr>
      <vt:lpstr>自媒體行銷班 創新策略課程 第二次創意提案-擇優提案</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自媒體行銷班 創新策略課程 第一次創意提案-擇優提案</dc:title>
  <dc:creator>白乃遠</dc:creator>
  <cp:lastModifiedBy>乃遠 白</cp:lastModifiedBy>
  <cp:revision>45</cp:revision>
  <dcterms:created xsi:type="dcterms:W3CDTF">2022-11-10T16:25:24Z</dcterms:created>
  <dcterms:modified xsi:type="dcterms:W3CDTF">2023-08-10T18:39:07Z</dcterms:modified>
</cp:coreProperties>
</file>