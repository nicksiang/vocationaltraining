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56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9152C-D565-4B6C-ABFB-A2B4DB199ABA}" type="datetimeFigureOut">
              <a:rPr lang="zh-TW" altLang="en-US" smtClean="0"/>
              <a:t>2023/8/5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BC695-3BEB-4289-A55E-C2FCAB3633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8193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3472" y="0"/>
            <a:ext cx="21122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645" y="1250975"/>
            <a:ext cx="2112235" cy="468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1052646" y="1250975"/>
            <a:ext cx="1056117" cy="468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63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3472" y="0"/>
            <a:ext cx="21122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14" y="3909054"/>
            <a:ext cx="1260665" cy="279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47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533123"/>
            <a:ext cx="12192000" cy="23248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5391415" y="3813043"/>
            <a:ext cx="1440160" cy="144016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409" y="4013590"/>
            <a:ext cx="468171" cy="103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44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3523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4861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91344" y="123479"/>
            <a:ext cx="11809312" cy="6611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1797032"/>
            <a:ext cx="2880320" cy="249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103893" y="1797032"/>
            <a:ext cx="2880320" cy="249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207787" y="1797032"/>
            <a:ext cx="2880320" cy="249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9311680" y="1797032"/>
            <a:ext cx="2880320" cy="249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4293096"/>
            <a:ext cx="2880000" cy="2112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Rectangle 11"/>
          <p:cNvSpPr/>
          <p:nvPr userDrawn="1"/>
        </p:nvSpPr>
        <p:spPr>
          <a:xfrm>
            <a:off x="3104000" y="4293096"/>
            <a:ext cx="2880000" cy="2112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3" name="Rectangle 12"/>
          <p:cNvSpPr/>
          <p:nvPr userDrawn="1"/>
        </p:nvSpPr>
        <p:spPr>
          <a:xfrm>
            <a:off x="6208000" y="4293096"/>
            <a:ext cx="2880000" cy="2112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4" name="Rectangle 13"/>
          <p:cNvSpPr/>
          <p:nvPr userDrawn="1"/>
        </p:nvSpPr>
        <p:spPr>
          <a:xfrm>
            <a:off x="9312000" y="4293096"/>
            <a:ext cx="2880000" cy="2112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615810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909485"/>
            <a:ext cx="12192000" cy="29485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701" y="1508787"/>
            <a:ext cx="9640360" cy="490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017974" y="2168343"/>
            <a:ext cx="4620289" cy="34168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623392" y="4485118"/>
            <a:ext cx="4032448" cy="134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62279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2346339"/>
            <a:ext cx="12192000" cy="29485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944" y="1389641"/>
            <a:ext cx="3825696" cy="463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40416" y="1566977"/>
            <a:ext cx="1344149" cy="34081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524359" y="1681512"/>
            <a:ext cx="2206355" cy="34081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663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4079776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6480043" y="0"/>
            <a:ext cx="48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3" name="Rectangle 2"/>
          <p:cNvSpPr/>
          <p:nvPr userDrawn="1"/>
        </p:nvSpPr>
        <p:spPr>
          <a:xfrm>
            <a:off x="6528043" y="1749000"/>
            <a:ext cx="240000" cy="3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495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92000" cy="41021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075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175787" y="242176"/>
            <a:ext cx="801621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175787" y="1010261"/>
            <a:ext cx="801621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4079776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95293" y="1508787"/>
            <a:ext cx="4079776" cy="5349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7520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48680"/>
            <a:ext cx="8592277" cy="5760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80829" y="260650"/>
            <a:ext cx="2592288" cy="63367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965139" y="260650"/>
            <a:ext cx="2592288" cy="63367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749448" y="260650"/>
            <a:ext cx="2592288" cy="63367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3289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592277" y="356659"/>
            <a:ext cx="2880000" cy="28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592277" y="3621021"/>
            <a:ext cx="2880000" cy="28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14951" y="356659"/>
            <a:ext cx="2880000" cy="28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14951" y="3621021"/>
            <a:ext cx="2880000" cy="28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970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27381" y="4389107"/>
            <a:ext cx="11664619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27381" y="5157192"/>
            <a:ext cx="11664619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23392" y="452669"/>
            <a:ext cx="4416171" cy="37440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27915" y="452669"/>
            <a:ext cx="6240693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327915" y="2420765"/>
            <a:ext cx="1920000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7488261" y="2420765"/>
            <a:ext cx="1920000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9648608" y="2420765"/>
            <a:ext cx="1920000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6054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3870010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472011" y="1508786"/>
            <a:ext cx="3799787" cy="4865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709243" y="1796667"/>
            <a:ext cx="144693" cy="4320631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3456857" y="1650935"/>
            <a:ext cx="669775" cy="669775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45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D5C1F7-19AF-40BC-98F8-18EEB6348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B00E7E4-7392-4B71-B0E1-0E84D2CF8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3F5933-0483-4D7F-BF24-E7B42A47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ADFF-73E6-46D2-A058-E5EE0F854344}" type="datetimeFigureOut">
              <a:rPr lang="zh-TW" altLang="en-US" smtClean="0"/>
              <a:t>2023/8/5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5A97F9-C203-4806-A662-BAB5A6C0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F49A48-613D-4670-B480-70003354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63D2-2EF5-4D08-9A8B-76B71DC36B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969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499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6" r:id="rId17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billy_pai@hotmail.com" TargetMode="Externa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tm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8.tmp"/><Relationship Id="rId4" Type="http://schemas.openxmlformats.org/officeDocument/2006/relationships/image" Target="../media/image27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1.tm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tmp"/><Relationship Id="rId3" Type="http://schemas.openxmlformats.org/officeDocument/2006/relationships/image" Target="../media/image35.tmp"/><Relationship Id="rId7" Type="http://schemas.openxmlformats.org/officeDocument/2006/relationships/image" Target="../media/image39.tmp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8.tmp"/><Relationship Id="rId5" Type="http://schemas.openxmlformats.org/officeDocument/2006/relationships/image" Target="../media/image37.tmp"/><Relationship Id="rId4" Type="http://schemas.openxmlformats.org/officeDocument/2006/relationships/image" Target="../media/image36.tm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mp"/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3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mp"/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mp"/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7.tm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mp"/><Relationship Id="rId2" Type="http://schemas.openxmlformats.org/officeDocument/2006/relationships/image" Target="../media/image48.tmp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1.tmp"/><Relationship Id="rId4" Type="http://schemas.openxmlformats.org/officeDocument/2006/relationships/image" Target="../media/image50.tm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tmp"/><Relationship Id="rId2" Type="http://schemas.openxmlformats.org/officeDocument/2006/relationships/image" Target="../media/image52.tmp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5.tmp"/><Relationship Id="rId4" Type="http://schemas.openxmlformats.org/officeDocument/2006/relationships/image" Target="../media/image54.tm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mp"/><Relationship Id="rId2" Type="http://schemas.openxmlformats.org/officeDocument/2006/relationships/image" Target="../media/image57.tmp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0.tmp"/><Relationship Id="rId4" Type="http://schemas.openxmlformats.org/officeDocument/2006/relationships/image" Target="../media/image59.tmp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tmp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tmp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tmp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tmp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tmp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tmp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tmp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tmp"/><Relationship Id="rId2" Type="http://schemas.openxmlformats.org/officeDocument/2006/relationships/image" Target="../media/image69.tmp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tmp"/><Relationship Id="rId7" Type="http://schemas.openxmlformats.org/officeDocument/2006/relationships/image" Target="../media/image76.tmp"/><Relationship Id="rId2" Type="http://schemas.openxmlformats.org/officeDocument/2006/relationships/image" Target="../media/image71.tmp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5.tmp"/><Relationship Id="rId5" Type="http://schemas.openxmlformats.org/officeDocument/2006/relationships/image" Target="../media/image74.tmp"/><Relationship Id="rId4" Type="http://schemas.openxmlformats.org/officeDocument/2006/relationships/image" Target="../media/image73.tm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tmp"/><Relationship Id="rId2" Type="http://schemas.openxmlformats.org/officeDocument/2006/relationships/image" Target="../media/image77.tmp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tmp"/><Relationship Id="rId2" Type="http://schemas.openxmlformats.org/officeDocument/2006/relationships/image" Target="../media/image79.tmp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3.tmp"/><Relationship Id="rId5" Type="http://schemas.openxmlformats.org/officeDocument/2006/relationships/image" Target="../media/image82.tmp"/><Relationship Id="rId4" Type="http://schemas.openxmlformats.org/officeDocument/2006/relationships/image" Target="../media/image81.tm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tmp"/><Relationship Id="rId2" Type="http://schemas.openxmlformats.org/officeDocument/2006/relationships/image" Target="../media/image79.tmp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6.tmp"/><Relationship Id="rId4" Type="http://schemas.openxmlformats.org/officeDocument/2006/relationships/image" Target="../media/image85.tmp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tmp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tmp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tmp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tmp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tmp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tmp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tmp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tmp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tmp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8C8136-5A46-4162-92F6-768CDAD2B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自媒體行銷班</a:t>
            </a:r>
            <a:br>
              <a:rPr lang="en-US" altLang="zh-TW" dirty="0"/>
            </a:br>
            <a:r>
              <a:rPr lang="zh-TW" altLang="en-US" dirty="0"/>
              <a:t>創新策略課程</a:t>
            </a:r>
            <a:br>
              <a:rPr lang="en-US" altLang="zh-TW" dirty="0"/>
            </a:br>
            <a:r>
              <a:rPr lang="zh-TW" altLang="en-US" dirty="0"/>
              <a:t>第一次創意提案</a:t>
            </a:r>
            <a:r>
              <a:rPr lang="en-US" altLang="zh-TW" dirty="0"/>
              <a:t>-</a:t>
            </a:r>
            <a:r>
              <a:rPr lang="zh-TW" altLang="en-US" dirty="0"/>
              <a:t>擇優提案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953E2AF-B685-4663-85FE-58960209A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白乃遠 老師</a:t>
            </a:r>
            <a:endParaRPr lang="en-US" altLang="zh-TW" dirty="0"/>
          </a:p>
          <a:p>
            <a:r>
              <a:rPr lang="en-US" altLang="zh-TW" dirty="0"/>
              <a:t>Line</a:t>
            </a:r>
            <a:r>
              <a:rPr lang="zh-TW" altLang="en-US" dirty="0"/>
              <a:t>：</a:t>
            </a:r>
            <a:r>
              <a:rPr lang="en-US" altLang="zh-TW" dirty="0" err="1"/>
              <a:t>billy_pai</a:t>
            </a:r>
            <a:endParaRPr lang="en-US" altLang="zh-TW" dirty="0"/>
          </a:p>
          <a:p>
            <a:r>
              <a:rPr lang="en-US" altLang="zh-TW" dirty="0"/>
              <a:t>Mail</a:t>
            </a:r>
            <a:r>
              <a:rPr lang="zh-TW" altLang="en-US" dirty="0"/>
              <a:t>：</a:t>
            </a:r>
            <a:r>
              <a:rPr lang="en-US" altLang="zh-TW" dirty="0">
                <a:hlinkClick r:id="rId2"/>
              </a:rPr>
              <a:t>billy_pai@hotmail.com</a:t>
            </a:r>
            <a:endParaRPr lang="en-US" altLang="zh-TW" dirty="0"/>
          </a:p>
          <a:p>
            <a:r>
              <a:rPr lang="en-US" altLang="zh-TW" dirty="0"/>
              <a:t>Facebook</a:t>
            </a:r>
            <a:r>
              <a:rPr lang="zh-TW" altLang="en-US" dirty="0"/>
              <a:t>：</a:t>
            </a:r>
            <a:r>
              <a:rPr lang="en-US" altLang="zh-TW" dirty="0"/>
              <a:t>PAI</a:t>
            </a:r>
            <a:r>
              <a:rPr lang="zh-TW" altLang="en-US" dirty="0"/>
              <a:t> </a:t>
            </a:r>
            <a:r>
              <a:rPr lang="en-US" altLang="zh-TW" dirty="0"/>
              <a:t>XIAO</a:t>
            </a:r>
            <a:r>
              <a:rPr lang="zh-TW" altLang="en-US" dirty="0"/>
              <a:t> </a:t>
            </a:r>
            <a:r>
              <a:rPr lang="en-US" altLang="zh-TW" dirty="0"/>
              <a:t>PAI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2472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張富貴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584A472-B7B4-451B-BAD5-3AB3697AC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061" y="267481"/>
            <a:ext cx="8742851" cy="65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9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張富貴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D13F6B2-CD41-4F49-9404-C4ED8E111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062" y="385453"/>
            <a:ext cx="8542826" cy="640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56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劉素卿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35DC34F-D4D3-40B6-B8ED-8A78F2752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360" y="852256"/>
            <a:ext cx="10266473" cy="592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82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劉素卿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CA7F0CA-F2B4-4268-BD48-D35E0942C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711" y="980842"/>
            <a:ext cx="10507729" cy="573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19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林志達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1C89BF9-F479-41C8-94B4-F75E2B4F0658}"/>
              </a:ext>
            </a:extLst>
          </p:cNvPr>
          <p:cNvSpPr txBox="1"/>
          <p:nvPr/>
        </p:nvSpPr>
        <p:spPr>
          <a:xfrm>
            <a:off x="232996" y="1172646"/>
            <a:ext cx="5524866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/>
              <a:t>主題：空閒農地提供給經濟弱勢民眾種植作物</a:t>
            </a:r>
            <a:r>
              <a:rPr lang="en-US" altLang="zh-TW" sz="3600" dirty="0"/>
              <a:t>01</a:t>
            </a:r>
          </a:p>
          <a:p>
            <a:r>
              <a:rPr lang="en-US" altLang="zh-TW" sz="2400" b="1" dirty="0"/>
              <a:t>1.</a:t>
            </a:r>
            <a:r>
              <a:rPr lang="zh-TW" altLang="en-US" sz="2400" b="1" dirty="0"/>
              <a:t>發現問題</a:t>
            </a:r>
            <a:endParaRPr lang="en-US" altLang="zh-TW" sz="2400" b="1" dirty="0"/>
          </a:p>
          <a:p>
            <a:r>
              <a:rPr lang="zh-TW" altLang="en-US" sz="2000" dirty="0"/>
              <a:t>經濟較差的家庭，有時會有三餐不濟的問題，如何提供給有需求的家庭溫飽</a:t>
            </a:r>
            <a:r>
              <a:rPr lang="en-US" altLang="zh-TW" sz="2000" dirty="0"/>
              <a:t>?</a:t>
            </a:r>
            <a:endParaRPr lang="zh-TW" altLang="en-US" sz="2000" dirty="0"/>
          </a:p>
          <a:p>
            <a:r>
              <a:rPr lang="en-US" altLang="zh-TW" sz="2400" b="1" dirty="0"/>
              <a:t>2.</a:t>
            </a:r>
            <a:r>
              <a:rPr lang="zh-TW" altLang="en-US" sz="2400" b="1" dirty="0"/>
              <a:t>解決問題</a:t>
            </a:r>
            <a:r>
              <a:rPr lang="en-US" altLang="zh-TW" sz="2400" b="1" dirty="0"/>
              <a:t>-</a:t>
            </a:r>
            <a:r>
              <a:rPr lang="zh-TW" altLang="en-US" sz="2400" b="1" dirty="0"/>
              <a:t>創意發想</a:t>
            </a:r>
            <a:r>
              <a:rPr lang="en-US" altLang="zh-TW" sz="2400" b="1" dirty="0"/>
              <a:t>1</a:t>
            </a:r>
          </a:p>
          <a:p>
            <a:endParaRPr lang="zh-TW" altLang="en-US" sz="2800" dirty="0"/>
          </a:p>
        </p:txBody>
      </p: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FE9A2A89-6677-4BD2-B656-BF6DBD04A1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011357"/>
              </p:ext>
            </p:extLst>
          </p:nvPr>
        </p:nvGraphicFramePr>
        <p:xfrm>
          <a:off x="306221" y="3809369"/>
          <a:ext cx="5524866" cy="2958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622">
                  <a:extLst>
                    <a:ext uri="{9D8B030D-6E8A-4147-A177-3AD203B41FA5}">
                      <a16:colId xmlns:a16="http://schemas.microsoft.com/office/drawing/2014/main" val="3357300093"/>
                    </a:ext>
                  </a:extLst>
                </a:gridCol>
                <a:gridCol w="1841622">
                  <a:extLst>
                    <a:ext uri="{9D8B030D-6E8A-4147-A177-3AD203B41FA5}">
                      <a16:colId xmlns:a16="http://schemas.microsoft.com/office/drawing/2014/main" val="1432430402"/>
                    </a:ext>
                  </a:extLst>
                </a:gridCol>
                <a:gridCol w="1841622">
                  <a:extLst>
                    <a:ext uri="{9D8B030D-6E8A-4147-A177-3AD203B41FA5}">
                      <a16:colId xmlns:a16="http://schemas.microsoft.com/office/drawing/2014/main" val="1286952282"/>
                    </a:ext>
                  </a:extLst>
                </a:gridCol>
              </a:tblGrid>
              <a:tr h="1118534"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請企業提供打工機會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即期品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政府舉辦活動時，成為工作人員，可換取便當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50282"/>
                  </a:ext>
                </a:extLst>
              </a:tr>
              <a:tr h="823787"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提供空閒農地，自給自足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rgbClr val="FF0000"/>
                          </a:solidFill>
                        </a:rPr>
                        <a:t>經濟弱勢家庭，三餐不濟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請餐廳提供剩餘的飯菜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65686"/>
                  </a:ext>
                </a:extLst>
              </a:tr>
              <a:tr h="823787"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政府發餐卷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以勞力換取餐點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愛心待用餐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07122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9C4ADE38-7228-4645-B466-DD4E264160A1}"/>
              </a:ext>
            </a:extLst>
          </p:cNvPr>
          <p:cNvSpPr txBox="1"/>
          <p:nvPr/>
        </p:nvSpPr>
        <p:spPr>
          <a:xfrm>
            <a:off x="5996385" y="3279371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2.</a:t>
            </a:r>
            <a:r>
              <a:rPr lang="zh-TW" altLang="en-US" sz="2400" b="1" dirty="0"/>
              <a:t>解決問題</a:t>
            </a:r>
            <a:r>
              <a:rPr lang="en-US" altLang="zh-TW" sz="2400" b="1" dirty="0"/>
              <a:t>-</a:t>
            </a:r>
            <a:r>
              <a:rPr lang="zh-TW" altLang="en-US" sz="2400" b="1" dirty="0"/>
              <a:t>創意發想</a:t>
            </a:r>
            <a:r>
              <a:rPr lang="en-US" altLang="zh-TW" sz="2400" b="1" dirty="0"/>
              <a:t>2</a:t>
            </a:r>
            <a:endParaRPr lang="zh-TW" altLang="en-US" sz="2400" b="1" dirty="0"/>
          </a:p>
        </p:txBody>
      </p:sp>
      <p:graphicFrame>
        <p:nvGraphicFramePr>
          <p:cNvPr id="11" name="表格 4">
            <a:extLst>
              <a:ext uri="{FF2B5EF4-FFF2-40B4-BE49-F238E27FC236}">
                <a16:creationId xmlns:a16="http://schemas.microsoft.com/office/drawing/2014/main" id="{047010DD-27B7-49BC-A258-8D7BD64908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898858"/>
              </p:ext>
            </p:extLst>
          </p:nvPr>
        </p:nvGraphicFramePr>
        <p:xfrm>
          <a:off x="6096000" y="3809369"/>
          <a:ext cx="5894388" cy="2962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796">
                  <a:extLst>
                    <a:ext uri="{9D8B030D-6E8A-4147-A177-3AD203B41FA5}">
                      <a16:colId xmlns:a16="http://schemas.microsoft.com/office/drawing/2014/main" val="3357300093"/>
                    </a:ext>
                  </a:extLst>
                </a:gridCol>
                <a:gridCol w="1964796">
                  <a:extLst>
                    <a:ext uri="{9D8B030D-6E8A-4147-A177-3AD203B41FA5}">
                      <a16:colId xmlns:a16="http://schemas.microsoft.com/office/drawing/2014/main" val="1432430402"/>
                    </a:ext>
                  </a:extLst>
                </a:gridCol>
                <a:gridCol w="1964796">
                  <a:extLst>
                    <a:ext uri="{9D8B030D-6E8A-4147-A177-3AD203B41FA5}">
                      <a16:colId xmlns:a16="http://schemas.microsoft.com/office/drawing/2014/main" val="1286952282"/>
                    </a:ext>
                  </a:extLst>
                </a:gridCol>
              </a:tblGrid>
              <a:tr h="950372"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空閒農地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請私人提供空閒土地或空間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可以用盆栽種植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50282"/>
                  </a:ext>
                </a:extLst>
              </a:tr>
              <a:tr h="999170"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輔導種植高經濟價值作物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>
                          <a:solidFill>
                            <a:srgbClr val="FF0000"/>
                          </a:solidFill>
                        </a:rPr>
                        <a:t>提供空閒農地，自給自足</a:t>
                      </a:r>
                    </a:p>
                    <a:p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協助和業者合作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65686"/>
                  </a:ext>
                </a:extLst>
              </a:tr>
              <a:tr h="988990"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魚菜共生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由相關政府單位提供種植技術指導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0" dirty="0">
                          <a:solidFill>
                            <a:schemeClr val="tx1"/>
                          </a:solidFill>
                        </a:rPr>
                        <a:t>種植收成期短的作物</a:t>
                      </a:r>
                    </a:p>
                  </a:txBody>
                  <a:tcPr marL="74750" marR="7475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07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291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林志達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1C89BF9-F479-41C8-94B4-F75E2B4F0658}"/>
              </a:ext>
            </a:extLst>
          </p:cNvPr>
          <p:cNvSpPr txBox="1"/>
          <p:nvPr/>
        </p:nvSpPr>
        <p:spPr>
          <a:xfrm>
            <a:off x="232996" y="1172646"/>
            <a:ext cx="552486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/>
              <a:t>主題：空閒農地提供給經濟弱勢民眾種植作物</a:t>
            </a:r>
            <a:r>
              <a:rPr lang="en-US" altLang="zh-TW" sz="3600" dirty="0"/>
              <a:t>02</a:t>
            </a:r>
          </a:p>
          <a:p>
            <a:endParaRPr lang="zh-TW" altLang="en-US" sz="28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E7D7D08-1D2D-4980-9A86-603BC2E263AB}"/>
              </a:ext>
            </a:extLst>
          </p:cNvPr>
          <p:cNvSpPr txBox="1"/>
          <p:nvPr/>
        </p:nvSpPr>
        <p:spPr>
          <a:xfrm>
            <a:off x="240510" y="2631922"/>
            <a:ext cx="619363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2.</a:t>
            </a:r>
            <a:r>
              <a:rPr lang="zh-TW" altLang="en-US" sz="2400" b="1" dirty="0"/>
              <a:t>解決問題</a:t>
            </a:r>
            <a:endParaRPr lang="en-US" altLang="zh-TW" sz="2400" b="1" dirty="0"/>
          </a:p>
          <a:p>
            <a:r>
              <a:rPr lang="zh-TW" altLang="en-US" sz="2800" b="1" dirty="0"/>
              <a:t>請民間提供空閒農地或空閒空間開發成農地</a:t>
            </a:r>
            <a:endParaRPr lang="en-US" altLang="zh-TW" sz="2800" b="1" dirty="0"/>
          </a:p>
          <a:p>
            <a:r>
              <a:rPr lang="zh-TW" altLang="en-US" sz="2400" dirty="0"/>
              <a:t>地點：空閒農地</a:t>
            </a:r>
            <a:r>
              <a:rPr lang="zh-TW" altLang="en-US" sz="2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、都市中的空閒空間</a:t>
            </a:r>
            <a:endParaRPr lang="en-US" altLang="zh-TW" sz="2400" dirty="0"/>
          </a:p>
          <a:p>
            <a:r>
              <a:rPr lang="zh-TW" altLang="en-US" sz="2400" dirty="0"/>
              <a:t>作法：請民間提供空閒農地、空地、沒人使用的頂樓當作農田，以免稅或減稅的方式提供誘因。可以使用盆栽種植，並發展魚菜共生來增加經濟價值，由政府有關單位定期參訪農田，根據所在地點提供種植建議，並由政府提供需要器具。</a:t>
            </a:r>
          </a:p>
          <a:p>
            <a:endParaRPr lang="zh-TW" altLang="en-US" sz="24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6DAB26F-932F-46B2-B587-45B198EACD77}"/>
              </a:ext>
            </a:extLst>
          </p:cNvPr>
          <p:cNvSpPr txBox="1"/>
          <p:nvPr/>
        </p:nvSpPr>
        <p:spPr>
          <a:xfrm>
            <a:off x="6728589" y="1172646"/>
            <a:ext cx="523041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3.</a:t>
            </a:r>
            <a:r>
              <a:rPr lang="zh-TW" altLang="en-US" sz="2400" b="1" dirty="0"/>
              <a:t>創新特色</a:t>
            </a:r>
            <a:endParaRPr lang="en-US" altLang="zh-TW" sz="2400" b="1" dirty="0"/>
          </a:p>
          <a:p>
            <a:r>
              <a:rPr lang="zh-TW" altLang="en-US" sz="2400" dirty="0"/>
              <a:t>活用空閒土地與空間。</a:t>
            </a:r>
            <a:endParaRPr lang="en-US" altLang="zh-TW" sz="2400" dirty="0"/>
          </a:p>
          <a:p>
            <a:r>
              <a:rPr lang="zh-TW" altLang="en-US" sz="2400" dirty="0"/>
              <a:t>提升糧食自給率。</a:t>
            </a:r>
            <a:endParaRPr lang="en-US" altLang="zh-TW" sz="2400" dirty="0"/>
          </a:p>
          <a:p>
            <a:r>
              <a:rPr lang="zh-TW" altLang="en-US" sz="2400" dirty="0"/>
              <a:t>讓有經濟需求的人除了自己自足外，甚至可以販售。</a:t>
            </a:r>
            <a:endParaRPr lang="en-US" altLang="zh-TW" sz="2400" dirty="0"/>
          </a:p>
          <a:p>
            <a:r>
              <a:rPr lang="zh-TW" altLang="en-US" sz="2400" dirty="0"/>
              <a:t>讓參加者學習農業技術，增加技能。</a:t>
            </a:r>
            <a:endParaRPr lang="en-US" altLang="zh-TW" sz="2400" dirty="0"/>
          </a:p>
          <a:p>
            <a:r>
              <a:rPr lang="zh-TW" altLang="en-US" sz="2400" dirty="0"/>
              <a:t>提供農業輔導增加種植成功率。</a:t>
            </a:r>
            <a:endParaRPr lang="en-US" altLang="zh-TW" sz="2400" dirty="0"/>
          </a:p>
          <a:p>
            <a:r>
              <a:rPr lang="zh-TW" altLang="en-US" sz="2400" dirty="0"/>
              <a:t>提供媒合，參加後有意願的人可以轉職成農民。</a:t>
            </a:r>
            <a:endParaRPr lang="en-US" altLang="zh-TW" sz="2400" dirty="0"/>
          </a:p>
          <a:p>
            <a:r>
              <a:rPr lang="zh-TW" altLang="en-US" sz="2400" dirty="0"/>
              <a:t>給魚不如教他釣魚，使其能自立。</a:t>
            </a:r>
            <a:endParaRPr lang="en-US" altLang="zh-TW" sz="2400" dirty="0"/>
          </a:p>
          <a:p>
            <a:r>
              <a:rPr lang="zh-TW" altLang="en-US" sz="2400" dirty="0"/>
              <a:t>降低務農的門檻。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400" b="1" dirty="0"/>
              <a:t>4.</a:t>
            </a:r>
            <a:r>
              <a:rPr lang="zh-TW" altLang="en-US" sz="2400" b="1" dirty="0"/>
              <a:t>類似創新</a:t>
            </a:r>
            <a:endParaRPr lang="en-US" altLang="zh-TW" sz="2400" b="1" dirty="0"/>
          </a:p>
          <a:p>
            <a:r>
              <a:rPr lang="zh-TW" altLang="en-US" sz="2400" dirty="0"/>
              <a:t>台中市的開心農場</a:t>
            </a:r>
          </a:p>
          <a:p>
            <a:endParaRPr lang="zh-TW" altLang="en-US" sz="2400" b="1" dirty="0"/>
          </a:p>
          <a:p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4567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吳孟樺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42704E7-7C37-4654-B6BA-1BACD66F4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73" y="852256"/>
            <a:ext cx="10988027" cy="586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55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吳孟樺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B92C404-DF69-4539-A34A-8F16B86A4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89" y="852256"/>
            <a:ext cx="11020974" cy="591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07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許育慈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4F60ECB-1BE0-4DAB-A45E-44086E7680FC}"/>
              </a:ext>
            </a:extLst>
          </p:cNvPr>
          <p:cNvSpPr txBox="1"/>
          <p:nvPr/>
        </p:nvSpPr>
        <p:spPr>
          <a:xfrm>
            <a:off x="232997" y="1001197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/>
              <a:t>喝水提醒計畫提案</a:t>
            </a:r>
            <a:r>
              <a:rPr lang="en-US" altLang="zh-TW" sz="3600" dirty="0"/>
              <a:t>01</a:t>
            </a:r>
            <a:endParaRPr lang="zh-TW" altLang="en-US" sz="3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EF3C42B-DC0B-4C77-8420-0122AC291F0B}"/>
              </a:ext>
            </a:extLst>
          </p:cNvPr>
          <p:cNvSpPr txBox="1"/>
          <p:nvPr/>
        </p:nvSpPr>
        <p:spPr>
          <a:xfrm>
            <a:off x="346473" y="1820668"/>
            <a:ext cx="522565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01.</a:t>
            </a:r>
            <a:r>
              <a:rPr lang="zh-TW" altLang="en-US" sz="2400" b="1" dirty="0"/>
              <a:t>發現問題：</a:t>
            </a:r>
            <a:br>
              <a:rPr lang="zh-TW" altLang="en-US" dirty="0"/>
            </a:br>
            <a:r>
              <a:rPr lang="zh-TW" altLang="en-US" dirty="0"/>
              <a:t>現代社會大家都十分忙碌，常常會忘記要定時補充水分，雖然市面上有智慧水杯但是還是會忘記喝水，缺乏實作動力</a:t>
            </a:r>
          </a:p>
          <a:p>
            <a:br>
              <a:rPr lang="zh-TW" altLang="en-US" dirty="0"/>
            </a:br>
            <a:r>
              <a:rPr lang="en-US" altLang="zh-TW" sz="2400" b="1" dirty="0"/>
              <a:t>02.</a:t>
            </a:r>
            <a:r>
              <a:rPr lang="zh-TW" altLang="en-US" sz="2400" b="1" dirty="0"/>
              <a:t>解決問題：</a:t>
            </a:r>
            <a:br>
              <a:rPr lang="zh-TW" altLang="en-US" dirty="0"/>
            </a:br>
            <a:r>
              <a:rPr lang="zh-TW" altLang="en-US" dirty="0"/>
              <a:t>水壺結合</a:t>
            </a:r>
            <a:r>
              <a:rPr lang="en-US" altLang="zh-TW" dirty="0"/>
              <a:t>APP</a:t>
            </a:r>
            <a:r>
              <a:rPr lang="zh-TW" altLang="en-US" dirty="0"/>
              <a:t>做喝水提醒，另外搭配上獎勵制度，提高使用的興趣，在水壺部分可以有自動鎖定的功能，如倒入一天所需的水分就會自動鎖定瓶蓋，直到喝完才能獲取獎勵。</a:t>
            </a:r>
          </a:p>
          <a:p>
            <a:br>
              <a:rPr lang="zh-TW" altLang="en-US" dirty="0"/>
            </a:br>
            <a:r>
              <a:rPr lang="en-US" altLang="zh-TW" sz="2400" b="1" dirty="0"/>
              <a:t>03.</a:t>
            </a:r>
            <a:r>
              <a:rPr lang="zh-TW" altLang="en-US" sz="2400" b="1" dirty="0"/>
              <a:t>創新特色：</a:t>
            </a:r>
            <a:br>
              <a:rPr lang="zh-TW" altLang="en-US" dirty="0"/>
            </a:br>
            <a:r>
              <a:rPr lang="zh-TW" altLang="en-US" dirty="0"/>
              <a:t>目前市面上的水壺較多是結合</a:t>
            </a:r>
            <a:r>
              <a:rPr lang="en-US" altLang="zh-TW" dirty="0"/>
              <a:t>APP</a:t>
            </a:r>
            <a:r>
              <a:rPr lang="zh-TW" altLang="en-US" dirty="0"/>
              <a:t>的單純提醒喝水，基本上還是容易忘記，所以可以搭配上獎勵制度，例如喝水種樹</a:t>
            </a:r>
            <a:r>
              <a:rPr lang="en-US" altLang="zh-TW" dirty="0"/>
              <a:t>APP</a:t>
            </a:r>
            <a:r>
              <a:rPr lang="zh-TW" altLang="en-US" dirty="0"/>
              <a:t>、喝水收集徽章、喝水換優惠，讓常忘記喝水的人更有動力去執行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F4537C0-E025-483A-AFBF-12B4A2CF5CED}"/>
              </a:ext>
            </a:extLst>
          </p:cNvPr>
          <p:cNvSpPr txBox="1"/>
          <p:nvPr/>
        </p:nvSpPr>
        <p:spPr>
          <a:xfrm>
            <a:off x="5717015" y="494629"/>
            <a:ext cx="5597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結合APP提升喝水動力的三種方式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A71EB53-6626-4F3A-9D4E-E1BC6957AF13}"/>
              </a:ext>
            </a:extLst>
          </p:cNvPr>
          <p:cNvSpPr txBox="1"/>
          <p:nvPr/>
        </p:nvSpPr>
        <p:spPr>
          <a:xfrm>
            <a:off x="5717015" y="1265549"/>
            <a:ext cx="635592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b="1" dirty="0">
                <a:solidFill>
                  <a:srgbClr val="FF0000"/>
                </a:solidFill>
              </a:rPr>
              <a:t>1.</a:t>
            </a:r>
            <a:r>
              <a:rPr lang="zh-TW" altLang="en-US" sz="2200" b="1" dirty="0">
                <a:solidFill>
                  <a:srgbClr val="FF0000"/>
                </a:solidFill>
              </a:rPr>
              <a:t>喝水種樹</a:t>
            </a:r>
            <a:r>
              <a:rPr lang="en-US" altLang="zh-TW" sz="2200" b="1" dirty="0">
                <a:solidFill>
                  <a:srgbClr val="FF0000"/>
                </a:solidFill>
              </a:rPr>
              <a:t>APP-</a:t>
            </a:r>
            <a:r>
              <a:rPr lang="zh-TW" altLang="en-US" sz="2200" dirty="0"/>
              <a:t>結合智慧水杯的水分偵測系統及遊戲</a:t>
            </a:r>
            <a:r>
              <a:rPr lang="en-US" altLang="zh-TW" sz="2200" dirty="0"/>
              <a:t>APP</a:t>
            </a:r>
            <a:r>
              <a:rPr lang="zh-TW" altLang="en-US" sz="2200" dirty="0"/>
              <a:t>，喝水的同時可以在遊戲裡面種樹，種出各式各樣的樹，讓大家在喝水的同時也能玩遊戲。</a:t>
            </a:r>
            <a:endParaRPr lang="en-US" altLang="zh-TW" sz="2200" dirty="0"/>
          </a:p>
          <a:p>
            <a:endParaRPr lang="zh-TW" altLang="en-US" sz="2200" dirty="0"/>
          </a:p>
          <a:p>
            <a:r>
              <a:rPr lang="en-US" altLang="zh-TW" sz="2200" b="1" dirty="0">
                <a:solidFill>
                  <a:srgbClr val="FF0000"/>
                </a:solidFill>
              </a:rPr>
              <a:t>2.</a:t>
            </a:r>
            <a:r>
              <a:rPr lang="zh-TW" altLang="en-US" sz="2200" b="1" dirty="0">
                <a:solidFill>
                  <a:srgbClr val="FF0000"/>
                </a:solidFill>
              </a:rPr>
              <a:t>喝水收集獎勵物</a:t>
            </a:r>
            <a:r>
              <a:rPr lang="zh-TW" altLang="en-US" sz="2200" dirty="0"/>
              <a:t>，裝扮個性化人物</a:t>
            </a:r>
            <a:r>
              <a:rPr lang="en-US" altLang="zh-TW" sz="2200" dirty="0"/>
              <a:t>-</a:t>
            </a:r>
            <a:r>
              <a:rPr lang="zh-TW" altLang="en-US" sz="2200" dirty="0"/>
              <a:t>結合智慧水杯的水分偵測系統及</a:t>
            </a:r>
            <a:r>
              <a:rPr lang="en-US" altLang="zh-TW" sz="2200" dirty="0"/>
              <a:t>APP</a:t>
            </a:r>
            <a:r>
              <a:rPr lang="zh-TW" altLang="en-US" sz="2200" dirty="0"/>
              <a:t>，可以每天記錄喝水的情況，達成一定目標可以獲得各式的獎勵物，如</a:t>
            </a:r>
            <a:r>
              <a:rPr lang="en-US" altLang="zh-TW" sz="2200" dirty="0"/>
              <a:t>:</a:t>
            </a:r>
            <a:r>
              <a:rPr lang="zh-TW" altLang="en-US" sz="2200" dirty="0"/>
              <a:t>徽章、獎盃、虛擬人物的裝扮</a:t>
            </a:r>
            <a:r>
              <a:rPr lang="en-US" altLang="zh-TW" sz="2200" dirty="0"/>
              <a:t>(</a:t>
            </a:r>
            <a:r>
              <a:rPr lang="zh-TW" altLang="en-US" sz="2200" dirty="0"/>
              <a:t>紙娃娃系統</a:t>
            </a:r>
            <a:r>
              <a:rPr lang="en-US" altLang="zh-TW" sz="2200" dirty="0"/>
              <a:t>)</a:t>
            </a:r>
            <a:r>
              <a:rPr lang="zh-TW" altLang="en-US" sz="2200" dirty="0"/>
              <a:t>，另外結合社群系統，可以跟大家分享喝水的相關知識或是聊天。</a:t>
            </a:r>
            <a:endParaRPr lang="en-US" altLang="zh-TW" sz="2200" dirty="0"/>
          </a:p>
          <a:p>
            <a:endParaRPr lang="zh-TW" altLang="en-US" sz="2200" dirty="0"/>
          </a:p>
          <a:p>
            <a:r>
              <a:rPr lang="en-US" altLang="zh-TW" sz="2200" b="1" dirty="0">
                <a:solidFill>
                  <a:srgbClr val="FF0000"/>
                </a:solidFill>
              </a:rPr>
              <a:t>3.</a:t>
            </a:r>
            <a:r>
              <a:rPr lang="zh-TW" altLang="en-US" sz="2200" b="1" dirty="0">
                <a:solidFill>
                  <a:srgbClr val="FF0000"/>
                </a:solidFill>
              </a:rPr>
              <a:t>喝水兌換優惠</a:t>
            </a:r>
            <a:r>
              <a:rPr lang="en-US" altLang="zh-TW" sz="2200" dirty="0"/>
              <a:t>-</a:t>
            </a:r>
            <a:r>
              <a:rPr lang="zh-TW" altLang="en-US" sz="2200" dirty="0"/>
              <a:t>結合智慧水杯的水分偵測系統及</a:t>
            </a:r>
            <a:r>
              <a:rPr lang="en-US" altLang="zh-TW" sz="2200" dirty="0"/>
              <a:t>APP-</a:t>
            </a:r>
            <a:r>
              <a:rPr lang="zh-TW" altLang="en-US" sz="2200" dirty="0"/>
              <a:t>藉由喝水來累積點數，可以換取對應優惠</a:t>
            </a:r>
            <a:r>
              <a:rPr lang="en-US" altLang="zh-TW" sz="2200" dirty="0"/>
              <a:t>(</a:t>
            </a:r>
            <a:r>
              <a:rPr lang="zh-TW" altLang="en-US" sz="2200" dirty="0"/>
              <a:t>優惠部分不一定是要實質物品，也可以是各合作廠商的優惠券，這樣除了可以讓喝水的人有動力，在廠商方面也可以增加曝光度達到廣告效果</a:t>
            </a:r>
            <a:r>
              <a:rPr lang="en-US" altLang="zh-TW" sz="2200" dirty="0"/>
              <a:t>)</a:t>
            </a:r>
            <a:r>
              <a:rPr lang="zh-TW" altLang="en-US" sz="2200" dirty="0"/>
              <a:t>。</a:t>
            </a: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2233671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許育慈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4F60ECB-1BE0-4DAB-A45E-44086E7680FC}"/>
              </a:ext>
            </a:extLst>
          </p:cNvPr>
          <p:cNvSpPr txBox="1"/>
          <p:nvPr/>
        </p:nvSpPr>
        <p:spPr>
          <a:xfrm>
            <a:off x="2133234" y="98864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/>
              <a:t>喝水提醒計畫提案</a:t>
            </a:r>
            <a:r>
              <a:rPr lang="en-US" altLang="zh-TW" sz="3600" dirty="0"/>
              <a:t>02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D071731-C81A-4DBC-A52B-8F590021B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234" y="710720"/>
            <a:ext cx="9477009" cy="594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56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許瑞玲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C5E29B8-FA9C-4C43-B6AA-6FF1A8529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473" y="852256"/>
            <a:ext cx="10635251" cy="57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59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許瑞玲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589DE35-C6BC-42BA-A96A-CB12117AE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79" y="874391"/>
            <a:ext cx="11078159" cy="571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20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陳泓伶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ECE1269-FF2A-47F6-90B1-1386F242E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19" y="852256"/>
            <a:ext cx="11374370" cy="587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5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陳禎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1DE6BED-1BAC-47C2-9B50-C4A516167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029" y="852255"/>
            <a:ext cx="10562859" cy="594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33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陳禎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FD59D35-4F56-41E2-9F9D-ECD73F31B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042" y="793815"/>
            <a:ext cx="10634296" cy="606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45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陳禎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F232B65-215A-4BDA-8106-9CBD4C867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78" y="559868"/>
            <a:ext cx="10678425" cy="634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79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賴君文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3F4FF8C-873A-4F0D-8E52-3F5900724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881190"/>
            <a:ext cx="7223722" cy="298702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DB2A613-393F-4698-8BBA-A8AA46EE6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4018410"/>
            <a:ext cx="8583223" cy="257210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664E20B-5939-4EB2-B509-F80B12A69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128" y="185483"/>
            <a:ext cx="4333875" cy="209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97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嚴以敏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DCD8B78-CB74-429B-822E-AA9C0E136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117" y="817742"/>
            <a:ext cx="10382758" cy="591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236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李承蓉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B4122FC-388A-4693-ACAB-F573E797C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99" y="852256"/>
            <a:ext cx="5268323" cy="287678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9AF61EE-9151-46FE-966B-87CC6BBFF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99" y="3875722"/>
            <a:ext cx="5268323" cy="290884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FF96299-C981-4334-92F0-6D2FD6065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614" y="871756"/>
            <a:ext cx="5268323" cy="285728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DFDA3B9-6043-46B3-AE1B-55AC34BA64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614" y="3840061"/>
            <a:ext cx="5268323" cy="2944508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DDE3D2F1-AF48-47A5-8192-00AD8A734E0D}"/>
              </a:ext>
            </a:extLst>
          </p:cNvPr>
          <p:cNvSpPr txBox="1"/>
          <p:nvPr/>
        </p:nvSpPr>
        <p:spPr>
          <a:xfrm>
            <a:off x="2867158" y="336001"/>
            <a:ext cx="609361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zh-TW" altLang="en-US" sz="2400" b="1" dirty="0">
                <a:latin typeface="Calibri"/>
                <a:ea typeface="Calibri"/>
                <a:cs typeface="Calibri"/>
                <a:sym typeface="Calibri"/>
              </a:rPr>
              <a:t>提案</a:t>
            </a:r>
            <a:r>
              <a:rPr lang="en-US" altLang="zh-TW" sz="2400" b="1" dirty="0">
                <a:latin typeface="Calibri"/>
                <a:ea typeface="Calibri"/>
                <a:cs typeface="Calibri"/>
                <a:sym typeface="Calibri"/>
              </a:rPr>
              <a:t>01</a:t>
            </a:r>
            <a:r>
              <a:rPr lang="zh-TW" altLang="en-US" sz="2400" b="1" dirty="0">
                <a:latin typeface="Calibri"/>
                <a:ea typeface="Calibri"/>
                <a:cs typeface="Calibri"/>
                <a:sym typeface="Calibri"/>
              </a:rPr>
              <a:t>：全自動紀錄植物生長圖表系統</a:t>
            </a:r>
          </a:p>
        </p:txBody>
      </p:sp>
    </p:spTree>
    <p:extLst>
      <p:ext uri="{BB962C8B-B14F-4D97-AF65-F5344CB8AC3E}">
        <p14:creationId xmlns:p14="http://schemas.microsoft.com/office/powerpoint/2010/main" val="332047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王俊惟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2BEC47E-6BBF-4978-B3EB-FEC0AB788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47" y="852256"/>
            <a:ext cx="4424728" cy="195350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E96D093-2891-4401-9DEC-A924785E1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85" y="2861425"/>
            <a:ext cx="4539029" cy="238162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555CD95-EE2D-4F86-A05B-1E1EC12C4E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165" y="1536308"/>
            <a:ext cx="7182988" cy="446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04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王俊惟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B41629F-9D77-4EA4-8CFB-B03C25A7E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27" y="984825"/>
            <a:ext cx="11664374" cy="560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43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吳旭茹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8F40DC0-73C6-4989-9F31-45B65CEC9205}"/>
              </a:ext>
            </a:extLst>
          </p:cNvPr>
          <p:cNvSpPr txBox="1"/>
          <p:nvPr/>
        </p:nvSpPr>
        <p:spPr>
          <a:xfrm>
            <a:off x="232997" y="958334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/>
              <a:t>管委會中秋節討論議題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6CFA01B-7DB8-4E92-B63A-761659D2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539" y="1419999"/>
            <a:ext cx="7714151" cy="51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23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吳旭茹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8F40DC0-73C6-4989-9F31-45B65CEC9205}"/>
              </a:ext>
            </a:extLst>
          </p:cNvPr>
          <p:cNvSpPr txBox="1"/>
          <p:nvPr/>
        </p:nvSpPr>
        <p:spPr>
          <a:xfrm>
            <a:off x="232997" y="958334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/>
              <a:t>管委會中秋節討論議題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D7764FA-8FA1-4B55-93D9-71E21840C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88" y="3995020"/>
            <a:ext cx="2643674" cy="221153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7C85E06-DA0E-4658-9E78-081B38FD5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214" y="3995020"/>
            <a:ext cx="2688160" cy="226873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16F8B89-DD39-4B41-97FD-3658A32FE5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4028" y="2484758"/>
            <a:ext cx="2631227" cy="226873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F101A5F-F65C-45BA-BD7B-FFEBED26DA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45" y="1419999"/>
            <a:ext cx="2688160" cy="227703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98DE5C7-1E20-4F08-851B-2F3FEB3441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364" y="1348226"/>
            <a:ext cx="2643674" cy="227306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A510C8A6-F011-4CC1-BE30-94FD501B50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364" y="4000622"/>
            <a:ext cx="2620129" cy="226313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616BC461-985C-4CD0-84DF-6B013E3174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245" y="1414462"/>
            <a:ext cx="2620129" cy="224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74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李璟瑤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8339205-F7D1-4BEA-8480-8E1B2F046A26}"/>
              </a:ext>
            </a:extLst>
          </p:cNvPr>
          <p:cNvSpPr txBox="1"/>
          <p:nvPr/>
        </p:nvSpPr>
        <p:spPr>
          <a:xfrm>
            <a:off x="232997" y="852256"/>
            <a:ext cx="41675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標楷體" pitchFamily="65" charset="-120"/>
                <a:ea typeface="標楷體" pitchFamily="65" charset="-120"/>
              </a:rPr>
              <a:t>清新空氣 </a:t>
            </a:r>
            <a:r>
              <a:rPr lang="en-US" altLang="zh-TW" sz="3200" b="1" dirty="0">
                <a:latin typeface="標楷體" pitchFamily="65" charset="-120"/>
                <a:ea typeface="標楷體" pitchFamily="65" charset="-120"/>
              </a:rPr>
              <a:t>/ </a:t>
            </a:r>
            <a:r>
              <a:rPr lang="zh-TW" altLang="en-US" sz="3200" b="1" dirty="0">
                <a:latin typeface="標楷體" pitchFamily="65" charset="-120"/>
                <a:ea typeface="標楷體" pitchFamily="65" charset="-120"/>
              </a:rPr>
              <a:t>你我有權</a:t>
            </a:r>
            <a:endParaRPr lang="zh-TW" altLang="en-US" sz="3200" b="1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75163FA-37C8-4976-968B-B898034D9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51" y="1538057"/>
            <a:ext cx="3624628" cy="223950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A65B22E-006B-475D-8F7F-6C113E919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671" y="1437031"/>
            <a:ext cx="8263329" cy="532214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A1347083-F0A9-47F5-BE6E-C778883073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41" y="3777560"/>
            <a:ext cx="3982006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19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李璟瑤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8339205-F7D1-4BEA-8480-8E1B2F046A26}"/>
              </a:ext>
            </a:extLst>
          </p:cNvPr>
          <p:cNvSpPr txBox="1"/>
          <p:nvPr/>
        </p:nvSpPr>
        <p:spPr>
          <a:xfrm>
            <a:off x="232997" y="852256"/>
            <a:ext cx="41675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標楷體" pitchFamily="65" charset="-120"/>
                <a:ea typeface="標楷體" pitchFamily="65" charset="-120"/>
              </a:rPr>
              <a:t>清新空氣 </a:t>
            </a:r>
            <a:r>
              <a:rPr lang="en-US" altLang="zh-TW" sz="3200" b="1" dirty="0">
                <a:latin typeface="標楷體" pitchFamily="65" charset="-120"/>
                <a:ea typeface="標楷體" pitchFamily="65" charset="-120"/>
              </a:rPr>
              <a:t>/ </a:t>
            </a:r>
            <a:r>
              <a:rPr lang="zh-TW" altLang="en-US" sz="3200" b="1" dirty="0">
                <a:latin typeface="標楷體" pitchFamily="65" charset="-120"/>
                <a:ea typeface="標楷體" pitchFamily="65" charset="-120"/>
              </a:rPr>
              <a:t>你我有權</a:t>
            </a:r>
            <a:endParaRPr lang="zh-TW" altLang="en-US" sz="3200" b="1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A1347083-F0A9-47F5-BE6E-C77888307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6" y="1475388"/>
            <a:ext cx="5863004" cy="504947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E90F85C-1851-49F8-8680-8D6BC6C11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1475389"/>
            <a:ext cx="5851861" cy="504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22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李璟瑤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8339205-F7D1-4BEA-8480-8E1B2F046A26}"/>
              </a:ext>
            </a:extLst>
          </p:cNvPr>
          <p:cNvSpPr txBox="1"/>
          <p:nvPr/>
        </p:nvSpPr>
        <p:spPr>
          <a:xfrm>
            <a:off x="232997" y="852256"/>
            <a:ext cx="41675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標楷體" pitchFamily="65" charset="-120"/>
                <a:ea typeface="標楷體" pitchFamily="65" charset="-120"/>
              </a:rPr>
              <a:t>清新空氣 </a:t>
            </a:r>
            <a:r>
              <a:rPr lang="en-US" altLang="zh-TW" sz="3200" b="1" dirty="0">
                <a:latin typeface="標楷體" pitchFamily="65" charset="-120"/>
                <a:ea typeface="標楷體" pitchFamily="65" charset="-120"/>
              </a:rPr>
              <a:t>/ </a:t>
            </a:r>
            <a:r>
              <a:rPr lang="zh-TW" altLang="en-US" sz="3200" b="1" dirty="0">
                <a:latin typeface="標楷體" pitchFamily="65" charset="-120"/>
                <a:ea typeface="標楷體" pitchFamily="65" charset="-120"/>
              </a:rPr>
              <a:t>你我有權</a:t>
            </a:r>
            <a:endParaRPr lang="zh-TW" altLang="en-US" sz="3200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A902B2D-D56D-4769-8581-8771C9E85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1552405"/>
            <a:ext cx="5611008" cy="243874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045EBB4-D9EC-4067-80E1-E61E619CB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6" y="4271988"/>
            <a:ext cx="5585503" cy="24387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960277B-C051-4DEE-A9F1-EBADB9B77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83871"/>
            <a:ext cx="5601249" cy="449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69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李璟瑤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8339205-F7D1-4BEA-8480-8E1B2F046A26}"/>
              </a:ext>
            </a:extLst>
          </p:cNvPr>
          <p:cNvSpPr txBox="1"/>
          <p:nvPr/>
        </p:nvSpPr>
        <p:spPr>
          <a:xfrm>
            <a:off x="232997" y="852256"/>
            <a:ext cx="41675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標楷體" pitchFamily="65" charset="-120"/>
                <a:ea typeface="標楷體" pitchFamily="65" charset="-120"/>
              </a:rPr>
              <a:t>清新空氣 </a:t>
            </a:r>
            <a:r>
              <a:rPr lang="en-US" altLang="zh-TW" sz="3200" b="1" dirty="0">
                <a:latin typeface="標楷體" pitchFamily="65" charset="-120"/>
                <a:ea typeface="標楷體" pitchFamily="65" charset="-120"/>
              </a:rPr>
              <a:t>/ </a:t>
            </a:r>
            <a:r>
              <a:rPr lang="zh-TW" altLang="en-US" sz="3200" b="1" dirty="0">
                <a:latin typeface="標楷體" pitchFamily="65" charset="-120"/>
                <a:ea typeface="標楷體" pitchFamily="65" charset="-120"/>
              </a:rPr>
              <a:t>你我有權</a:t>
            </a:r>
            <a:endParaRPr lang="zh-TW" altLang="en-US" sz="3200" b="1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0215F49-B837-4836-979C-8C06D6251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711" y="0"/>
            <a:ext cx="6620163" cy="668146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BB87911-AEE9-435E-8F33-866269B1F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1437031"/>
            <a:ext cx="4424363" cy="226969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612BB10-0293-42FC-935E-CBC0D10130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3857105"/>
            <a:ext cx="2995978" cy="286916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48A569F-002B-4BDC-874D-915D003E45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159" y="4804116"/>
            <a:ext cx="4353844" cy="18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29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沈稚穎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04E2669-B07D-44DE-95DA-476F4195A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6" y="852256"/>
            <a:ext cx="7324231" cy="587715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51EF600-28B0-4D8B-9561-73922BAB5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885" y="363463"/>
            <a:ext cx="4394074" cy="231956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36332B8-F370-4F29-B4A6-CE6325CEF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379" y="2783058"/>
            <a:ext cx="4430580" cy="2015551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EE3B7F6-0F03-4B91-B279-6F6F7FD3A6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472" y="4898635"/>
            <a:ext cx="4470393" cy="182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95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林依嫻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25C97A8-B89B-494A-8651-66E6A1AC7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569" y="852256"/>
            <a:ext cx="10591434" cy="58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02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施俞旭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AD00CB3-711E-4AE2-9B2F-99433D164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742" y="2818043"/>
            <a:ext cx="8296937" cy="403995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50E8B93-9910-48A6-BA13-D5D09ACD6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245" y="100013"/>
            <a:ext cx="9202434" cy="252447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F9FD211-8A62-4D65-B30B-96851C90A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415" y="2065210"/>
            <a:ext cx="2838816" cy="167711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BCD42E7-9AF8-4A0B-BA41-7FF16D993F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2200492"/>
            <a:ext cx="4790523" cy="155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53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施俞旭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A1DD69D-AA79-444B-B544-629721AF4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634" y="130991"/>
            <a:ext cx="9844618" cy="659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590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施俞旭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B6B00E-99D2-4C2D-856A-EA9EECBB3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752243"/>
            <a:ext cx="11641708" cy="600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745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施俞旭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E044E29-E926-4BF9-BF16-26F6FB226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87" y="852256"/>
            <a:ext cx="10825826" cy="575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82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施俞旭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DF4341-2A88-4404-851A-70B365F4D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19" y="852256"/>
            <a:ext cx="11265676" cy="59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168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施俞旭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50B529C-08C2-4257-B372-4D22F1A89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1052200"/>
            <a:ext cx="11974104" cy="55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62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張雅筑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0C661B3-4AA9-409A-B20C-04254E5C7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062" y="267481"/>
            <a:ext cx="9415028" cy="659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561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張雅筑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16CC89C-2AC7-4625-A185-FC97AA659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062" y="149652"/>
            <a:ext cx="9406351" cy="655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2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莊承彥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45AA9B1-3015-40A0-A011-BE8EE0574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73" y="852256"/>
            <a:ext cx="11183229" cy="575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94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陳瑩珍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A28DE41-6778-4414-BBD9-50044DE33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61" y="1266593"/>
            <a:ext cx="6941193" cy="477701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BA397E8-51B8-4D74-BECC-530C04B60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054" y="1266593"/>
            <a:ext cx="4863649" cy="477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7423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陳瑩珍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F3391BE-E377-4A0B-A595-5E88B5547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942516"/>
            <a:ext cx="3553126" cy="268650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D62A910-26E9-4065-A2F0-1BC4E8562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3895312"/>
            <a:ext cx="3705742" cy="296268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E365BDC-472B-4999-81D5-1B4C39E10A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123" y="267481"/>
            <a:ext cx="4086795" cy="321037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DF4F0EB-8D6A-47A7-8BE3-41DDE65B8D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678" y="267481"/>
            <a:ext cx="3863325" cy="326136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8DFB802-E072-4855-8D70-522FEBFD0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536" y="3629025"/>
            <a:ext cx="4496427" cy="322942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39BBA22-89EA-4AB8-BA43-A37B4BB599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741" y="3629025"/>
            <a:ext cx="3457262" cy="265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053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陳瑩珍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5AA4177-5CA2-40C9-9BAD-4BAB5DCF2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84" y="1452339"/>
            <a:ext cx="5381916" cy="415987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C2A0F6D-037E-4884-92F9-143F41321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320" y="1452338"/>
            <a:ext cx="5475207" cy="426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121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賴柔伊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50D32A0-282A-49DC-A0B0-0746C3B0D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475" y="252402"/>
            <a:ext cx="4699488" cy="5927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7198730-C54D-470C-8FC1-9433B971B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8" y="1220233"/>
            <a:ext cx="5122023" cy="298556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E49A901-5AB5-4823-A12E-BA6EDA4F5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9" y="4279911"/>
            <a:ext cx="5122024" cy="252494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1EDC937-85DC-43DD-A7F9-B8E021A9A1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412" y="1800823"/>
            <a:ext cx="6781981" cy="334208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588B0DE-9B74-4561-9E2F-24F543F031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68" y="5486874"/>
            <a:ext cx="6673223" cy="10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803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賴柔伊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50D32A0-282A-49DC-A0B0-0746C3B0D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690" y="1928813"/>
            <a:ext cx="5758135" cy="72625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E251390-5402-4CF7-96DA-D4C861827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990378"/>
            <a:ext cx="5868319" cy="275334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C0032DA-86D3-4CAF-8F7E-7DBC26C10D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922" y="3281488"/>
            <a:ext cx="5944310" cy="351536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346F027-1B43-4080-B88F-FA71B966E8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84" y="3859213"/>
            <a:ext cx="4992996" cy="293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賴柔伊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FC39D95-EEBC-483F-A84D-AEDD63464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76" y="852256"/>
            <a:ext cx="11101927" cy="594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774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賴美如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B9FF32D-762D-40EF-9BA3-A6FDB541A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37" y="852256"/>
            <a:ext cx="11111328" cy="600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796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賴美如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2222DBD-CE9B-40DD-A890-012539E1F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816" y="267481"/>
            <a:ext cx="10263187" cy="6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4823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陳鳳真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D02D737-8119-4A81-B7C7-471B049F1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029" y="763527"/>
            <a:ext cx="10191384" cy="609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459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陳鳳真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0268A7B-7176-4D1F-BED7-F1845A949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028" y="827899"/>
            <a:ext cx="10677160" cy="594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047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詹瑋慈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6E77944-D33F-4C8D-8973-54228A3A93DB}"/>
              </a:ext>
            </a:extLst>
          </p:cNvPr>
          <p:cNvSpPr txBox="1"/>
          <p:nvPr/>
        </p:nvSpPr>
        <p:spPr>
          <a:xfrm>
            <a:off x="232997" y="960388"/>
            <a:ext cx="475334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前言：</a:t>
            </a:r>
          </a:p>
          <a:p>
            <a:r>
              <a:rPr lang="zh-TW" altLang="en-US" dirty="0"/>
              <a:t>自己以前曾在社會福利產業工作過，</a:t>
            </a:r>
          </a:p>
          <a:p>
            <a:r>
              <a:rPr lang="zh-TW" altLang="en-US" dirty="0"/>
              <a:t>雖然工作沒有到很長一段時間，</a:t>
            </a:r>
          </a:p>
          <a:p>
            <a:r>
              <a:rPr lang="zh-TW" altLang="en-US" dirty="0"/>
              <a:t>但是深深感受到因奶粉單價高，</a:t>
            </a:r>
          </a:p>
          <a:p>
            <a:r>
              <a:rPr lang="zh-TW" altLang="en-US" dirty="0"/>
              <a:t>在募資奶粉期間飽受缺貨之苦，</a:t>
            </a:r>
          </a:p>
          <a:p>
            <a:r>
              <a:rPr lang="zh-TW" altLang="en-US" dirty="0"/>
              <a:t>無法時常讓弱勢團體領取到適合家中小孩喝得奶粉，</a:t>
            </a:r>
          </a:p>
          <a:p>
            <a:r>
              <a:rPr lang="zh-TW" altLang="en-US" dirty="0"/>
              <a:t>導致小孩一餐不如一餐，</a:t>
            </a:r>
          </a:p>
          <a:p>
            <a:r>
              <a:rPr lang="zh-TW" altLang="en-US" dirty="0"/>
              <a:t>有時聽說一罐奶粉讓小孩撐著喝好幾個月</a:t>
            </a:r>
            <a:r>
              <a:rPr lang="en-US" altLang="zh-TW" dirty="0"/>
              <a:t>....</a:t>
            </a:r>
          </a:p>
          <a:p>
            <a:endParaRPr lang="en-US" altLang="zh-TW" dirty="0"/>
          </a:p>
          <a:p>
            <a:r>
              <a:rPr lang="zh-TW" altLang="en-US" dirty="0"/>
              <a:t>後言：</a:t>
            </a:r>
          </a:p>
          <a:p>
            <a:r>
              <a:rPr lang="zh-TW" altLang="en-US" dirty="0"/>
              <a:t>做了九宮格之後，依照目前的現況，</a:t>
            </a:r>
          </a:p>
          <a:p>
            <a:r>
              <a:rPr lang="zh-TW" altLang="en-US" dirty="0"/>
              <a:t>可能需要先以實體的參展、舉辦說明會或是</a:t>
            </a:r>
          </a:p>
          <a:p>
            <a:r>
              <a:rPr lang="zh-TW" altLang="en-US" dirty="0"/>
              <a:t>運用網路社群的力量讓大家知道這活動的初衷，</a:t>
            </a:r>
          </a:p>
          <a:p>
            <a:r>
              <a:rPr lang="zh-TW" altLang="en-US" dirty="0"/>
              <a:t>先從讓</a:t>
            </a:r>
            <a:r>
              <a:rPr lang="en-US" altLang="zh-TW" dirty="0"/>
              <a:t>"</a:t>
            </a:r>
            <a:r>
              <a:rPr lang="zh-TW" altLang="en-US" dirty="0"/>
              <a:t>大家認識我們</a:t>
            </a:r>
            <a:r>
              <a:rPr lang="en-US" altLang="zh-TW" dirty="0"/>
              <a:t>"</a:t>
            </a:r>
            <a:r>
              <a:rPr lang="zh-TW" altLang="en-US" dirty="0"/>
              <a:t>開始做起，</a:t>
            </a:r>
          </a:p>
          <a:p>
            <a:r>
              <a:rPr lang="zh-TW" altLang="en-US" dirty="0"/>
              <a:t>後續再慢慢聯合奶粉或是母嬰相關業者來舉辦活動，</a:t>
            </a:r>
          </a:p>
          <a:p>
            <a:r>
              <a:rPr lang="zh-TW" altLang="en-US" dirty="0"/>
              <a:t>讓活動能夠隨著時間越來越發酵，</a:t>
            </a:r>
          </a:p>
          <a:p>
            <a:r>
              <a:rPr lang="zh-TW" altLang="en-US" dirty="0"/>
              <a:t>也能慢慢減少弱勢團體家中小孩缺奶粉喝得問題。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5D672B5-2906-4E84-A15A-123CA0D5A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946" y="1689562"/>
            <a:ext cx="7318902" cy="4137227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C14D3A4-44B8-45B6-9BB9-2E69272756AA}"/>
              </a:ext>
            </a:extLst>
          </p:cNvPr>
          <p:cNvCxnSpPr/>
          <p:nvPr/>
        </p:nvCxnSpPr>
        <p:spPr>
          <a:xfrm>
            <a:off x="232997" y="3608832"/>
            <a:ext cx="438777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4714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曹維雯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3FF9654-CAF6-478B-B04D-49087A60F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88" y="1376140"/>
            <a:ext cx="11903823" cy="465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407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曹維雯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3B8CE5-0D7F-4789-8EFE-60DE58BF0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1099890"/>
            <a:ext cx="11860191" cy="517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085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C4DB73B4-0E2A-4F0B-806A-2DA7072F48EB}"/>
              </a:ext>
            </a:extLst>
          </p:cNvPr>
          <p:cNvSpPr txBox="1"/>
          <p:nvPr/>
        </p:nvSpPr>
        <p:spPr>
          <a:xfrm>
            <a:off x="232997" y="267481"/>
            <a:ext cx="1754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曹維雯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6EB3AF8-2D54-4CC5-B619-F4E347271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7" y="852256"/>
            <a:ext cx="11482753" cy="593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505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9AC48000-5E09-4B86-B0E1-DC1DA8EE72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124" y="681015"/>
            <a:ext cx="12192000" cy="768085"/>
          </a:xfrm>
        </p:spPr>
        <p:txBody>
          <a:bodyPr/>
          <a:lstStyle/>
          <a:p>
            <a:r>
              <a:rPr lang="zh-TW" altLang="en-US" dirty="0"/>
              <a:t>擇優說明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25EBE3-6044-4C08-8DC1-BC844572C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24" y="300420"/>
            <a:ext cx="12192000" cy="384043"/>
          </a:xfrm>
        </p:spPr>
        <p:txBody>
          <a:bodyPr/>
          <a:lstStyle/>
          <a:p>
            <a:r>
              <a:rPr lang="zh-TW" altLang="en-US" sz="2800" dirty="0"/>
              <a:t>第一次創新提案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0A4166B-2F24-4063-972D-0B132B741301}"/>
              </a:ext>
            </a:extLst>
          </p:cNvPr>
          <p:cNvSpPr txBox="1"/>
          <p:nvPr/>
        </p:nvSpPr>
        <p:spPr>
          <a:xfrm>
            <a:off x="432198" y="1540822"/>
            <a:ext cx="1139785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0070C0"/>
                </a:solidFill>
              </a:rPr>
              <a:t>1.</a:t>
            </a:r>
            <a:r>
              <a:rPr lang="zh-TW" altLang="en-US" sz="3200" b="1" dirty="0">
                <a:solidFill>
                  <a:srgbClr val="0070C0"/>
                </a:solidFill>
              </a:rPr>
              <a:t>創新提案擇優條件</a:t>
            </a:r>
            <a:r>
              <a:rPr lang="zh-TW" altLang="en-US" sz="3200" dirty="0"/>
              <a:t>：</a:t>
            </a:r>
            <a:endParaRPr lang="en-US" altLang="zh-TW" sz="3200" dirty="0"/>
          </a:p>
          <a:p>
            <a:r>
              <a:rPr lang="zh-TW" altLang="en-US" sz="3200" dirty="0"/>
              <a:t>具有實現可能、有啟發性、有機會申請專利</a:t>
            </a:r>
            <a:r>
              <a:rPr lang="en-US" altLang="zh-TW" sz="3200" dirty="0"/>
              <a:t>(</a:t>
            </a:r>
            <a:r>
              <a:rPr lang="zh-TW" altLang="en-US" sz="3200" dirty="0"/>
              <a:t>具備新穎性與進步性</a:t>
            </a:r>
            <a:r>
              <a:rPr lang="en-US" altLang="zh-TW" sz="3200" dirty="0"/>
              <a:t>)</a:t>
            </a:r>
            <a:r>
              <a:rPr lang="zh-TW" altLang="en-US" sz="3200" dirty="0"/>
              <a:t>，內容細節更為完整且具備創新思考工具輔助的提案。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en-US" altLang="zh-TW" sz="3200" b="1" dirty="0">
                <a:solidFill>
                  <a:srgbClr val="0070C0"/>
                </a:solidFill>
              </a:rPr>
              <a:t>2.</a:t>
            </a:r>
            <a:r>
              <a:rPr lang="zh-TW" altLang="en-US" sz="3200" b="1" dirty="0">
                <a:solidFill>
                  <a:srgbClr val="0070C0"/>
                </a:solidFill>
              </a:rPr>
              <a:t>創新提案擇優說明</a:t>
            </a:r>
            <a:r>
              <a:rPr lang="zh-TW" altLang="en-US" sz="3200" dirty="0"/>
              <a:t>：</a:t>
            </a:r>
            <a:endParaRPr lang="en-US" altLang="zh-TW" sz="3200" dirty="0"/>
          </a:p>
          <a:p>
            <a:r>
              <a:rPr lang="zh-TW" altLang="en-US" sz="3200" dirty="0"/>
              <a:t>這次提案大部分同學都有進行創新工具輔助思考，所提出的問題缺口也都很有創新價值，同時對應的解決方案也很具體，都有考量到科技支援與文化認同等考量，期待後續可以再加入整體策略與商業模式同步思考，主要習慣多面向考量思考，讓思維能逐步多面，增加提案內容完整與創新價值。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2788072190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2AEB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1165</Words>
  <Application>Microsoft Office PowerPoint</Application>
  <PresentationFormat>寬螢幕</PresentationFormat>
  <Paragraphs>139</Paragraphs>
  <Slides>54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61" baseType="lpstr">
      <vt:lpstr>Microsoft JhengHei UI</vt:lpstr>
      <vt:lpstr>Noto Sans Symbols</vt:lpstr>
      <vt:lpstr>微軟正黑體</vt:lpstr>
      <vt:lpstr>標楷體</vt:lpstr>
      <vt:lpstr>Arial</vt:lpstr>
      <vt:lpstr>Calibri</vt:lpstr>
      <vt:lpstr>Contents Slide Master</vt:lpstr>
      <vt:lpstr>自媒體行銷班 創新策略課程 第一次創意提案-擇優提案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自媒體行銷班 創新策略課程 第一次創意提案-擇優提案</dc:title>
  <dc:creator>白乃遠</dc:creator>
  <cp:lastModifiedBy>白乃遠</cp:lastModifiedBy>
  <cp:revision>34</cp:revision>
  <dcterms:created xsi:type="dcterms:W3CDTF">2022-11-10T16:25:24Z</dcterms:created>
  <dcterms:modified xsi:type="dcterms:W3CDTF">2023-08-05T12:34:07Z</dcterms:modified>
</cp:coreProperties>
</file>