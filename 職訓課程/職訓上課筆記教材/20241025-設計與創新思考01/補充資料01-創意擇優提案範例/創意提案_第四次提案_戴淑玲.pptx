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81" r:id="rId2"/>
    <p:sldId id="355" r:id="rId3"/>
    <p:sldId id="360" r:id="rId4"/>
    <p:sldId id="363" r:id="rId5"/>
    <p:sldId id="361" r:id="rId6"/>
    <p:sldId id="364" r:id="rId7"/>
    <p:sldId id="362" r:id="rId8"/>
    <p:sldId id="359" r:id="rId9"/>
    <p:sldId id="343" r:id="rId10"/>
    <p:sldId id="352" r:id="rId11"/>
    <p:sldId id="349" r:id="rId12"/>
    <p:sldId id="351" r:id="rId13"/>
    <p:sldId id="350" r:id="rId14"/>
    <p:sldId id="353" r:id="rId15"/>
    <p:sldId id="348" r:id="rId16"/>
    <p:sldId id="354" r:id="rId17"/>
    <p:sldId id="342" r:id="rId18"/>
    <p:sldId id="334" r:id="rId19"/>
    <p:sldId id="339" r:id="rId20"/>
    <p:sldId id="337" r:id="rId21"/>
    <p:sldId id="340" r:id="rId22"/>
    <p:sldId id="338" r:id="rId23"/>
    <p:sldId id="341" r:id="rId24"/>
    <p:sldId id="365" r:id="rId25"/>
    <p:sldId id="370" r:id="rId26"/>
    <p:sldId id="376" r:id="rId27"/>
    <p:sldId id="368" r:id="rId28"/>
    <p:sldId id="372" r:id="rId29"/>
    <p:sldId id="374" r:id="rId30"/>
    <p:sldId id="375" r:id="rId31"/>
    <p:sldId id="373" r:id="rId32"/>
    <p:sldId id="304" r:id="rId33"/>
  </p:sldIdLst>
  <p:sldSz cx="9144000" cy="5143500" type="screen16x9"/>
  <p:notesSz cx="9926638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orient="horz" pos="1053">
          <p15:clr>
            <a:srgbClr val="A4A3A4"/>
          </p15:clr>
        </p15:guide>
        <p15:guide id="3" pos="3844">
          <p15:clr>
            <a:srgbClr val="A4A3A4"/>
          </p15:clr>
        </p15:guide>
        <p15:guide id="4" pos="1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141">
          <p15:clr>
            <a:srgbClr val="A4A3A4"/>
          </p15:clr>
        </p15:guide>
        <p15:guide id="4" pos="312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179bc3c9dbae024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5BC49"/>
    <a:srgbClr val="062A3F"/>
    <a:srgbClr val="BF3420"/>
    <a:srgbClr val="FDA907"/>
    <a:srgbClr val="1A7BAE"/>
    <a:srgbClr val="1D8A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09" autoAdjust="0"/>
    <p:restoredTop sz="38980" autoAdjust="0"/>
  </p:normalViewPr>
  <p:slideViewPr>
    <p:cSldViewPr>
      <p:cViewPr varScale="1">
        <p:scale>
          <a:sx n="149" d="100"/>
          <a:sy n="149" d="100"/>
        </p:scale>
        <p:origin x="120" y="120"/>
      </p:cViewPr>
      <p:guideLst>
        <p:guide orient="horz" pos="2159"/>
        <p:guide orient="horz" pos="1053"/>
        <p:guide pos="3844"/>
        <p:guide pos="191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44" y="-84"/>
      </p:cViewPr>
      <p:guideLst>
        <p:guide orient="horz" pos="2880"/>
        <p:guide pos="2160"/>
        <p:guide orient="horz" pos="2141"/>
        <p:guide pos="3127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&#21508;&#26989;&#24288;&#21830;&#32887;&#32570;&#27010;&#27841;&#65293;&#25353;&#34892;&#26989;&#21450;&#21729;&#24037;&#35215;&#27169;&#20998;.xls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&#21508;&#26989;&#24288;&#21830;&#32887;&#32570;&#27010;&#27841;&#65293;&#25353;&#34892;&#26989;&#21450;&#21729;&#24037;&#35215;&#27169;&#20998;.xls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110-112</a:t>
            </a:r>
            <a:r>
              <a:rPr lang="zh-TW" altLang="en-US" dirty="0"/>
              <a:t>年職缺率狀況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工作表1!$I$2</c:f>
              <c:strCache>
                <c:ptCount val="1"/>
                <c:pt idx="0">
                  <c:v>職缺率
B/(A＋B)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工作表1!$J$1:$L$1</c:f>
              <c:numCache>
                <c:formatCode>General</c:formatCode>
                <c:ptCount val="3"/>
                <c:pt idx="0">
                  <c:v>11208</c:v>
                </c:pt>
                <c:pt idx="1">
                  <c:v>11108</c:v>
                </c:pt>
                <c:pt idx="2">
                  <c:v>11008</c:v>
                </c:pt>
              </c:numCache>
            </c:numRef>
          </c:cat>
          <c:val>
            <c:numRef>
              <c:f>工作表1!$J$2:$L$2</c:f>
              <c:numCache>
                <c:formatCode>General</c:formatCode>
                <c:ptCount val="3"/>
                <c:pt idx="0">
                  <c:v>2.4</c:v>
                </c:pt>
                <c:pt idx="1">
                  <c:v>2.2799999999999998</c:v>
                </c:pt>
                <c:pt idx="2">
                  <c:v>2.23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5A-4BF5-84E0-6934BC54D07F}"/>
            </c:ext>
          </c:extLst>
        </c:ser>
        <c:ser>
          <c:idx val="1"/>
          <c:order val="1"/>
          <c:tx>
            <c:strRef>
              <c:f>工作表1!$I$3</c:f>
              <c:strCache>
                <c:ptCount val="1"/>
                <c:pt idx="0">
                  <c:v>職缺率
(扣除短期職缺)
C/(A＋C)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工作表1!$J$1:$L$1</c:f>
              <c:numCache>
                <c:formatCode>General</c:formatCode>
                <c:ptCount val="3"/>
                <c:pt idx="0">
                  <c:v>11208</c:v>
                </c:pt>
                <c:pt idx="1">
                  <c:v>11108</c:v>
                </c:pt>
                <c:pt idx="2">
                  <c:v>11008</c:v>
                </c:pt>
              </c:numCache>
            </c:numRef>
          </c:cat>
          <c:val>
            <c:numRef>
              <c:f>工作表1!$J$3:$L$3</c:f>
              <c:numCache>
                <c:formatCode>General</c:formatCode>
                <c:ptCount val="3"/>
                <c:pt idx="0">
                  <c:v>1.79</c:v>
                </c:pt>
                <c:pt idx="1">
                  <c:v>1.6</c:v>
                </c:pt>
                <c:pt idx="2">
                  <c:v>1.33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5A-4BF5-84E0-6934BC54D0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78270448"/>
        <c:axId val="478271696"/>
      </c:barChart>
      <c:catAx>
        <c:axId val="478270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78271696"/>
        <c:crosses val="autoZero"/>
        <c:auto val="1"/>
        <c:lblAlgn val="ctr"/>
        <c:lblOffset val="100"/>
        <c:noMultiLvlLbl val="0"/>
      </c:catAx>
      <c:valAx>
        <c:axId val="478271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78270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110-112</a:t>
            </a:r>
            <a:r>
              <a:rPr lang="zh-TW" altLang="en-US" dirty="0"/>
              <a:t>年職缺率狀況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工作表1!$I$2</c:f>
              <c:strCache>
                <c:ptCount val="1"/>
                <c:pt idx="0">
                  <c:v>職缺率
B/(A＋B)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工作表1!$J$1:$L$1</c:f>
              <c:numCache>
                <c:formatCode>General</c:formatCode>
                <c:ptCount val="3"/>
                <c:pt idx="0">
                  <c:v>11208</c:v>
                </c:pt>
                <c:pt idx="1">
                  <c:v>11108</c:v>
                </c:pt>
                <c:pt idx="2">
                  <c:v>11008</c:v>
                </c:pt>
              </c:numCache>
            </c:numRef>
          </c:cat>
          <c:val>
            <c:numRef>
              <c:f>工作表1!$J$2:$L$2</c:f>
              <c:numCache>
                <c:formatCode>General</c:formatCode>
                <c:ptCount val="3"/>
                <c:pt idx="0">
                  <c:v>2.4</c:v>
                </c:pt>
                <c:pt idx="1">
                  <c:v>2.2799999999999998</c:v>
                </c:pt>
                <c:pt idx="2">
                  <c:v>2.23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5A-4BF5-84E0-6934BC54D07F}"/>
            </c:ext>
          </c:extLst>
        </c:ser>
        <c:ser>
          <c:idx val="1"/>
          <c:order val="1"/>
          <c:tx>
            <c:strRef>
              <c:f>工作表1!$I$3</c:f>
              <c:strCache>
                <c:ptCount val="1"/>
                <c:pt idx="0">
                  <c:v>職缺率
(扣除短期職缺)
C/(A＋C)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工作表1!$J$1:$L$1</c:f>
              <c:numCache>
                <c:formatCode>General</c:formatCode>
                <c:ptCount val="3"/>
                <c:pt idx="0">
                  <c:v>11208</c:v>
                </c:pt>
                <c:pt idx="1">
                  <c:v>11108</c:v>
                </c:pt>
                <c:pt idx="2">
                  <c:v>11008</c:v>
                </c:pt>
              </c:numCache>
            </c:numRef>
          </c:cat>
          <c:val>
            <c:numRef>
              <c:f>工作表1!$J$3:$L$3</c:f>
              <c:numCache>
                <c:formatCode>General</c:formatCode>
                <c:ptCount val="3"/>
                <c:pt idx="0">
                  <c:v>1.79</c:v>
                </c:pt>
                <c:pt idx="1">
                  <c:v>1.6</c:v>
                </c:pt>
                <c:pt idx="2">
                  <c:v>1.33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5A-4BF5-84E0-6934BC54D0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78270448"/>
        <c:axId val="478271696"/>
      </c:barChart>
      <c:catAx>
        <c:axId val="478270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78271696"/>
        <c:crosses val="autoZero"/>
        <c:auto val="1"/>
        <c:lblAlgn val="ctr"/>
        <c:lblOffset val="100"/>
        <c:noMultiLvlLbl val="0"/>
      </c:catAx>
      <c:valAx>
        <c:axId val="478271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78270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B44759-C9C4-405C-A8D9-B3BFD6D41FD7}" type="doc">
      <dgm:prSet loTypeId="urn:microsoft.com/office/officeart/2005/8/layout/chevron1" loCatId="process" qsTypeId="urn:microsoft.com/office/officeart/2005/8/quickstyle/simple1" qsCatId="simple" csTypeId="urn:microsoft.com/office/officeart/2005/8/colors/colorful4" csCatId="colorful" phldr="1"/>
      <dgm:spPr/>
    </dgm:pt>
    <dgm:pt modelId="{1DB43B92-2409-45D2-BCFC-2DC7983B861A}">
      <dgm:prSet phldrT="[文字]"/>
      <dgm:spPr/>
      <dgm:t>
        <a:bodyPr/>
        <a:lstStyle/>
        <a:p>
          <a:r>
            <a:rPr lang="zh-TW" altLang="en-US" dirty="0"/>
            <a:t>百貨公司</a:t>
          </a:r>
          <a:endParaRPr lang="en-US" altLang="zh-TW" dirty="0"/>
        </a:p>
        <a:p>
          <a:r>
            <a:rPr lang="zh-TW" altLang="en-US" dirty="0"/>
            <a:t>吹冷氣閒逛</a:t>
          </a:r>
        </a:p>
      </dgm:t>
    </dgm:pt>
    <dgm:pt modelId="{DE5A460B-2CD6-40E3-9FEC-C0A76E8018CA}" type="parTrans" cxnId="{6AD06498-5D20-48B0-8A39-11CB7185D39E}">
      <dgm:prSet/>
      <dgm:spPr/>
      <dgm:t>
        <a:bodyPr/>
        <a:lstStyle/>
        <a:p>
          <a:endParaRPr lang="zh-TW" altLang="en-US"/>
        </a:p>
      </dgm:t>
    </dgm:pt>
    <dgm:pt modelId="{0BC2EA14-5E6B-4CE1-BD23-8F8E9760BD77}" type="sibTrans" cxnId="{6AD06498-5D20-48B0-8A39-11CB7185D39E}">
      <dgm:prSet/>
      <dgm:spPr/>
      <dgm:t>
        <a:bodyPr/>
        <a:lstStyle/>
        <a:p>
          <a:endParaRPr lang="zh-TW" altLang="en-US"/>
        </a:p>
      </dgm:t>
    </dgm:pt>
    <dgm:pt modelId="{9CE16A7E-5ADB-43D1-AACE-CA449EBDE269}">
      <dgm:prSet phldrT="[文字]"/>
      <dgm:spPr/>
      <dgm:t>
        <a:bodyPr/>
        <a:lstStyle/>
        <a:p>
          <a:r>
            <a:rPr lang="zh-TW" altLang="en-US" dirty="0"/>
            <a:t>找尋</a:t>
          </a:r>
          <a:endParaRPr lang="en-US" altLang="zh-TW" dirty="0"/>
        </a:p>
        <a:p>
          <a:r>
            <a:rPr lang="zh-TW" altLang="en-US" dirty="0"/>
            <a:t>可以買的東西</a:t>
          </a:r>
        </a:p>
      </dgm:t>
    </dgm:pt>
    <dgm:pt modelId="{8137D8EC-6748-46A6-A5ED-86A22CCCBDC6}" type="parTrans" cxnId="{6A46BB2A-5801-40D9-80BE-591ABE87D3BF}">
      <dgm:prSet/>
      <dgm:spPr/>
      <dgm:t>
        <a:bodyPr/>
        <a:lstStyle/>
        <a:p>
          <a:endParaRPr lang="zh-TW" altLang="en-US"/>
        </a:p>
      </dgm:t>
    </dgm:pt>
    <dgm:pt modelId="{F4859B53-1B7F-4ADB-A2BB-E6AD4C388F12}" type="sibTrans" cxnId="{6A46BB2A-5801-40D9-80BE-591ABE87D3BF}">
      <dgm:prSet/>
      <dgm:spPr/>
      <dgm:t>
        <a:bodyPr/>
        <a:lstStyle/>
        <a:p>
          <a:endParaRPr lang="zh-TW" altLang="en-US"/>
        </a:p>
      </dgm:t>
    </dgm:pt>
    <dgm:pt modelId="{5D77D30F-EEE2-44BC-B5E5-AA7147D2B4B7}">
      <dgm:prSet phldrT="[文字]"/>
      <dgm:spPr/>
      <dgm:t>
        <a:bodyPr/>
        <a:lstStyle/>
        <a:p>
          <a:r>
            <a:rPr lang="zh-TW" altLang="en-US" dirty="0"/>
            <a:t>評估優惠方案</a:t>
          </a:r>
        </a:p>
      </dgm:t>
    </dgm:pt>
    <dgm:pt modelId="{D46CD859-3C06-463C-8E69-E3BBAE33C20B}" type="parTrans" cxnId="{CD911778-9D03-4D56-98AB-2AB8F3FAE20C}">
      <dgm:prSet/>
      <dgm:spPr/>
      <dgm:t>
        <a:bodyPr/>
        <a:lstStyle/>
        <a:p>
          <a:endParaRPr lang="zh-TW" altLang="en-US"/>
        </a:p>
      </dgm:t>
    </dgm:pt>
    <dgm:pt modelId="{3A8063CB-A9D0-4A26-906D-2FDF2E42A4FF}" type="sibTrans" cxnId="{CD911778-9D03-4D56-98AB-2AB8F3FAE20C}">
      <dgm:prSet/>
      <dgm:spPr/>
      <dgm:t>
        <a:bodyPr/>
        <a:lstStyle/>
        <a:p>
          <a:endParaRPr lang="zh-TW" altLang="en-US"/>
        </a:p>
      </dgm:t>
    </dgm:pt>
    <dgm:pt modelId="{A090073B-2248-4B9D-83E6-21BE309892F1}">
      <dgm:prSet phldrT="[文字]"/>
      <dgm:spPr/>
      <dgm:t>
        <a:bodyPr/>
        <a:lstStyle/>
        <a:p>
          <a:r>
            <a:rPr lang="zh-TW" altLang="en-US" dirty="0"/>
            <a:t>聆聽介紹</a:t>
          </a:r>
        </a:p>
      </dgm:t>
    </dgm:pt>
    <dgm:pt modelId="{94CF6C8C-8978-4A54-ABF1-0097B953A6D8}" type="parTrans" cxnId="{2C7F5E9A-4F4E-4A48-B146-5362B0009611}">
      <dgm:prSet/>
      <dgm:spPr/>
      <dgm:t>
        <a:bodyPr/>
        <a:lstStyle/>
        <a:p>
          <a:endParaRPr lang="zh-TW" altLang="en-US"/>
        </a:p>
      </dgm:t>
    </dgm:pt>
    <dgm:pt modelId="{0115089B-3572-4279-9688-FBA0BAAE38EE}" type="sibTrans" cxnId="{2C7F5E9A-4F4E-4A48-B146-5362B0009611}">
      <dgm:prSet/>
      <dgm:spPr/>
      <dgm:t>
        <a:bodyPr/>
        <a:lstStyle/>
        <a:p>
          <a:endParaRPr lang="zh-TW" altLang="en-US"/>
        </a:p>
      </dgm:t>
    </dgm:pt>
    <dgm:pt modelId="{872FFB51-C509-46D0-A1C1-795C0EEE492A}" type="pres">
      <dgm:prSet presAssocID="{26B44759-C9C4-405C-A8D9-B3BFD6D41FD7}" presName="Name0" presStyleCnt="0">
        <dgm:presLayoutVars>
          <dgm:dir/>
          <dgm:animLvl val="lvl"/>
          <dgm:resizeHandles val="exact"/>
        </dgm:presLayoutVars>
      </dgm:prSet>
      <dgm:spPr/>
    </dgm:pt>
    <dgm:pt modelId="{494FCD7D-8E4D-45AC-A40C-D55D7C11B03B}" type="pres">
      <dgm:prSet presAssocID="{1DB43B92-2409-45D2-BCFC-2DC7983B861A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2009450-4CD1-4373-896A-0B4A3937A89D}" type="pres">
      <dgm:prSet presAssocID="{0BC2EA14-5E6B-4CE1-BD23-8F8E9760BD77}" presName="parTxOnlySpace" presStyleCnt="0"/>
      <dgm:spPr/>
    </dgm:pt>
    <dgm:pt modelId="{A95E96C0-C73E-4FBD-94F1-18C23640EDCA}" type="pres">
      <dgm:prSet presAssocID="{9CE16A7E-5ADB-43D1-AACE-CA449EBDE269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ED9C613-6913-473E-8ED9-45F3CB514E4A}" type="pres">
      <dgm:prSet presAssocID="{F4859B53-1B7F-4ADB-A2BB-E6AD4C388F12}" presName="parTxOnlySpace" presStyleCnt="0"/>
      <dgm:spPr/>
    </dgm:pt>
    <dgm:pt modelId="{78ACE06B-9F66-41E5-B8CB-983086CCD329}" type="pres">
      <dgm:prSet presAssocID="{5D77D30F-EEE2-44BC-B5E5-AA7147D2B4B7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665F9ED-495B-45BA-8EC3-8061A7350774}" type="pres">
      <dgm:prSet presAssocID="{3A8063CB-A9D0-4A26-906D-2FDF2E42A4FF}" presName="parTxOnlySpace" presStyleCnt="0"/>
      <dgm:spPr/>
    </dgm:pt>
    <dgm:pt modelId="{AE145FCC-10ED-4789-9A4D-A5B09398B80B}" type="pres">
      <dgm:prSet presAssocID="{A090073B-2248-4B9D-83E6-21BE309892F1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3215C1C-EE9D-4EFB-8701-70EEE3F794C2}" type="presOf" srcId="{A090073B-2248-4B9D-83E6-21BE309892F1}" destId="{AE145FCC-10ED-4789-9A4D-A5B09398B80B}" srcOrd="0" destOrd="0" presId="urn:microsoft.com/office/officeart/2005/8/layout/chevron1"/>
    <dgm:cxn modelId="{6A46BB2A-5801-40D9-80BE-591ABE87D3BF}" srcId="{26B44759-C9C4-405C-A8D9-B3BFD6D41FD7}" destId="{9CE16A7E-5ADB-43D1-AACE-CA449EBDE269}" srcOrd="1" destOrd="0" parTransId="{8137D8EC-6748-46A6-A5ED-86A22CCCBDC6}" sibTransId="{F4859B53-1B7F-4ADB-A2BB-E6AD4C388F12}"/>
    <dgm:cxn modelId="{3D961848-9DD3-482B-BA3B-F7F4DEA0BEA5}" type="presOf" srcId="{1DB43B92-2409-45D2-BCFC-2DC7983B861A}" destId="{494FCD7D-8E4D-45AC-A40C-D55D7C11B03B}" srcOrd="0" destOrd="0" presId="urn:microsoft.com/office/officeart/2005/8/layout/chevron1"/>
    <dgm:cxn modelId="{CD911778-9D03-4D56-98AB-2AB8F3FAE20C}" srcId="{26B44759-C9C4-405C-A8D9-B3BFD6D41FD7}" destId="{5D77D30F-EEE2-44BC-B5E5-AA7147D2B4B7}" srcOrd="2" destOrd="0" parTransId="{D46CD859-3C06-463C-8E69-E3BBAE33C20B}" sibTransId="{3A8063CB-A9D0-4A26-906D-2FDF2E42A4FF}"/>
    <dgm:cxn modelId="{1BFB4779-CECC-419D-9B45-138BB4202754}" type="presOf" srcId="{26B44759-C9C4-405C-A8D9-B3BFD6D41FD7}" destId="{872FFB51-C509-46D0-A1C1-795C0EEE492A}" srcOrd="0" destOrd="0" presId="urn:microsoft.com/office/officeart/2005/8/layout/chevron1"/>
    <dgm:cxn modelId="{6AD06498-5D20-48B0-8A39-11CB7185D39E}" srcId="{26B44759-C9C4-405C-A8D9-B3BFD6D41FD7}" destId="{1DB43B92-2409-45D2-BCFC-2DC7983B861A}" srcOrd="0" destOrd="0" parTransId="{DE5A460B-2CD6-40E3-9FEC-C0A76E8018CA}" sibTransId="{0BC2EA14-5E6B-4CE1-BD23-8F8E9760BD77}"/>
    <dgm:cxn modelId="{2C7F5E9A-4F4E-4A48-B146-5362B0009611}" srcId="{26B44759-C9C4-405C-A8D9-B3BFD6D41FD7}" destId="{A090073B-2248-4B9D-83E6-21BE309892F1}" srcOrd="3" destOrd="0" parTransId="{94CF6C8C-8978-4A54-ABF1-0097B953A6D8}" sibTransId="{0115089B-3572-4279-9688-FBA0BAAE38EE}"/>
    <dgm:cxn modelId="{B804CDC2-AED5-4702-B3DD-2CA819572CB5}" type="presOf" srcId="{9CE16A7E-5ADB-43D1-AACE-CA449EBDE269}" destId="{A95E96C0-C73E-4FBD-94F1-18C23640EDCA}" srcOrd="0" destOrd="0" presId="urn:microsoft.com/office/officeart/2005/8/layout/chevron1"/>
    <dgm:cxn modelId="{448132CF-E9E5-45D1-9CC8-2816198CF22A}" type="presOf" srcId="{5D77D30F-EEE2-44BC-B5E5-AA7147D2B4B7}" destId="{78ACE06B-9F66-41E5-B8CB-983086CCD329}" srcOrd="0" destOrd="0" presId="urn:microsoft.com/office/officeart/2005/8/layout/chevron1"/>
    <dgm:cxn modelId="{A278AAE0-5D11-4CC0-90B5-4A78B4AAA623}" type="presParOf" srcId="{872FFB51-C509-46D0-A1C1-795C0EEE492A}" destId="{494FCD7D-8E4D-45AC-A40C-D55D7C11B03B}" srcOrd="0" destOrd="0" presId="urn:microsoft.com/office/officeart/2005/8/layout/chevron1"/>
    <dgm:cxn modelId="{DF0B2DB6-1674-4D20-8C9F-E17F172E472F}" type="presParOf" srcId="{872FFB51-C509-46D0-A1C1-795C0EEE492A}" destId="{42009450-4CD1-4373-896A-0B4A3937A89D}" srcOrd="1" destOrd="0" presId="urn:microsoft.com/office/officeart/2005/8/layout/chevron1"/>
    <dgm:cxn modelId="{B32E5397-694D-4FBE-A879-D851381C0DE8}" type="presParOf" srcId="{872FFB51-C509-46D0-A1C1-795C0EEE492A}" destId="{A95E96C0-C73E-4FBD-94F1-18C23640EDCA}" srcOrd="2" destOrd="0" presId="urn:microsoft.com/office/officeart/2005/8/layout/chevron1"/>
    <dgm:cxn modelId="{AFF8DE65-D080-46C0-8AD3-A2E6ABC87402}" type="presParOf" srcId="{872FFB51-C509-46D0-A1C1-795C0EEE492A}" destId="{5ED9C613-6913-473E-8ED9-45F3CB514E4A}" srcOrd="3" destOrd="0" presId="urn:microsoft.com/office/officeart/2005/8/layout/chevron1"/>
    <dgm:cxn modelId="{DADD86CD-0253-4F6E-AAD7-51F9DE6E5D20}" type="presParOf" srcId="{872FFB51-C509-46D0-A1C1-795C0EEE492A}" destId="{78ACE06B-9F66-41E5-B8CB-983086CCD329}" srcOrd="4" destOrd="0" presId="urn:microsoft.com/office/officeart/2005/8/layout/chevron1"/>
    <dgm:cxn modelId="{D2B5691D-5DA7-495E-BC1B-40E366FB1DF9}" type="presParOf" srcId="{872FFB51-C509-46D0-A1C1-795C0EEE492A}" destId="{F665F9ED-495B-45BA-8EC3-8061A7350774}" srcOrd="5" destOrd="0" presId="urn:microsoft.com/office/officeart/2005/8/layout/chevron1"/>
    <dgm:cxn modelId="{E160D87B-232C-4AA7-BD75-59C9EA926E4C}" type="presParOf" srcId="{872FFB51-C509-46D0-A1C1-795C0EEE492A}" destId="{AE145FCC-10ED-4789-9A4D-A5B09398B80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4FCD7D-8E4D-45AC-A40C-D55D7C11B03B}">
      <dsp:nvSpPr>
        <dsp:cNvPr id="0" name=""/>
        <dsp:cNvSpPr/>
      </dsp:nvSpPr>
      <dsp:spPr>
        <a:xfrm>
          <a:off x="3027" y="0"/>
          <a:ext cx="1762073" cy="630071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百貨公司</a:t>
          </a: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吹冷氣閒逛</a:t>
          </a:r>
        </a:p>
      </dsp:txBody>
      <dsp:txXfrm>
        <a:off x="318063" y="0"/>
        <a:ext cx="1132002" cy="630071"/>
      </dsp:txXfrm>
    </dsp:sp>
    <dsp:sp modelId="{A95E96C0-C73E-4FBD-94F1-18C23640EDCA}">
      <dsp:nvSpPr>
        <dsp:cNvPr id="0" name=""/>
        <dsp:cNvSpPr/>
      </dsp:nvSpPr>
      <dsp:spPr>
        <a:xfrm>
          <a:off x="1588892" y="0"/>
          <a:ext cx="1762073" cy="630071"/>
        </a:xfrm>
        <a:prstGeom prst="chevron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找尋</a:t>
          </a: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可以買的東西</a:t>
          </a:r>
        </a:p>
      </dsp:txBody>
      <dsp:txXfrm>
        <a:off x="1903928" y="0"/>
        <a:ext cx="1132002" cy="630071"/>
      </dsp:txXfrm>
    </dsp:sp>
    <dsp:sp modelId="{78ACE06B-9F66-41E5-B8CB-983086CCD329}">
      <dsp:nvSpPr>
        <dsp:cNvPr id="0" name=""/>
        <dsp:cNvSpPr/>
      </dsp:nvSpPr>
      <dsp:spPr>
        <a:xfrm>
          <a:off x="3174758" y="0"/>
          <a:ext cx="1762073" cy="630071"/>
        </a:xfrm>
        <a:prstGeom prst="chevron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評估優惠方案</a:t>
          </a:r>
        </a:p>
      </dsp:txBody>
      <dsp:txXfrm>
        <a:off x="3489794" y="0"/>
        <a:ext cx="1132002" cy="630071"/>
      </dsp:txXfrm>
    </dsp:sp>
    <dsp:sp modelId="{AE145FCC-10ED-4789-9A4D-A5B09398B80B}">
      <dsp:nvSpPr>
        <dsp:cNvPr id="0" name=""/>
        <dsp:cNvSpPr/>
      </dsp:nvSpPr>
      <dsp:spPr>
        <a:xfrm>
          <a:off x="4760624" y="0"/>
          <a:ext cx="1762073" cy="630071"/>
        </a:xfrm>
        <a:prstGeom prst="chevron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聆聽介紹</a:t>
          </a:r>
        </a:p>
      </dsp:txBody>
      <dsp:txXfrm>
        <a:off x="5075660" y="0"/>
        <a:ext cx="1132002" cy="630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56024-E033-460B-B461-F9C8C93C904B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72FC-EDD4-43B4-B218-6888597E2A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236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03541-C361-4440-AA44-DBB6527DDBFB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461BB-BB29-447B-86E6-652C097B04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2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 rot="5400000">
            <a:off x="1790966" y="425408"/>
            <a:ext cx="2028376" cy="1177563"/>
          </a:xfrm>
          <a:custGeom>
            <a:avLst/>
            <a:gdLst/>
            <a:ahLst/>
            <a:cxnLst/>
            <a:rect l="l" t="t" r="r" b="b"/>
            <a:pathLst>
              <a:path w="2028376" h="1177563">
                <a:moveTo>
                  <a:pt x="0" y="1177563"/>
                </a:moveTo>
                <a:lnTo>
                  <a:pt x="0" y="0"/>
                </a:lnTo>
                <a:lnTo>
                  <a:pt x="2028376" y="0"/>
                </a:lnTo>
                <a:cubicBezTo>
                  <a:pt x="1624320" y="702037"/>
                  <a:pt x="867468" y="1174384"/>
                  <a:pt x="0" y="1177563"/>
                </a:cubicBez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7"/>
          <p:cNvSpPr/>
          <p:nvPr userDrawn="1"/>
        </p:nvSpPr>
        <p:spPr>
          <a:xfrm rot="5400000">
            <a:off x="2809827" y="584110"/>
            <a:ext cx="2346109" cy="1177890"/>
          </a:xfrm>
          <a:custGeom>
            <a:avLst/>
            <a:gdLst/>
            <a:ahLst/>
            <a:cxnLst/>
            <a:rect l="l" t="t" r="r" b="b"/>
            <a:pathLst>
              <a:path w="2346109" h="1177890">
                <a:moveTo>
                  <a:pt x="0" y="1177890"/>
                </a:moveTo>
                <a:lnTo>
                  <a:pt x="0" y="0"/>
                </a:lnTo>
                <a:lnTo>
                  <a:pt x="2346109" y="0"/>
                </a:lnTo>
                <a:cubicBezTo>
                  <a:pt x="2346109" y="429552"/>
                  <a:pt x="2231144" y="832251"/>
                  <a:pt x="2028377" y="1177890"/>
                </a:cubicBez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12"/>
          <p:cNvSpPr/>
          <p:nvPr userDrawn="1"/>
        </p:nvSpPr>
        <p:spPr>
          <a:xfrm rot="5400000">
            <a:off x="5324309" y="425407"/>
            <a:ext cx="2028375" cy="1177562"/>
          </a:xfrm>
          <a:custGeom>
            <a:avLst/>
            <a:gdLst/>
            <a:ahLst/>
            <a:cxnLst/>
            <a:rect l="l" t="t" r="r" b="b"/>
            <a:pathLst>
              <a:path w="2028375" h="1177562">
                <a:moveTo>
                  <a:pt x="0" y="1177562"/>
                </a:moveTo>
                <a:lnTo>
                  <a:pt x="0" y="0"/>
                </a:lnTo>
                <a:cubicBezTo>
                  <a:pt x="867468" y="3179"/>
                  <a:pt x="1624319" y="475526"/>
                  <a:pt x="2028375" y="1177562"/>
                </a:cubicBez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13"/>
          <p:cNvSpPr/>
          <p:nvPr userDrawn="1"/>
        </p:nvSpPr>
        <p:spPr>
          <a:xfrm rot="5400000">
            <a:off x="3987408" y="584418"/>
            <a:ext cx="2346724" cy="1177890"/>
          </a:xfrm>
          <a:custGeom>
            <a:avLst/>
            <a:gdLst/>
            <a:ahLst/>
            <a:cxnLst/>
            <a:rect l="l" t="t" r="r" b="b"/>
            <a:pathLst>
              <a:path w="2346724" h="1177890">
                <a:moveTo>
                  <a:pt x="0" y="1177890"/>
                </a:moveTo>
                <a:lnTo>
                  <a:pt x="0" y="0"/>
                </a:lnTo>
                <a:lnTo>
                  <a:pt x="2028990" y="0"/>
                </a:lnTo>
                <a:cubicBezTo>
                  <a:pt x="2231759" y="345641"/>
                  <a:pt x="2346724" y="748340"/>
                  <a:pt x="2346724" y="1177890"/>
                </a:cubicBez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 userDrawn="1"/>
        </p:nvSpPr>
        <p:spPr>
          <a:xfrm>
            <a:off x="2074528" y="-2513200"/>
            <a:ext cx="4994940" cy="4994940"/>
          </a:xfrm>
          <a:prstGeom prst="arc">
            <a:avLst>
              <a:gd name="adj1" fmla="val 3404"/>
              <a:gd name="adj2" fmla="val 10819516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4493240" y="2414232"/>
            <a:ext cx="157518" cy="157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5845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06735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95BC49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95BC49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661893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646686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BF3420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BF3420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57270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61510" y="0"/>
            <a:ext cx="225739" cy="721610"/>
            <a:chOff x="161510" y="0"/>
            <a:chExt cx="225739" cy="721610"/>
          </a:xfrm>
        </p:grpSpPr>
        <p:sp>
          <p:nvSpPr>
            <p:cNvPr id="3" name="矩形 2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225739" cy="180402"/>
            <a:chOff x="161510" y="0"/>
            <a:chExt cx="225739" cy="721610"/>
          </a:xfrm>
        </p:grpSpPr>
        <p:sp>
          <p:nvSpPr>
            <p:cNvPr id="8" name="矩形 7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837133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39271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2706765"/>
            <a:ext cx="9144000" cy="1350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 descr="C:\Documents and Settings\yangweizhou\桌面\2.jpg"/>
          <p:cNvPicPr>
            <a:picLocks noChangeAspect="1" noChangeArrowheads="1"/>
          </p:cNvPicPr>
          <p:nvPr userDrawn="1"/>
        </p:nvPicPr>
        <p:blipFill rotWithShape="1">
          <a:blip r:embed="rId2"/>
          <a:srcRect b="2046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6" descr="B_whit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806B44-0419-4A2C-BEAE-94958C915950}" type="datetimeFigureOut">
              <a:rPr lang="zh-TW" altLang="en-US"/>
              <a:t>2024/8/29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14D28-4D47-42F9-923A-4AE6E99E8AE1}" type="slidenum">
              <a:rPr lang="zh-TW" altLang="en-US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148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5" r:id="rId5"/>
    <p:sldLayoutId id="2147483667" r:id="rId6"/>
    <p:sldLayoutId id="2147483653" r:id="rId7"/>
    <p:sldLayoutId id="2147483662" r:id="rId8"/>
    <p:sldLayoutId id="2147483654" r:id="rId9"/>
    <p:sldLayoutId id="2147483651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8" r:id="rId16"/>
  </p:sldLayoutIdLst>
  <p:transition spd="slow">
    <p:push dir="u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at.gov.tw/News_Content.aspx?n=3106&amp;s=88570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736685" y="2526745"/>
            <a:ext cx="6210690" cy="193899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62A3F"/>
                </a:solidFill>
                <a:latin typeface="微軟正黑體" pitchFamily="34" charset="-120"/>
                <a:ea typeface="微軟正黑體" pitchFamily="34" charset="-120"/>
              </a:rPr>
              <a:t>品牌策略學分班 創意提案</a:t>
            </a:r>
            <a:endParaRPr lang="en-US" altLang="zh-TW" sz="4000" b="1" dirty="0">
              <a:solidFill>
                <a:srgbClr val="062A3F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4000" b="1" dirty="0">
                <a:solidFill>
                  <a:srgbClr val="062A3F"/>
                </a:solidFill>
                <a:latin typeface="微軟正黑體" pitchFamily="34" charset="-120"/>
                <a:ea typeface="微軟正黑體" pitchFamily="34" charset="-120"/>
              </a:rPr>
              <a:t>四</a:t>
            </a:r>
            <a:r>
              <a:rPr lang="zh-TW" altLang="en-US" sz="4000" b="1">
                <a:solidFill>
                  <a:srgbClr val="062A3F"/>
                </a:solidFill>
                <a:latin typeface="微軟正黑體" pitchFamily="34" charset="-120"/>
                <a:ea typeface="微軟正黑體" pitchFamily="34" charset="-120"/>
              </a:rPr>
              <a:t>次提案彙整</a:t>
            </a:r>
            <a:endParaRPr lang="zh-TW" altLang="en-US" sz="4000" b="1" dirty="0">
              <a:solidFill>
                <a:srgbClr val="062A3F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endParaRPr lang="en-US" altLang="zh-TW" sz="4000" b="1" dirty="0">
              <a:solidFill>
                <a:srgbClr val="062A3F"/>
              </a:solidFill>
              <a:ea typeface="微軟正黑體" pitchFamily="34" charset="-12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141729" y="3889785"/>
            <a:ext cx="5085566" cy="294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57265" y="437195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b="1" dirty="0">
                <a:solidFill>
                  <a:srgbClr val="062A3F"/>
                </a:solidFill>
                <a:latin typeface="微軟正黑體" pitchFamily="34" charset="-120"/>
                <a:ea typeface="微軟正黑體" pitchFamily="34" charset="-120"/>
              </a:rPr>
              <a:t>戴淑玲</a:t>
            </a:r>
          </a:p>
        </p:txBody>
      </p:sp>
    </p:spTree>
    <p:extLst>
      <p:ext uri="{BB962C8B-B14F-4D97-AF65-F5344CB8AC3E}">
        <p14:creationId xmlns:p14="http://schemas.microsoft.com/office/powerpoint/2010/main" val="191778687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2006715" y="1311610"/>
            <a:ext cx="5085565" cy="216024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5400" dirty="0">
                <a:latin typeface="微軟正黑體" pitchFamily="34" charset="-120"/>
                <a:ea typeface="微軟正黑體" pitchFamily="34" charset="-120"/>
              </a:rPr>
              <a:t>第三次提案</a:t>
            </a:r>
          </a:p>
        </p:txBody>
      </p:sp>
    </p:spTree>
    <p:extLst>
      <p:ext uri="{BB962C8B-B14F-4D97-AF65-F5344CB8AC3E}">
        <p14:creationId xmlns:p14="http://schemas.microsoft.com/office/powerpoint/2010/main" val="305044407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方塊 20"/>
          <p:cNvSpPr txBox="1"/>
          <p:nvPr/>
        </p:nvSpPr>
        <p:spPr>
          <a:xfrm>
            <a:off x="476545" y="175376"/>
            <a:ext cx="6391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7</a:t>
            </a:r>
            <a:r>
              <a:rPr lang="zh-TW" altLang="en-US" dirty="0"/>
              <a:t>：讓女生的每月好朋友報到得以舒緩身心</a:t>
            </a:r>
            <a:r>
              <a:rPr lang="en-US" altLang="zh-TW" dirty="0"/>
              <a:t>-</a:t>
            </a:r>
            <a:r>
              <a:rPr lang="zh-TW" altLang="en-US" dirty="0"/>
              <a:t>暖宮按摩器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644410" y="781633"/>
            <a:ext cx="77649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女性朋友生理期期間，總是有不同層度的感受，雖然勞基法給予女性同仁每月一天的生理假，但生理期並非一天結束，如何讓女生在生理期期間可以獲得緩解</a:t>
            </a:r>
            <a:r>
              <a:rPr lang="en-US" altLang="zh-TW" dirty="0"/>
              <a:t>(</a:t>
            </a:r>
            <a:r>
              <a:rPr lang="zh-TW" altLang="en-US" dirty="0"/>
              <a:t>針對輕微疼痛，無病理疾病</a:t>
            </a:r>
            <a:r>
              <a:rPr lang="en-US" altLang="zh-TW" dirty="0"/>
              <a:t>)</a:t>
            </a:r>
            <a:r>
              <a:rPr lang="zh-TW" altLang="en-US" dirty="0"/>
              <a:t>，並且在上班時間能夠給予協助，是本次發想的緣由</a:t>
            </a:r>
          </a:p>
        </p:txBody>
      </p:sp>
      <p:sp>
        <p:nvSpPr>
          <p:cNvPr id="3" name="圓角矩形 2"/>
          <p:cNvSpPr/>
          <p:nvPr/>
        </p:nvSpPr>
        <p:spPr>
          <a:xfrm>
            <a:off x="656565" y="2520934"/>
            <a:ext cx="7560840" cy="25538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zh-TW" altLang="en-US" sz="1600" dirty="0">
                <a:solidFill>
                  <a:srgbClr val="333F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來自國民健康署的專文提供：</a:t>
            </a:r>
            <a:endParaRPr lang="en-US" altLang="zh-TW" sz="1600" dirty="0">
              <a:solidFill>
                <a:srgbClr val="333F4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/>
            <a:r>
              <a:rPr lang="zh-TW" altLang="en-US" sz="1600" dirty="0">
                <a:solidFill>
                  <a:srgbClr val="333F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當經痛發生時，多休息外，依經痛輕重程度來處理：</a:t>
            </a:r>
          </a:p>
          <a:p>
            <a:pPr>
              <a:buFont typeface="+mj-lt"/>
              <a:buAutoNum type="arabicPeriod"/>
            </a:pPr>
            <a:r>
              <a:rPr lang="zh-TW" altLang="en-US" sz="1600" dirty="0">
                <a:solidFill>
                  <a:srgbClr val="333F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輕微疼痛：少吃冰冷食物；可以使用暖暖包、熱水袋或熱敷墊放在下腹部保暖可舒緩疼痛，促進血液循環，緩和經痛。睡覺時請勿使用暖暖包，以免發生不必要的燒燙傷。</a:t>
            </a:r>
          </a:p>
          <a:p>
            <a:pPr>
              <a:buFont typeface="+mj-lt"/>
              <a:buAutoNum type="arabicPeriod"/>
            </a:pPr>
            <a:r>
              <a:rPr lang="zh-TW" altLang="en-US" sz="1600" dirty="0">
                <a:solidFill>
                  <a:srgbClr val="333F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中度疼痛：可以在經期來潮時，依醫師指示服用止痛藥，減少前列腺素分泌及作用，達到止痛效果。</a:t>
            </a:r>
          </a:p>
          <a:p>
            <a:pPr>
              <a:buFont typeface="+mj-lt"/>
              <a:buAutoNum type="arabicPeriod"/>
            </a:pPr>
            <a:r>
              <a:rPr lang="zh-TW" altLang="en-US" sz="1600" dirty="0">
                <a:solidFill>
                  <a:srgbClr val="333F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嚴重疼痛：則建議就醫尋求醫師診治，勿聽信他人隨意使用其他藥物，造成藥物不良反應或其他反效果。</a:t>
            </a:r>
            <a:endParaRPr lang="zh-TW" altLang="en-US" sz="1600" b="0" i="0" dirty="0">
              <a:solidFill>
                <a:srgbClr val="333F48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346975" y="4731990"/>
            <a:ext cx="36982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200" dirty="0"/>
              <a:t>資料來源：https://health99.hpa.gov.tw/article/18173</a:t>
            </a:r>
          </a:p>
        </p:txBody>
      </p:sp>
    </p:spTree>
    <p:extLst>
      <p:ext uri="{BB962C8B-B14F-4D97-AF65-F5344CB8AC3E}">
        <p14:creationId xmlns:p14="http://schemas.microsoft.com/office/powerpoint/2010/main" val="88721423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476545" y="175376"/>
            <a:ext cx="500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7</a:t>
            </a:r>
            <a:r>
              <a:rPr lang="zh-TW" altLang="en-US" dirty="0"/>
              <a:t>：讓女生的每月好朋友報到得以舒緩身心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8568"/>
              </p:ext>
            </p:extLst>
          </p:nvPr>
        </p:nvGraphicFramePr>
        <p:xfrm>
          <a:off x="791580" y="726545"/>
          <a:ext cx="7425828" cy="418205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56457">
                  <a:extLst>
                    <a:ext uri="{9D8B030D-6E8A-4147-A177-3AD203B41FA5}">
                      <a16:colId xmlns:a16="http://schemas.microsoft.com/office/drawing/2014/main" val="3836486443"/>
                    </a:ext>
                  </a:extLst>
                </a:gridCol>
                <a:gridCol w="1856457">
                  <a:extLst>
                    <a:ext uri="{9D8B030D-6E8A-4147-A177-3AD203B41FA5}">
                      <a16:colId xmlns:a16="http://schemas.microsoft.com/office/drawing/2014/main" val="123835470"/>
                    </a:ext>
                  </a:extLst>
                </a:gridCol>
                <a:gridCol w="1856457">
                  <a:extLst>
                    <a:ext uri="{9D8B030D-6E8A-4147-A177-3AD203B41FA5}">
                      <a16:colId xmlns:a16="http://schemas.microsoft.com/office/drawing/2014/main" val="3038874091"/>
                    </a:ext>
                  </a:extLst>
                </a:gridCol>
                <a:gridCol w="1856457">
                  <a:extLst>
                    <a:ext uri="{9D8B030D-6E8A-4147-A177-3AD203B41FA5}">
                      <a16:colId xmlns:a16="http://schemas.microsoft.com/office/drawing/2014/main" val="2319531719"/>
                    </a:ext>
                  </a:extLst>
                </a:gridCol>
              </a:tblGrid>
              <a:tr h="56767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生理期前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生理期中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生理期後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826909"/>
                  </a:ext>
                </a:extLst>
              </a:tr>
              <a:tr h="76167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生理需求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舒緩緊張</a:t>
                      </a:r>
                      <a:endParaRPr lang="en-US" altLang="zh-TW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zh-TW" altLang="en-US" dirty="0"/>
                        <a:t>睡眠充足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補充水分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提升代謝</a:t>
                      </a:r>
                      <a:endParaRPr lang="en-US" altLang="zh-TW" dirty="0"/>
                    </a:p>
                    <a:p>
                      <a:pPr algn="ctr"/>
                      <a:r>
                        <a:rPr lang="zh-TW" altLang="en-US" dirty="0"/>
                        <a:t>補鐵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326753"/>
                  </a:ext>
                </a:extLst>
              </a:tr>
              <a:tr h="567678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心理需求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放鬆心情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舒緩情緒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減重好時機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3410106"/>
                  </a:ext>
                </a:extLst>
              </a:tr>
              <a:tr h="76167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外部協助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放鬆按摩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手腳冰冷</a:t>
                      </a:r>
                      <a:endParaRPr lang="en-US" altLang="zh-TW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zh-TW" altLang="en-US" dirty="0"/>
                        <a:t>纖維補充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中強度運動訓練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421755"/>
                  </a:ext>
                </a:extLst>
              </a:tr>
              <a:tr h="76167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藥物提供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中藥調理</a:t>
                      </a:r>
                      <a:endParaRPr lang="en-US" altLang="zh-TW" dirty="0"/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zh-TW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容易腰痠</a:t>
                      </a:r>
                      <a:r>
                        <a:rPr lang="en-US" altLang="zh-TW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)</a:t>
                      </a:r>
                      <a:endParaRPr lang="zh-TW" altLang="en-US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止痛熱敷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中藥調理</a:t>
                      </a:r>
                      <a:endParaRPr lang="en-US" altLang="zh-TW" dirty="0"/>
                    </a:p>
                    <a:p>
                      <a:pPr algn="ctr"/>
                      <a:r>
                        <a:rPr lang="zh-TW" altLang="en-US" dirty="0"/>
                        <a:t>補血、活血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008559"/>
                  </a:ext>
                </a:extLst>
              </a:tr>
              <a:tr h="76167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適合的用品</a:t>
                      </a:r>
                      <a:endParaRPr lang="en-US" altLang="zh-TW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zh-TW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功能關鍵字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熱敷、放鬆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熱敷、放鬆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運動後放鬆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6820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63740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方塊 20"/>
          <p:cNvSpPr txBox="1"/>
          <p:nvPr/>
        </p:nvSpPr>
        <p:spPr>
          <a:xfrm>
            <a:off x="476545" y="175376"/>
            <a:ext cx="3441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8</a:t>
            </a:r>
            <a:r>
              <a:rPr lang="zh-TW" altLang="en-US" dirty="0"/>
              <a:t>：除了按摩，還能做什麼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812534" y="906565"/>
            <a:ext cx="776491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我家也有一台按摩椅，使用者是我的媽媽，媽媽告訴我自從買了按摩以後，他就不需要騎車出去找師傅了</a:t>
            </a:r>
            <a:r>
              <a:rPr lang="en-US" altLang="zh-TW" dirty="0"/>
              <a:t>(</a:t>
            </a:r>
            <a:r>
              <a:rPr lang="zh-TW" altLang="en-US" dirty="0"/>
              <a:t>有個居家按摩師，可以隨時坐上去，挺方便</a:t>
            </a:r>
            <a:r>
              <a:rPr lang="en-US" altLang="zh-TW" dirty="0"/>
              <a:t>)</a:t>
            </a:r>
            <a:r>
              <a:rPr lang="zh-TW" altLang="en-US" dirty="0"/>
              <a:t>，但按摩椅除了按摩，還可以做甚麼呢</a:t>
            </a:r>
            <a:r>
              <a:rPr lang="en-US" altLang="zh-TW" dirty="0"/>
              <a:t>?</a:t>
            </a:r>
            <a:r>
              <a:rPr lang="zh-TW" altLang="en-US" dirty="0"/>
              <a:t>是本次發想的緣由</a:t>
            </a:r>
          </a:p>
        </p:txBody>
      </p:sp>
      <p:pic>
        <p:nvPicPr>
          <p:cNvPr id="1026" name="Picture 2" descr="按摩圖案素材| PNG和向量圖| 透明背景圖片| 免費下载- Pngtree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44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135" y="2301720"/>
            <a:ext cx="3429715" cy="342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476902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1527065" y="824656"/>
            <a:ext cx="6089868" cy="3494187"/>
            <a:chOff x="1527065" y="824656"/>
            <a:chExt cx="6089868" cy="3494187"/>
          </a:xfrm>
        </p:grpSpPr>
        <p:sp>
          <p:nvSpPr>
            <p:cNvPr id="3" name="矩形 2"/>
            <p:cNvSpPr/>
            <p:nvPr/>
          </p:nvSpPr>
          <p:spPr>
            <a:xfrm rot="5400000">
              <a:off x="1245710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" name="手繪多邊形 3"/>
            <p:cNvSpPr/>
            <p:nvPr/>
          </p:nvSpPr>
          <p:spPr>
            <a:xfrm>
              <a:off x="1527065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身體緊繃程度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評分建議</a:t>
              </a:r>
            </a:p>
          </p:txBody>
        </p:sp>
        <p:sp>
          <p:nvSpPr>
            <p:cNvPr id="5" name="矩形 4"/>
            <p:cNvSpPr/>
            <p:nvPr/>
          </p:nvSpPr>
          <p:spPr>
            <a:xfrm rot="5400000">
              <a:off x="1245710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手繪多邊形 5"/>
            <p:cNvSpPr/>
            <p:nvPr/>
          </p:nvSpPr>
          <p:spPr>
            <a:xfrm>
              <a:off x="1527065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睡眠輔助功能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1869671" y="3491807"/>
              <a:ext cx="2203158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手繪多邊形 7"/>
            <p:cNvSpPr/>
            <p:nvPr/>
          </p:nvSpPr>
          <p:spPr>
            <a:xfrm>
              <a:off x="1527065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休閒功能</a:t>
              </a:r>
              <a:b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提供聲音、嗅覺、環境溫度調節</a:t>
              </a:r>
            </a:p>
          </p:txBody>
        </p:sp>
        <p:sp>
          <p:nvSpPr>
            <p:cNvPr id="9" name="矩形 8"/>
            <p:cNvSpPr/>
            <p:nvPr/>
          </p:nvSpPr>
          <p:spPr>
            <a:xfrm rot="16200000">
              <a:off x="3458694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手繪多邊形 9"/>
            <p:cNvSpPr/>
            <p:nvPr/>
          </p:nvSpPr>
          <p:spPr>
            <a:xfrm>
              <a:off x="3740050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銷售品項外觀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熱賣款式</a:t>
              </a:r>
            </a:p>
          </p:txBody>
        </p:sp>
        <p:sp>
          <p:nvSpPr>
            <p:cNvPr id="11" name="矩形 10"/>
            <p:cNvSpPr/>
            <p:nvPr/>
          </p:nvSpPr>
          <p:spPr>
            <a:xfrm rot="16200000">
              <a:off x="3458694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手繪多邊形 11"/>
            <p:cNvSpPr/>
            <p:nvPr/>
          </p:nvSpPr>
          <p:spPr>
            <a:xfrm>
              <a:off x="3740050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除了按摩</a:t>
              </a:r>
              <a:endParaRPr lang="en-US" altLang="zh-TW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還能做什麼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082656" y="995959"/>
              <a:ext cx="2203158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手繪多邊形 13"/>
            <p:cNvSpPr/>
            <p:nvPr/>
          </p:nvSpPr>
          <p:spPr>
            <a:xfrm>
              <a:off x="3740050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隨時想按就按的便利性</a:t>
              </a:r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5671679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手繪多邊形 15"/>
            <p:cNvSpPr/>
            <p:nvPr/>
          </p:nvSpPr>
          <p:spPr>
            <a:xfrm>
              <a:off x="5953035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最常使用的功能有哪些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 rot="5400000">
              <a:off x="5671679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手繪多邊形 17"/>
            <p:cNvSpPr/>
            <p:nvPr/>
          </p:nvSpPr>
          <p:spPr>
            <a:xfrm>
              <a:off x="5953035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固定痠痛的位置</a:t>
              </a:r>
            </a:p>
          </p:txBody>
        </p:sp>
        <p:sp>
          <p:nvSpPr>
            <p:cNvPr id="19" name="手繪多邊形 18"/>
            <p:cNvSpPr/>
            <p:nvPr/>
          </p:nvSpPr>
          <p:spPr>
            <a:xfrm>
              <a:off x="5953035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使用的頻率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調查統計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381988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方塊 20"/>
          <p:cNvSpPr txBox="1"/>
          <p:nvPr/>
        </p:nvSpPr>
        <p:spPr>
          <a:xfrm>
            <a:off x="476545" y="175376"/>
            <a:ext cx="3775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9</a:t>
            </a:r>
            <a:r>
              <a:rPr lang="zh-TW" altLang="en-US" dirty="0"/>
              <a:t>：新進人員報到服務流程改善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812534" y="906565"/>
            <a:ext cx="77649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我認為</a:t>
            </a:r>
            <a:r>
              <a:rPr lang="en-US" altLang="zh-TW" dirty="0"/>
              <a:t>HR</a:t>
            </a:r>
            <a:r>
              <a:rPr lang="zh-TW" altLang="en-US" dirty="0"/>
              <a:t>也是一種服務業，只是我們服務的對象是公司的員工，而非消費者或是公司窗口，新進人員從面試到第一天報到，最先接觸的都是</a:t>
            </a:r>
            <a:r>
              <a:rPr lang="en-US" altLang="zh-TW" dirty="0"/>
              <a:t>HR</a:t>
            </a:r>
            <a:r>
              <a:rPr lang="zh-TW" altLang="en-US" dirty="0"/>
              <a:t>，如何讓初來乍到一個新環境的人，能夠放鬆、放心，跟從我們的帶領，加入新的團隊，有個良好的第一印象，是本次發想的緣由</a:t>
            </a:r>
          </a:p>
        </p:txBody>
      </p:sp>
      <p:pic>
        <p:nvPicPr>
          <p:cNvPr id="2050" name="Picture 2" descr="報到圖案素材| PNG和向量圖| 透明背景圖片| 免費下载- Pngtree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6" b="98056" l="5278" r="94444">
                        <a14:foregroundMark x1="37500" y1="80000" x2="37500" y2="80000"/>
                        <a14:foregroundMark x1="29167" y1="80833" x2="29167" y2="80833"/>
                        <a14:foregroundMark x1="29167" y1="84167" x2="29167" y2="84167"/>
                        <a14:foregroundMark x1="29444" y1="87778" x2="29444" y2="87778"/>
                        <a14:foregroundMark x1="29444" y1="91111" x2="29444" y2="91111"/>
                        <a14:foregroundMark x1="35000" y1="89444" x2="35000" y2="89444"/>
                        <a14:foregroundMark x1="37500" y1="85556" x2="37500" y2="85556"/>
                        <a14:foregroundMark x1="37222" y1="84167" x2="37222" y2="84167"/>
                        <a14:foregroundMark x1="35556" y1="86389" x2="35556" y2="86389"/>
                        <a14:foregroundMark x1="35556" y1="85556" x2="35556" y2="85556"/>
                        <a14:foregroundMark x1="34722" y1="84444" x2="34722" y2="84444"/>
                        <a14:foregroundMark x1="35000" y1="83611" x2="35000" y2="83611"/>
                        <a14:foregroundMark x1="36111" y1="83333" x2="36111" y2="83333"/>
                        <a14:foregroundMark x1="29722" y1="85833" x2="29722" y2="85833"/>
                        <a14:foregroundMark x1="28889" y1="85556" x2="28889" y2="85556"/>
                        <a14:foregroundMark x1="28611" y1="86667" x2="28611" y2="86667"/>
                        <a14:foregroundMark x1="28333" y1="85000" x2="28333" y2="85000"/>
                        <a14:foregroundMark x1="27500" y1="84167" x2="27500" y2="84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130" y="2029534"/>
            <a:ext cx="3113965" cy="3113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7648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431540" y="96475"/>
            <a:ext cx="3775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9</a:t>
            </a:r>
            <a:r>
              <a:rPr lang="zh-TW" altLang="en-US" dirty="0"/>
              <a:t>：新進人員報到服務流程改善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305638"/>
              </p:ext>
            </p:extLst>
          </p:nvPr>
        </p:nvGraphicFramePr>
        <p:xfrm>
          <a:off x="566555" y="607935"/>
          <a:ext cx="6885766" cy="430407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656092419"/>
                    </a:ext>
                  </a:extLst>
                </a:gridCol>
                <a:gridCol w="3420381">
                  <a:extLst>
                    <a:ext uri="{9D8B030D-6E8A-4147-A177-3AD203B41FA5}">
                      <a16:colId xmlns:a16="http://schemas.microsoft.com/office/drawing/2014/main" val="4214556189"/>
                    </a:ext>
                  </a:extLst>
                </a:gridCol>
                <a:gridCol w="1665185">
                  <a:extLst>
                    <a:ext uri="{9D8B030D-6E8A-4147-A177-3AD203B41FA5}">
                      <a16:colId xmlns:a16="http://schemas.microsoft.com/office/drawing/2014/main" val="624150165"/>
                    </a:ext>
                  </a:extLst>
                </a:gridCol>
              </a:tblGrid>
              <a:tr h="25406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新進人員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HR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單位主管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695974"/>
                  </a:ext>
                </a:extLst>
              </a:tr>
              <a:tr h="254061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現場報到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帶領進入會議室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458778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跟著進入會議室坐下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提供茶水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770704"/>
                  </a:ext>
                </a:extLst>
              </a:tr>
              <a:tr h="254061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動筆填寫資料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說明報到填寫資料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接受通知新人報到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070454"/>
                  </a:ext>
                </a:extLst>
              </a:tr>
              <a:tr h="254061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提供報到文件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核對報到文件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751993"/>
                  </a:ext>
                </a:extLst>
              </a:tr>
              <a:tr h="254061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簽訂相關契約書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801370"/>
                  </a:ext>
                </a:extLst>
              </a:tr>
              <a:tr h="254061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提問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說明工作規則，提供有問題可詢問的管道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668515"/>
                  </a:ext>
                </a:extLst>
              </a:tr>
              <a:tr h="2540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訂午餐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說明訂購午餐方式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875372"/>
                  </a:ext>
                </a:extLst>
              </a:tr>
              <a:tr h="3416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專心聽並記錄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說明公司組織架構</a:t>
                      </a:r>
                      <a:r>
                        <a:rPr lang="en-US" altLang="zh-TW" sz="1400" dirty="0"/>
                        <a:t>-</a:t>
                      </a:r>
                      <a:r>
                        <a:rPr lang="zh-TW" altLang="en-US" sz="1400" dirty="0"/>
                        <a:t>認識單位主管姓名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324140"/>
                  </a:ext>
                </a:extLst>
              </a:tr>
              <a:tr h="254061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安全衛生相關說明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046588"/>
                  </a:ext>
                </a:extLst>
              </a:tr>
              <a:tr h="2540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站起來跟著</a:t>
                      </a:r>
                      <a:r>
                        <a:rPr lang="en-US" altLang="zh-TW" sz="1400" dirty="0"/>
                        <a:t>HR</a:t>
                      </a:r>
                      <a:r>
                        <a:rPr lang="zh-TW" altLang="en-US" sz="1400" dirty="0"/>
                        <a:t>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引導認識公司環境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985965"/>
                  </a:ext>
                </a:extLst>
              </a:tr>
              <a:tr h="2540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走動認識逃生位置及工作區域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706867"/>
                  </a:ext>
                </a:extLst>
              </a:tr>
              <a:tr h="25406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引導至辦公位置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接手新人進行互動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97963"/>
                  </a:ext>
                </a:extLst>
              </a:tr>
              <a:tr h="2540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再次歡迎新人加入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074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37762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2006715" y="1311610"/>
            <a:ext cx="5085565" cy="216024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5400" dirty="0">
                <a:latin typeface="微軟正黑體" pitchFamily="34" charset="-120"/>
                <a:ea typeface="微軟正黑體" pitchFamily="34" charset="-120"/>
              </a:rPr>
              <a:t>第二次提案</a:t>
            </a:r>
          </a:p>
        </p:txBody>
      </p:sp>
    </p:spTree>
    <p:extLst>
      <p:ext uri="{BB962C8B-B14F-4D97-AF65-F5344CB8AC3E}">
        <p14:creationId xmlns:p14="http://schemas.microsoft.com/office/powerpoint/2010/main" val="234006188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方塊 20"/>
          <p:cNvSpPr txBox="1"/>
          <p:nvPr/>
        </p:nvSpPr>
        <p:spPr>
          <a:xfrm>
            <a:off x="498987" y="175376"/>
            <a:ext cx="469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TW" altLang="en-US" dirty="0"/>
              <a:t>提案</a:t>
            </a:r>
            <a:r>
              <a:rPr lang="en-US" altLang="zh-TW" dirty="0"/>
              <a:t>4</a:t>
            </a:r>
            <a:r>
              <a:rPr lang="zh-TW" altLang="en-US" dirty="0"/>
              <a:t>：推薦常買青菜的相關食譜與採購建議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812534" y="906565"/>
            <a:ext cx="77199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飲食控制期間，常會遇到要準備什麼食材以及如何料理，更容易因為一次採購後，分批保存在冰箱後，忘記還有什麼食材沒有煮，讓冰箱成了阿嬤的冰箱，打開隨時是滿的，但卻找不到可以煮什麼，如何有適合的食譜以及採購的建議，是本次發想的緣由</a:t>
            </a:r>
          </a:p>
        </p:txBody>
      </p:sp>
      <p:pic>
        <p:nvPicPr>
          <p:cNvPr id="2" name="Picture 2" descr="飲食與健康：通過飲食控制糖尿病的10個實用小撇步｜天下雜誌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045" y="2660890"/>
            <a:ext cx="3510390" cy="2351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澎湃拌醬【阿嬤的冰箱】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952" y="2660890"/>
            <a:ext cx="1714535" cy="246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59021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4897965" y="3502120"/>
            <a:ext cx="1238097" cy="149750"/>
          </a:xfrm>
          <a:prstGeom prst="rect">
            <a:avLst/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3" name="群組 2"/>
          <p:cNvGrpSpPr/>
          <p:nvPr/>
        </p:nvGrpSpPr>
        <p:grpSpPr>
          <a:xfrm>
            <a:off x="1527065" y="824656"/>
            <a:ext cx="6089868" cy="3494187"/>
            <a:chOff x="1527065" y="824656"/>
            <a:chExt cx="6089868" cy="3494187"/>
          </a:xfrm>
        </p:grpSpPr>
        <p:sp>
          <p:nvSpPr>
            <p:cNvPr id="4" name="矩形 3"/>
            <p:cNvSpPr/>
            <p:nvPr/>
          </p:nvSpPr>
          <p:spPr>
            <a:xfrm rot="5400000">
              <a:off x="1245710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手繪多邊形 4"/>
            <p:cNvSpPr/>
            <p:nvPr/>
          </p:nvSpPr>
          <p:spPr>
            <a:xfrm>
              <a:off x="1527065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投入料理包或料理材料組合廣告推薦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懶人包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 rot="5400000">
              <a:off x="1245710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手繪多邊形 6"/>
            <p:cNvSpPr/>
            <p:nvPr/>
          </p:nvSpPr>
          <p:spPr>
            <a:xfrm>
              <a:off x="1527065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季節性青菜類別採購教學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1869671" y="3491807"/>
              <a:ext cx="2203158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手繪多邊形 8"/>
            <p:cNvSpPr/>
            <p:nvPr/>
          </p:nvSpPr>
          <p:spPr>
            <a:xfrm>
              <a:off x="1527065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推薦食譜，快速提供相關食材採購資訊</a:t>
              </a:r>
            </a:p>
          </p:txBody>
        </p:sp>
        <p:sp>
          <p:nvSpPr>
            <p:cNvPr id="10" name="矩形 9"/>
            <p:cNvSpPr/>
            <p:nvPr/>
          </p:nvSpPr>
          <p:spPr>
            <a:xfrm rot="16200000">
              <a:off x="3458694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手繪多邊形 10"/>
            <p:cNvSpPr/>
            <p:nvPr/>
          </p:nvSpPr>
          <p:spPr>
            <a:xfrm>
              <a:off x="3740050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數據統計，推播健康食譜</a:t>
              </a:r>
            </a:p>
          </p:txBody>
        </p:sp>
        <p:sp>
          <p:nvSpPr>
            <p:cNvPr id="12" name="矩形 11"/>
            <p:cNvSpPr/>
            <p:nvPr/>
          </p:nvSpPr>
          <p:spPr>
            <a:xfrm rot="16200000">
              <a:off x="3458694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手繪多邊形 12"/>
            <p:cNvSpPr/>
            <p:nvPr/>
          </p:nvSpPr>
          <p:spPr>
            <a:xfrm>
              <a:off x="3740050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推薦常買青菜的相關食譜與採購建議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082656" y="995959"/>
              <a:ext cx="2203158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手繪多邊形 14"/>
            <p:cNvSpPr/>
            <p:nvPr/>
          </p:nvSpPr>
          <p:spPr>
            <a:xfrm>
              <a:off x="3740050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超市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APP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紀錄購買清單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與發票資訊連結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 rot="5400000">
              <a:off x="5671679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手繪多邊形 16"/>
            <p:cNvSpPr/>
            <p:nvPr/>
          </p:nvSpPr>
          <p:spPr>
            <a:xfrm>
              <a:off x="5953035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提醒購買時間，食物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材是否過期</a:t>
              </a:r>
            </a:p>
          </p:txBody>
        </p:sp>
        <p:sp>
          <p:nvSpPr>
            <p:cNvPr id="18" name="矩形 17"/>
            <p:cNvSpPr/>
            <p:nvPr/>
          </p:nvSpPr>
          <p:spPr>
            <a:xfrm rot="5400000">
              <a:off x="5671679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手繪多邊形 18"/>
            <p:cNvSpPr/>
            <p:nvPr/>
          </p:nvSpPr>
          <p:spPr>
            <a:xfrm>
              <a:off x="5953035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常買青菜的排行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適時推播新鮮菜到囉！可以出門購買了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手繪多邊形 19"/>
            <p:cNvSpPr/>
            <p:nvPr/>
          </p:nvSpPr>
          <p:spPr>
            <a:xfrm>
              <a:off x="5953035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推薦購買清單</a:t>
              </a:r>
            </a:p>
          </p:txBody>
        </p:sp>
      </p:grpSp>
      <p:sp>
        <p:nvSpPr>
          <p:cNvPr id="21" name="文字方塊 20"/>
          <p:cNvSpPr txBox="1"/>
          <p:nvPr/>
        </p:nvSpPr>
        <p:spPr>
          <a:xfrm>
            <a:off x="476545" y="175376"/>
            <a:ext cx="469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4</a:t>
            </a:r>
            <a:r>
              <a:rPr lang="zh-TW" altLang="en-US" dirty="0"/>
              <a:t>：推薦常買青菜的相關食譜與採購建議</a:t>
            </a:r>
          </a:p>
        </p:txBody>
      </p:sp>
    </p:spTree>
    <p:extLst>
      <p:ext uri="{BB962C8B-B14F-4D97-AF65-F5344CB8AC3E}">
        <p14:creationId xmlns:p14="http://schemas.microsoft.com/office/powerpoint/2010/main" val="183263438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方塊 20"/>
          <p:cNvSpPr txBox="1"/>
          <p:nvPr/>
        </p:nvSpPr>
        <p:spPr>
          <a:xfrm>
            <a:off x="446878" y="186485"/>
            <a:ext cx="7032695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dirty="0"/>
              <a:t>提案</a:t>
            </a:r>
            <a:r>
              <a:rPr lang="en-US" altLang="zh-TW" dirty="0"/>
              <a:t>5</a:t>
            </a:r>
            <a:r>
              <a:rPr lang="zh-TW" altLang="en-US" dirty="0"/>
              <a:t>：</a:t>
            </a:r>
            <a:r>
              <a:rPr lang="en-US" altLang="zh-TW" dirty="0"/>
              <a:t>82</a:t>
            </a:r>
            <a:r>
              <a:rPr lang="zh-TW" altLang="en-US" dirty="0"/>
              <a:t>歲的外婆一個人住在家裡，如何提供外婆安全的居住環境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812533" y="906565"/>
            <a:ext cx="6774801" cy="1704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可生活自理，但肌肉骨骼退化，有慢性病以及重聽</a:t>
            </a:r>
            <a:r>
              <a:rPr lang="en-US" altLang="zh-TW" dirty="0"/>
              <a:t>(</a:t>
            </a:r>
            <a:r>
              <a:rPr lang="zh-TW" altLang="en-US" dirty="0"/>
              <a:t>配戴助聽器</a:t>
            </a:r>
            <a:r>
              <a:rPr lang="en-US" altLang="zh-TW" dirty="0"/>
              <a:t>)</a:t>
            </a:r>
            <a:r>
              <a:rPr lang="zh-TW" altLang="en-US" dirty="0"/>
              <a:t>的外婆，因為老家是自己熟悉的環境，堅持不願意到子女家中居住，只希望繼續住在老家，如何維持外婆的健康飲食、居住健康、活動自如，是本次發想的緣由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055" y="2400993"/>
            <a:ext cx="3657500" cy="274250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835" y="2806457"/>
            <a:ext cx="1752783" cy="233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58474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4897965" y="3502120"/>
            <a:ext cx="1238097" cy="149750"/>
          </a:xfrm>
          <a:prstGeom prst="rect">
            <a:avLst/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3" name="群組 2"/>
          <p:cNvGrpSpPr/>
          <p:nvPr/>
        </p:nvGrpSpPr>
        <p:grpSpPr>
          <a:xfrm>
            <a:off x="1527065" y="824656"/>
            <a:ext cx="6089868" cy="3494187"/>
            <a:chOff x="1527065" y="824656"/>
            <a:chExt cx="6089868" cy="3494187"/>
          </a:xfrm>
        </p:grpSpPr>
        <p:sp>
          <p:nvSpPr>
            <p:cNvPr id="4" name="矩形 3"/>
            <p:cNvSpPr/>
            <p:nvPr/>
          </p:nvSpPr>
          <p:spPr>
            <a:xfrm rot="5400000">
              <a:off x="1245710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手繪多邊形 4"/>
            <p:cNvSpPr/>
            <p:nvPr/>
          </p:nvSpPr>
          <p:spPr>
            <a:xfrm>
              <a:off x="1527065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住：室內居住風險評估、加裝攝影機</a:t>
              </a:r>
            </a:p>
          </p:txBody>
        </p:sp>
        <p:sp>
          <p:nvSpPr>
            <p:cNvPr id="6" name="矩形 5"/>
            <p:cNvSpPr/>
            <p:nvPr/>
          </p:nvSpPr>
          <p:spPr>
            <a:xfrm rot="5400000">
              <a:off x="1245710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手繪多邊形 6"/>
            <p:cNvSpPr/>
            <p:nvPr/>
          </p:nvSpPr>
          <p:spPr>
            <a:xfrm>
              <a:off x="1527065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住：睡覺床鋪的舒適度、高度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1869671" y="3491807"/>
              <a:ext cx="2203158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手繪多邊形 8"/>
            <p:cNvSpPr/>
            <p:nvPr/>
          </p:nvSpPr>
          <p:spPr>
            <a:xfrm>
              <a:off x="1527065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樂：與鄰居、家人互動的時間</a:t>
              </a:r>
            </a:p>
          </p:txBody>
        </p:sp>
        <p:sp>
          <p:nvSpPr>
            <p:cNvPr id="10" name="矩形 9"/>
            <p:cNvSpPr/>
            <p:nvPr/>
          </p:nvSpPr>
          <p:spPr>
            <a:xfrm rot="16200000">
              <a:off x="3458694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手繪多邊形 10"/>
            <p:cNvSpPr/>
            <p:nvPr/>
          </p:nvSpPr>
          <p:spPr>
            <a:xfrm>
              <a:off x="3740050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育：新知識的學習管道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健康保健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16200000">
              <a:off x="3458694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手繪多邊形 12"/>
            <p:cNvSpPr/>
            <p:nvPr/>
          </p:nvSpPr>
          <p:spPr>
            <a:xfrm>
              <a:off x="3740050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如何提供外婆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安全的居住環境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082656" y="995959"/>
              <a:ext cx="2203158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手繪多邊形 14"/>
            <p:cNvSpPr/>
            <p:nvPr/>
          </p:nvSpPr>
          <p:spPr>
            <a:xfrm>
              <a:off x="3740050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食：自己煮、訂送餐便當</a:t>
              </a:r>
            </a:p>
          </p:txBody>
        </p:sp>
        <p:sp>
          <p:nvSpPr>
            <p:cNvPr id="16" name="矩形 15"/>
            <p:cNvSpPr/>
            <p:nvPr/>
          </p:nvSpPr>
          <p:spPr>
            <a:xfrm rot="5400000">
              <a:off x="5671679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手繪多邊形 16"/>
            <p:cNvSpPr/>
            <p:nvPr/>
          </p:nvSpPr>
          <p:spPr>
            <a:xfrm>
              <a:off x="5953035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衣：生活所需衣物採購補給</a:t>
              </a:r>
            </a:p>
          </p:txBody>
        </p:sp>
        <p:sp>
          <p:nvSpPr>
            <p:cNvPr id="18" name="矩形 17"/>
            <p:cNvSpPr/>
            <p:nvPr/>
          </p:nvSpPr>
          <p:spPr>
            <a:xfrm rot="5400000">
              <a:off x="5671679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手繪多邊形 18"/>
            <p:cNvSpPr/>
            <p:nvPr/>
          </p:nvSpPr>
          <p:spPr>
            <a:xfrm>
              <a:off x="5953035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行：助行器的使用</a:t>
              </a:r>
            </a:p>
          </p:txBody>
        </p:sp>
        <p:sp>
          <p:nvSpPr>
            <p:cNvPr id="20" name="手繪多邊形 19"/>
            <p:cNvSpPr/>
            <p:nvPr/>
          </p:nvSpPr>
          <p:spPr>
            <a:xfrm>
              <a:off x="5953035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運動：參加社區老人學堂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1" name="文字方塊 20"/>
          <p:cNvSpPr txBox="1"/>
          <p:nvPr/>
        </p:nvSpPr>
        <p:spPr>
          <a:xfrm>
            <a:off x="431540" y="197130"/>
            <a:ext cx="7032695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dirty="0"/>
              <a:t>提案</a:t>
            </a:r>
            <a:r>
              <a:rPr lang="en-US" altLang="zh-TW" dirty="0"/>
              <a:t>5</a:t>
            </a:r>
            <a:r>
              <a:rPr lang="zh-TW" altLang="en-US" dirty="0"/>
              <a:t>：</a:t>
            </a:r>
            <a:r>
              <a:rPr lang="en-US" altLang="zh-TW" dirty="0"/>
              <a:t>82</a:t>
            </a:r>
            <a:r>
              <a:rPr lang="zh-TW" altLang="en-US" dirty="0"/>
              <a:t>歲的外婆一個人住在家裡，如何提供外婆安全的居住環境</a:t>
            </a:r>
          </a:p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017996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方塊 20"/>
          <p:cNvSpPr txBox="1"/>
          <p:nvPr/>
        </p:nvSpPr>
        <p:spPr>
          <a:xfrm>
            <a:off x="476545" y="175376"/>
            <a:ext cx="4006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6</a:t>
            </a:r>
            <a:r>
              <a:rPr lang="zh-TW" altLang="en-US" dirty="0"/>
              <a:t>：公司人才招募困境，招不到人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812534" y="906565"/>
            <a:ext cx="77649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因本質工作為公司人資，公司行業別屬批發零售業，近兩年均面臨人員短缺之困境，除了人力銀行收到的履歷數大幅降低外，日常收履歷狀況感受現今求職人員的年齡、經歷上有斷層且年齡上升，另外職能的適切性也有待評，如何協助需求單位招到人，以及招到對的人，是本次發想的緣由</a:t>
            </a:r>
          </a:p>
        </p:txBody>
      </p:sp>
      <p:sp>
        <p:nvSpPr>
          <p:cNvPr id="2" name="矩形 1"/>
          <p:cNvSpPr/>
          <p:nvPr/>
        </p:nvSpPr>
        <p:spPr>
          <a:xfrm>
            <a:off x="71500" y="4416955"/>
            <a:ext cx="65924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003636"/>
                </a:solidFill>
                <a:latin typeface="Arial" panose="020B0604020202020204" pitchFamily="34" charset="0"/>
              </a:rPr>
              <a:t>From</a:t>
            </a:r>
            <a:r>
              <a:rPr lang="zh-TW" altLang="en-US" b="1" dirty="0">
                <a:solidFill>
                  <a:srgbClr val="003636"/>
                </a:solidFill>
                <a:latin typeface="Arial" panose="020B0604020202020204" pitchFamily="34" charset="0"/>
              </a:rPr>
              <a:t>：中華民國統計資訊網</a:t>
            </a:r>
            <a:r>
              <a:rPr lang="en-US" altLang="zh-TW" b="1" dirty="0">
                <a:solidFill>
                  <a:srgbClr val="003636"/>
                </a:solidFill>
                <a:latin typeface="Arial" panose="020B0604020202020204" pitchFamily="34" charset="0"/>
              </a:rPr>
              <a:t>-</a:t>
            </a:r>
            <a:r>
              <a:rPr lang="zh-TW" altLang="en-US" b="1" dirty="0">
                <a:solidFill>
                  <a:srgbClr val="003636"/>
                </a:solidFill>
                <a:latin typeface="Arial" panose="020B0604020202020204" pitchFamily="34" charset="0"/>
              </a:rPr>
              <a:t>缺工及人力需求統計</a:t>
            </a:r>
            <a:endParaRPr lang="en-US" altLang="zh-TW" b="1" dirty="0">
              <a:solidFill>
                <a:srgbClr val="003636"/>
              </a:solidFill>
              <a:latin typeface="Arial" panose="020B0604020202020204" pitchFamily="34" charset="0"/>
            </a:endParaRPr>
          </a:p>
          <a:p>
            <a:r>
              <a:rPr lang="en-US" altLang="zh-TW" dirty="0">
                <a:solidFill>
                  <a:srgbClr val="343434"/>
                </a:solidFill>
                <a:latin typeface="Arial" panose="020B0604020202020204" pitchFamily="34" charset="0"/>
                <a:hlinkClick r:id="rId2"/>
              </a:rPr>
              <a:t>https://www.stat.gov.tw/News_Content.aspx?n=3106&amp;s=88570</a:t>
            </a:r>
            <a:r>
              <a:rPr lang="zh-TW" altLang="en-US" dirty="0">
                <a:solidFill>
                  <a:srgbClr val="343434"/>
                </a:solidFill>
                <a:latin typeface="Arial" panose="020B0604020202020204" pitchFamily="34" charset="0"/>
              </a:rPr>
              <a:t> </a:t>
            </a:r>
            <a:endParaRPr lang="en-US" altLang="zh-TW" dirty="0">
              <a:solidFill>
                <a:srgbClr val="34343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06914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4897965" y="3502120"/>
            <a:ext cx="1238097" cy="149750"/>
          </a:xfrm>
          <a:prstGeom prst="rect">
            <a:avLst/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3" name="群組 2"/>
          <p:cNvGrpSpPr/>
          <p:nvPr/>
        </p:nvGrpSpPr>
        <p:grpSpPr>
          <a:xfrm>
            <a:off x="1527065" y="824656"/>
            <a:ext cx="6089868" cy="3494187"/>
            <a:chOff x="1527065" y="824656"/>
            <a:chExt cx="6089868" cy="3494187"/>
          </a:xfrm>
        </p:grpSpPr>
        <p:sp>
          <p:nvSpPr>
            <p:cNvPr id="4" name="矩形 3"/>
            <p:cNvSpPr/>
            <p:nvPr/>
          </p:nvSpPr>
          <p:spPr>
            <a:xfrm rot="5400000">
              <a:off x="1245710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手繪多邊形 4"/>
            <p:cNvSpPr/>
            <p:nvPr/>
          </p:nvSpPr>
          <p:spPr>
            <a:xfrm>
              <a:off x="1527065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明確職務說明書，招募主管須明確職務需求</a:t>
              </a:r>
            </a:p>
          </p:txBody>
        </p:sp>
        <p:sp>
          <p:nvSpPr>
            <p:cNvPr id="6" name="矩形 5"/>
            <p:cNvSpPr/>
            <p:nvPr/>
          </p:nvSpPr>
          <p:spPr>
            <a:xfrm rot="5400000">
              <a:off x="1245710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手繪多邊形 6"/>
            <p:cNvSpPr/>
            <p:nvPr/>
          </p:nvSpPr>
          <p:spPr>
            <a:xfrm>
              <a:off x="1527065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落實面試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SOP</a:t>
              </a:r>
            </a:p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建立篩選條件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1869671" y="3491807"/>
              <a:ext cx="2203158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手繪多邊形 8"/>
            <p:cNvSpPr/>
            <p:nvPr/>
          </p:nvSpPr>
          <p:spPr>
            <a:xfrm>
              <a:off x="1527065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履歷審閱及職能初步測驗判別</a:t>
              </a:r>
            </a:p>
          </p:txBody>
        </p:sp>
        <p:sp>
          <p:nvSpPr>
            <p:cNvPr id="10" name="矩形 9"/>
            <p:cNvSpPr/>
            <p:nvPr/>
          </p:nvSpPr>
          <p:spPr>
            <a:xfrm rot="16200000">
              <a:off x="3458694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手繪多邊形 10"/>
            <p:cNvSpPr/>
            <p:nvPr/>
          </p:nvSpPr>
          <p:spPr>
            <a:xfrm>
              <a:off x="3740050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在服務據點提供求職資訊聯絡方式</a:t>
              </a:r>
            </a:p>
          </p:txBody>
        </p:sp>
        <p:sp>
          <p:nvSpPr>
            <p:cNvPr id="12" name="矩形 11"/>
            <p:cNvSpPr/>
            <p:nvPr/>
          </p:nvSpPr>
          <p:spPr>
            <a:xfrm rot="16200000">
              <a:off x="3458694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手繪多邊形 12"/>
            <p:cNvSpPr/>
            <p:nvPr/>
          </p:nvSpPr>
          <p:spPr>
            <a:xfrm>
              <a:off x="3740050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如何招到人以及招到對的人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4082656" y="995959"/>
              <a:ext cx="2203158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手繪多邊形 14"/>
            <p:cNvSpPr/>
            <p:nvPr/>
          </p:nvSpPr>
          <p:spPr>
            <a:xfrm>
              <a:off x="3740050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招募管道拓展</a:t>
              </a:r>
            </a:p>
          </p:txBody>
        </p:sp>
        <p:sp>
          <p:nvSpPr>
            <p:cNvPr id="16" name="矩形 15"/>
            <p:cNvSpPr/>
            <p:nvPr/>
          </p:nvSpPr>
          <p:spPr>
            <a:xfrm rot="5400000">
              <a:off x="5671679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手繪多邊形 16"/>
            <p:cNvSpPr/>
            <p:nvPr/>
          </p:nvSpPr>
          <p:spPr>
            <a:xfrm>
              <a:off x="5953035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尋找政府資源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增加推介管道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身障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 rot="5400000">
              <a:off x="5671679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手繪多邊形 18"/>
            <p:cNvSpPr/>
            <p:nvPr/>
          </p:nvSpPr>
          <p:spPr>
            <a:xfrm>
              <a:off x="5953035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除被動收履歷外，亦主動尋找人才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親友推薦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手繪多邊形 19"/>
            <p:cNvSpPr/>
            <p:nvPr/>
          </p:nvSpPr>
          <p:spPr>
            <a:xfrm>
              <a:off x="5953035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建立公司友善職場形象並落實</a:t>
              </a:r>
            </a:p>
          </p:txBody>
        </p:sp>
      </p:grpSp>
      <p:sp>
        <p:nvSpPr>
          <p:cNvPr id="21" name="文字方塊 20"/>
          <p:cNvSpPr txBox="1"/>
          <p:nvPr/>
        </p:nvSpPr>
        <p:spPr>
          <a:xfrm>
            <a:off x="476545" y="175376"/>
            <a:ext cx="469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6</a:t>
            </a:r>
            <a:r>
              <a:rPr lang="zh-TW" altLang="en-US" dirty="0"/>
              <a:t>：如何提升履歷收件數以及職能適切性</a:t>
            </a:r>
          </a:p>
        </p:txBody>
      </p:sp>
    </p:spTree>
    <p:extLst>
      <p:ext uri="{BB962C8B-B14F-4D97-AF65-F5344CB8AC3E}">
        <p14:creationId xmlns:p14="http://schemas.microsoft.com/office/powerpoint/2010/main" val="250027923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516529"/>
              </p:ext>
            </p:extLst>
          </p:nvPr>
        </p:nvGraphicFramePr>
        <p:xfrm>
          <a:off x="521550" y="996575"/>
          <a:ext cx="5670636" cy="13027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5106">
                  <a:extLst>
                    <a:ext uri="{9D8B030D-6E8A-4147-A177-3AD203B41FA5}">
                      <a16:colId xmlns:a16="http://schemas.microsoft.com/office/drawing/2014/main" val="3798773846"/>
                    </a:ext>
                  </a:extLst>
                </a:gridCol>
                <a:gridCol w="945106">
                  <a:extLst>
                    <a:ext uri="{9D8B030D-6E8A-4147-A177-3AD203B41FA5}">
                      <a16:colId xmlns:a16="http://schemas.microsoft.com/office/drawing/2014/main" val="1376565535"/>
                    </a:ext>
                  </a:extLst>
                </a:gridCol>
                <a:gridCol w="945106">
                  <a:extLst>
                    <a:ext uri="{9D8B030D-6E8A-4147-A177-3AD203B41FA5}">
                      <a16:colId xmlns:a16="http://schemas.microsoft.com/office/drawing/2014/main" val="1315082124"/>
                    </a:ext>
                  </a:extLst>
                </a:gridCol>
                <a:gridCol w="945106">
                  <a:extLst>
                    <a:ext uri="{9D8B030D-6E8A-4147-A177-3AD203B41FA5}">
                      <a16:colId xmlns:a16="http://schemas.microsoft.com/office/drawing/2014/main" val="3596706802"/>
                    </a:ext>
                  </a:extLst>
                </a:gridCol>
                <a:gridCol w="945106">
                  <a:extLst>
                    <a:ext uri="{9D8B030D-6E8A-4147-A177-3AD203B41FA5}">
                      <a16:colId xmlns:a16="http://schemas.microsoft.com/office/drawing/2014/main" val="629303518"/>
                    </a:ext>
                  </a:extLst>
                </a:gridCol>
                <a:gridCol w="945106">
                  <a:extLst>
                    <a:ext uri="{9D8B030D-6E8A-4147-A177-3AD203B41FA5}">
                      <a16:colId xmlns:a16="http://schemas.microsoft.com/office/drawing/2014/main" val="3765167006"/>
                    </a:ext>
                  </a:extLst>
                </a:gridCol>
              </a:tblGrid>
              <a:tr h="67507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受僱員工人數</a:t>
                      </a:r>
                      <a:b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b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職缺數</a:t>
                      </a:r>
                      <a:b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b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</a:t>
                      </a:r>
                      <a:endParaRPr lang="en-US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職缺數</a:t>
                      </a:r>
                      <a:b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扣除短期職缺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b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b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職缺率</a:t>
                      </a:r>
                      <a:b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b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B/(A＋B)</a:t>
                      </a:r>
                      <a:endParaRPr lang="en-US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職缺率</a:t>
                      </a:r>
                      <a:b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扣除短期職缺</a:t>
                      </a:r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b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C/(A</a:t>
                      </a:r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＋</a:t>
                      </a:r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C)</a:t>
                      </a:r>
                      <a:endParaRPr lang="en-US" altLang="zh-TW" sz="1100" b="0" i="0" u="none" strike="noStrike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16750097"/>
                  </a:ext>
                </a:extLst>
              </a:tr>
              <a:tr h="2075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11208</a:t>
                      </a:r>
                      <a:endParaRPr lang="en-US" altLang="zh-TW" sz="1100" b="1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1,707,632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41,907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31,060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2.40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1.79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7151154"/>
                  </a:ext>
                </a:extLst>
              </a:tr>
              <a:tr h="2075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11108</a:t>
                      </a:r>
                      <a:endParaRPr lang="en-US" altLang="zh-TW" sz="1100" b="1" i="0" u="none" strike="noStrike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1,707,221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39,748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27,844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2.28</a:t>
                      </a:r>
                      <a:endParaRPr lang="en-US" altLang="zh-TW" sz="1100" b="0" i="0" u="none" strike="noStrike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1.60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4341589"/>
                  </a:ext>
                </a:extLst>
              </a:tr>
              <a:tr h="2075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11008</a:t>
                      </a:r>
                      <a:endParaRPr lang="en-US" altLang="zh-TW" sz="1100" b="0" i="0" u="none" strike="noStrike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1,698,841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38,804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22,979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2.23</a:t>
                      </a:r>
                      <a:endParaRPr lang="en-US" altLang="zh-TW" sz="1100" b="0" i="0" u="none" strike="noStrike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1.33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0798019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926595" y="276495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各業廠商職缺概況－按行業及員工規模分</a:t>
            </a:r>
          </a:p>
        </p:txBody>
      </p:sp>
      <p:sp>
        <p:nvSpPr>
          <p:cNvPr id="4" name="矩形 3"/>
          <p:cNvSpPr/>
          <p:nvPr/>
        </p:nvSpPr>
        <p:spPr>
          <a:xfrm>
            <a:off x="4766796" y="698846"/>
            <a:ext cx="1425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單位：人；個；</a:t>
            </a:r>
            <a:r>
              <a:rPr lang="en-US" altLang="zh-TW" sz="1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%</a:t>
            </a:r>
            <a:r>
              <a:rPr lang="zh-TW" altLang="en-US" sz="1200" dirty="0"/>
              <a:t> </a:t>
            </a:r>
          </a:p>
        </p:txBody>
      </p:sp>
      <p:graphicFrame>
        <p:nvGraphicFramePr>
          <p:cNvPr id="5" name="圖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963104"/>
              </p:ext>
            </p:extLst>
          </p:nvPr>
        </p:nvGraphicFramePr>
        <p:xfrm>
          <a:off x="1005027" y="2436735"/>
          <a:ext cx="4273331" cy="2610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5607115" y="2796775"/>
            <a:ext cx="3375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可看出</a:t>
            </a:r>
            <a:r>
              <a:rPr lang="en-US" altLang="zh-TW" dirty="0"/>
              <a:t>110-112</a:t>
            </a:r>
            <a:r>
              <a:rPr lang="zh-TW" altLang="en-US" dirty="0"/>
              <a:t>年職缺率上升</a:t>
            </a:r>
            <a:endParaRPr lang="en-US" altLang="zh-TW" dirty="0"/>
          </a:p>
          <a:p>
            <a:r>
              <a:rPr lang="zh-TW" altLang="en-US" dirty="0"/>
              <a:t>短期職缺下降，以超過</a:t>
            </a:r>
            <a:r>
              <a:rPr lang="en-US" altLang="zh-TW" dirty="0"/>
              <a:t>1</a:t>
            </a:r>
            <a:r>
              <a:rPr lang="zh-TW" altLang="en-US" dirty="0"/>
              <a:t>個月以上職缺為主</a:t>
            </a:r>
          </a:p>
        </p:txBody>
      </p:sp>
    </p:spTree>
    <p:extLst>
      <p:ext uri="{BB962C8B-B14F-4D97-AF65-F5344CB8AC3E}">
        <p14:creationId xmlns:p14="http://schemas.microsoft.com/office/powerpoint/2010/main" val="367655483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2006715" y="1311610"/>
            <a:ext cx="5085565" cy="216024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5400" dirty="0">
                <a:latin typeface="微軟正黑體" pitchFamily="34" charset="-120"/>
                <a:ea typeface="微軟正黑體" pitchFamily="34" charset="-120"/>
              </a:rPr>
              <a:t>第一次提案</a:t>
            </a:r>
          </a:p>
        </p:txBody>
      </p:sp>
    </p:spTree>
    <p:extLst>
      <p:ext uri="{BB962C8B-B14F-4D97-AF65-F5344CB8AC3E}">
        <p14:creationId xmlns:p14="http://schemas.microsoft.com/office/powerpoint/2010/main" val="407507355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方塊 20"/>
          <p:cNvSpPr txBox="1"/>
          <p:nvPr/>
        </p:nvSpPr>
        <p:spPr>
          <a:xfrm>
            <a:off x="476545" y="175376"/>
            <a:ext cx="4006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1</a:t>
            </a:r>
            <a:r>
              <a:rPr lang="zh-TW" altLang="en-US" dirty="0"/>
              <a:t>：挑戰第一次家庭國外過年旅遊</a:t>
            </a: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021" y="3257030"/>
            <a:ext cx="2490409" cy="1866964"/>
          </a:xfrm>
          <a:prstGeom prst="rect">
            <a:avLst/>
          </a:prstGeom>
        </p:spPr>
      </p:pic>
      <p:sp>
        <p:nvSpPr>
          <p:cNvPr id="24" name="文字方塊 23"/>
          <p:cNvSpPr txBox="1"/>
          <p:nvPr/>
        </p:nvSpPr>
        <p:spPr>
          <a:xfrm>
            <a:off x="812534" y="906565"/>
            <a:ext cx="803296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/>
              <a:t>2016</a:t>
            </a:r>
            <a:r>
              <a:rPr lang="zh-TW" altLang="en-US" dirty="0"/>
              <a:t>年起的每年過年，都會由我號</a:t>
            </a:r>
            <a:r>
              <a:rPr lang="en-US" altLang="zh-TW" dirty="0"/>
              <a:t>(</a:t>
            </a:r>
            <a:r>
              <a:rPr lang="zh-TW" altLang="en-US" dirty="0"/>
              <a:t>強</a:t>
            </a:r>
            <a:r>
              <a:rPr lang="en-US" altLang="zh-TW" dirty="0"/>
              <a:t>)</a:t>
            </a:r>
            <a:r>
              <a:rPr lang="zh-TW" altLang="en-US" dirty="0"/>
              <a:t>招</a:t>
            </a:r>
            <a:r>
              <a:rPr lang="en-US" altLang="zh-TW" dirty="0"/>
              <a:t>(</a:t>
            </a:r>
            <a:r>
              <a:rPr lang="zh-TW" altLang="en-US" dirty="0"/>
              <a:t>迫</a:t>
            </a:r>
            <a:r>
              <a:rPr lang="en-US" altLang="zh-TW" dirty="0"/>
              <a:t>)</a:t>
            </a:r>
            <a:r>
              <a:rPr lang="zh-TW" altLang="en-US" dirty="0"/>
              <a:t>家族成員進行全家福團拍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dirty="0"/>
              <a:t>2023</a:t>
            </a:r>
            <a:r>
              <a:rPr lang="zh-TW" altLang="en-US" dirty="0"/>
              <a:t>年由弟妹發起想嘗試出國過年的點子，需要突破家中皇太后</a:t>
            </a:r>
            <a:r>
              <a:rPr lang="en-US" altLang="zh-TW" dirty="0"/>
              <a:t>-</a:t>
            </a:r>
            <a:r>
              <a:rPr lang="zh-TW" altLang="en-US" dirty="0"/>
              <a:t>媽媽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的傳統觀念，先將群體縮小為自家</a:t>
            </a:r>
            <a:r>
              <a:rPr lang="en-US" altLang="zh-TW" dirty="0"/>
              <a:t>(</a:t>
            </a:r>
            <a:r>
              <a:rPr lang="zh-TW" altLang="en-US" dirty="0"/>
              <a:t>非整家族</a:t>
            </a:r>
            <a:r>
              <a:rPr lang="en-US" altLang="zh-TW" dirty="0"/>
              <a:t>)</a:t>
            </a:r>
            <a:r>
              <a:rPr lang="zh-TW" altLang="en-US" dirty="0"/>
              <a:t>，預計過年團聚地點拉到國外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應該如何進行溝通、挑選地點，創造家人的新春美好回憶，是本次發想的緣由</a:t>
            </a:r>
          </a:p>
        </p:txBody>
      </p:sp>
      <p:pic>
        <p:nvPicPr>
          <p:cNvPr id="1026" name="Picture 2" descr="未提供相片說明。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55" y="3247524"/>
            <a:ext cx="2490884" cy="186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圖片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855" y="3257031"/>
            <a:ext cx="2478206" cy="185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19697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/>
          <p:cNvGrpSpPr/>
          <p:nvPr/>
        </p:nvGrpSpPr>
        <p:grpSpPr>
          <a:xfrm>
            <a:off x="1527065" y="824656"/>
            <a:ext cx="6089868" cy="3494187"/>
            <a:chOff x="1527065" y="824656"/>
            <a:chExt cx="6089868" cy="3494187"/>
          </a:xfrm>
        </p:grpSpPr>
        <p:sp>
          <p:nvSpPr>
            <p:cNvPr id="4" name="矩形 3"/>
            <p:cNvSpPr/>
            <p:nvPr/>
          </p:nvSpPr>
          <p:spPr>
            <a:xfrm rot="5400000">
              <a:off x="1245710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手繪多邊形 4"/>
            <p:cNvSpPr/>
            <p:nvPr/>
          </p:nvSpPr>
          <p:spPr>
            <a:xfrm>
              <a:off x="1527065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期待留下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什麼記憶點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 rot="5400000">
              <a:off x="1245710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手繪多邊形 6"/>
            <p:cNvSpPr/>
            <p:nvPr/>
          </p:nvSpPr>
          <p:spPr>
            <a:xfrm>
              <a:off x="1527065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需要避開的痛點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869671" y="3491807"/>
              <a:ext cx="2203158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手繪多邊形 8"/>
            <p:cNvSpPr/>
            <p:nvPr/>
          </p:nvSpPr>
          <p:spPr>
            <a:xfrm>
              <a:off x="1527065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想創造的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心情及家庭氛圍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 rot="16200000">
              <a:off x="3458694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手繪多邊形 10"/>
            <p:cNvSpPr/>
            <p:nvPr/>
          </p:nvSpPr>
          <p:spPr>
            <a:xfrm>
              <a:off x="3740050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旅行方式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安全與健康</a:t>
              </a:r>
            </a:p>
          </p:txBody>
        </p:sp>
        <p:sp>
          <p:nvSpPr>
            <p:cNvPr id="12" name="矩形 11"/>
            <p:cNvSpPr/>
            <p:nvPr/>
          </p:nvSpPr>
          <p:spPr>
            <a:xfrm rot="16200000">
              <a:off x="3458694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手繪多邊形 12"/>
            <p:cNvSpPr/>
            <p:nvPr/>
          </p:nvSpPr>
          <p:spPr>
            <a:xfrm>
              <a:off x="3740050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第一次家庭</a:t>
              </a:r>
              <a:endParaRPr lang="en-US" altLang="zh-TW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國外過年旅遊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4082656" y="995959"/>
              <a:ext cx="2203158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手繪多邊形 14"/>
            <p:cNvSpPr/>
            <p:nvPr/>
          </p:nvSpPr>
          <p:spPr>
            <a:xfrm>
              <a:off x="3740050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為什麼要辦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家庭旅遊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 rot="5400000">
              <a:off x="5671679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手繪多邊形 16"/>
            <p:cNvSpPr/>
            <p:nvPr/>
          </p:nvSpPr>
          <p:spPr>
            <a:xfrm>
              <a:off x="5953035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需說服的對象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?-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母親大人</a:t>
              </a:r>
            </a:p>
          </p:txBody>
        </p:sp>
        <p:sp>
          <p:nvSpPr>
            <p:cNvPr id="18" name="矩形 17"/>
            <p:cNvSpPr/>
            <p:nvPr/>
          </p:nvSpPr>
          <p:spPr>
            <a:xfrm rot="5400000">
              <a:off x="5671679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手繪多邊形 18"/>
            <p:cNvSpPr/>
            <p:nvPr/>
          </p:nvSpPr>
          <p:spPr>
            <a:xfrm>
              <a:off x="5953035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要去的國家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手繪多邊形 19"/>
            <p:cNvSpPr/>
            <p:nvPr/>
          </p:nvSpPr>
          <p:spPr>
            <a:xfrm>
              <a:off x="5953035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經費來源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1" name="文字方塊 20"/>
          <p:cNvSpPr txBox="1"/>
          <p:nvPr/>
        </p:nvSpPr>
        <p:spPr>
          <a:xfrm>
            <a:off x="476545" y="175376"/>
            <a:ext cx="4006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1</a:t>
            </a:r>
            <a:r>
              <a:rPr lang="zh-TW" altLang="en-US" dirty="0"/>
              <a:t>：挑戰第一次家庭國外過年旅遊</a:t>
            </a:r>
          </a:p>
        </p:txBody>
      </p:sp>
    </p:spTree>
    <p:extLst>
      <p:ext uri="{BB962C8B-B14F-4D97-AF65-F5344CB8AC3E}">
        <p14:creationId xmlns:p14="http://schemas.microsoft.com/office/powerpoint/2010/main" val="3498406139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方塊 20"/>
          <p:cNvSpPr txBox="1"/>
          <p:nvPr/>
        </p:nvSpPr>
        <p:spPr>
          <a:xfrm>
            <a:off x="476545" y="175376"/>
            <a:ext cx="354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2</a:t>
            </a:r>
            <a:r>
              <a:rPr lang="zh-TW" altLang="en-US" dirty="0"/>
              <a:t>：如何增加跑步機銷售成績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611561" y="906565"/>
            <a:ext cx="79208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我在</a:t>
            </a:r>
            <a:r>
              <a:rPr lang="en-US" altLang="zh-TW" dirty="0" err="1"/>
              <a:t>tokuyo</a:t>
            </a:r>
            <a:r>
              <a:rPr lang="zh-TW" altLang="en-US" dirty="0"/>
              <a:t>按摩椅公司擔任</a:t>
            </a:r>
            <a:r>
              <a:rPr lang="en-US" altLang="zh-TW" dirty="0"/>
              <a:t>HR</a:t>
            </a:r>
            <a:r>
              <a:rPr lang="zh-TW" altLang="en-US" dirty="0"/>
              <a:t>職務，主管總是不吝嗇地和我分享以及討論，公司營運與新產品開發的想法和規劃，前幾年因為疫情關係，無法外出運動，進而促使我們的運動類商品業績突飛猛進，但隨著疫情解封後，跑步機單品項的銷量下降許多，如何下廣告以及推動新機器的操作，成了產品經理的重點功課之一，雖然我是門外漢，但也透過課程來練習如何思考，是本次主題發想的緣由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735" y="3123666"/>
            <a:ext cx="1232744" cy="2019352"/>
          </a:xfrm>
          <a:prstGeom prst="rect">
            <a:avLst/>
          </a:prstGeom>
        </p:spPr>
      </p:pic>
      <p:pic>
        <p:nvPicPr>
          <p:cNvPr id="3078" name="Picture 6" descr="跑步機上跑步PNG圖案，卡通PNG去背圖片素材，免費下載- Lovepi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593" b="100000" l="9780" r="9550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840" y="3094277"/>
            <a:ext cx="2049223" cy="2049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36200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/>
          <p:cNvGrpSpPr/>
          <p:nvPr/>
        </p:nvGrpSpPr>
        <p:grpSpPr>
          <a:xfrm>
            <a:off x="1527065" y="824656"/>
            <a:ext cx="6089868" cy="3494187"/>
            <a:chOff x="1527065" y="824656"/>
            <a:chExt cx="6089868" cy="3494187"/>
          </a:xfrm>
        </p:grpSpPr>
        <p:sp>
          <p:nvSpPr>
            <p:cNvPr id="4" name="矩形 3"/>
            <p:cNvSpPr/>
            <p:nvPr/>
          </p:nvSpPr>
          <p:spPr>
            <a:xfrm rot="5400000">
              <a:off x="1245710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手繪多邊形 4"/>
            <p:cNvSpPr/>
            <p:nvPr/>
          </p:nvSpPr>
          <p:spPr>
            <a:xfrm>
              <a:off x="1527065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可以怎麼購買</a:t>
              </a:r>
              <a:r>
                <a:rPr lang="en-US" altLang="zh-TW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6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 rot="5400000">
              <a:off x="1245710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手繪多邊形 6"/>
            <p:cNvSpPr/>
            <p:nvPr/>
          </p:nvSpPr>
          <p:spPr>
            <a:xfrm>
              <a:off x="1527065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是否提供試用</a:t>
              </a:r>
              <a:r>
                <a:rPr lang="en-US" altLang="zh-TW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6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869671" y="3491807"/>
              <a:ext cx="2203158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手繪多邊形 8"/>
            <p:cNvSpPr/>
            <p:nvPr/>
          </p:nvSpPr>
          <p:spPr>
            <a:xfrm>
              <a:off x="1527065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如何</a:t>
              </a:r>
              <a:r>
                <a:rPr lang="en-US" altLang="zh-TW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在哪裡</a:t>
              </a:r>
              <a:endParaRPr lang="en-US" altLang="zh-TW" sz="16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曝光商品</a:t>
              </a:r>
            </a:p>
          </p:txBody>
        </p:sp>
        <p:sp>
          <p:nvSpPr>
            <p:cNvPr id="10" name="矩形 9"/>
            <p:cNvSpPr/>
            <p:nvPr/>
          </p:nvSpPr>
          <p:spPr>
            <a:xfrm rot="16200000">
              <a:off x="3458694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手繪多邊形 10"/>
            <p:cNvSpPr/>
            <p:nvPr/>
          </p:nvSpPr>
          <p:spPr>
            <a:xfrm>
              <a:off x="3740050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價格以及</a:t>
              </a:r>
              <a:endParaRPr lang="en-US" altLang="zh-TW" sz="16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消費者期待</a:t>
              </a:r>
              <a:r>
                <a:rPr lang="en-US" altLang="zh-TW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6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16200000">
              <a:off x="3458694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手繪多邊形 12"/>
            <p:cNvSpPr/>
            <p:nvPr/>
          </p:nvSpPr>
          <p:spPr>
            <a:xfrm>
              <a:off x="3740050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增加跑步機</a:t>
              </a:r>
              <a:endParaRPr lang="en-US" altLang="zh-TW" sz="16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銷售成績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4082656" y="995959"/>
              <a:ext cx="2203158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手繪多邊形 14"/>
            <p:cNvSpPr/>
            <p:nvPr/>
          </p:nvSpPr>
          <p:spPr>
            <a:xfrm>
              <a:off x="3740050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為什麼要</a:t>
              </a:r>
              <a:endParaRPr lang="en-US" altLang="zh-TW" sz="16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使用跑步機</a:t>
              </a:r>
              <a:r>
                <a:rPr lang="en-US" altLang="zh-TW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6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 rot="5400000">
              <a:off x="5671679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手繪多邊形 16"/>
            <p:cNvSpPr/>
            <p:nvPr/>
          </p:nvSpPr>
          <p:spPr>
            <a:xfrm>
              <a:off x="5953035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鎖定的</a:t>
              </a:r>
              <a:endParaRPr lang="en-US" altLang="zh-TW" sz="16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族群有哪些</a:t>
              </a:r>
              <a:r>
                <a:rPr lang="en-US" altLang="zh-TW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6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 rot="5400000">
              <a:off x="5671679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手繪多邊形 18"/>
            <p:cNvSpPr/>
            <p:nvPr/>
          </p:nvSpPr>
          <p:spPr>
            <a:xfrm>
              <a:off x="5953035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跑步機可以在哪裡使用</a:t>
              </a:r>
              <a:r>
                <a:rPr lang="en-US" altLang="zh-TW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6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手繪多邊形 19"/>
            <p:cNvSpPr/>
            <p:nvPr/>
          </p:nvSpPr>
          <p:spPr>
            <a:xfrm>
              <a:off x="5953035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使用的好處</a:t>
              </a:r>
              <a:r>
                <a:rPr lang="en-US" altLang="zh-TW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6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1" name="文字方塊 20"/>
          <p:cNvSpPr txBox="1"/>
          <p:nvPr/>
        </p:nvSpPr>
        <p:spPr>
          <a:xfrm>
            <a:off x="476545" y="175376"/>
            <a:ext cx="354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2</a:t>
            </a:r>
            <a:r>
              <a:rPr lang="zh-TW" altLang="en-US" dirty="0"/>
              <a:t>：如何增加跑步機銷售成績</a:t>
            </a:r>
          </a:p>
        </p:txBody>
      </p:sp>
    </p:spTree>
    <p:extLst>
      <p:ext uri="{BB962C8B-B14F-4D97-AF65-F5344CB8AC3E}">
        <p14:creationId xmlns:p14="http://schemas.microsoft.com/office/powerpoint/2010/main" val="1332563056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方塊 20"/>
          <p:cNvSpPr txBox="1"/>
          <p:nvPr/>
        </p:nvSpPr>
        <p:spPr>
          <a:xfrm>
            <a:off x="476545" y="175376"/>
            <a:ext cx="383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3</a:t>
            </a:r>
            <a:r>
              <a:rPr lang="zh-TW" altLang="en-US" dirty="0"/>
              <a:t>：手作小物</a:t>
            </a:r>
            <a:r>
              <a:rPr lang="en-US" altLang="zh-TW" dirty="0"/>
              <a:t>Baby</a:t>
            </a:r>
            <a:r>
              <a:rPr lang="zh-TW" altLang="en-US" dirty="0"/>
              <a:t>彌月禮盒銷售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812534" y="906565"/>
            <a:ext cx="808426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/>
              <a:t>2021</a:t>
            </a:r>
            <a:r>
              <a:rPr lang="zh-TW" altLang="en-US" dirty="0"/>
              <a:t>年疫情期間，我的姪子誕生了，基於自己喜歡手作，也曾經許願學習縫紉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在這個有使用對象的契機下，買了人生第一台縫紉機，開始了姑姑的各種手作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也會偶爾接接朋友的訂單，客製新生兒禮物組合，如何持續穩定地受理訂單，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是本次發想的緣由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08" y="2892744"/>
            <a:ext cx="1935215" cy="2255859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845" y="2880825"/>
            <a:ext cx="2160240" cy="2267778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130" y="2838699"/>
            <a:ext cx="2319759" cy="229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89090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/>
          <p:cNvGrpSpPr/>
          <p:nvPr/>
        </p:nvGrpSpPr>
        <p:grpSpPr>
          <a:xfrm>
            <a:off x="1527065" y="824656"/>
            <a:ext cx="6089868" cy="3494187"/>
            <a:chOff x="1527065" y="824656"/>
            <a:chExt cx="6089868" cy="3494187"/>
          </a:xfrm>
        </p:grpSpPr>
        <p:sp>
          <p:nvSpPr>
            <p:cNvPr id="4" name="矩形 3"/>
            <p:cNvSpPr/>
            <p:nvPr/>
          </p:nvSpPr>
          <p:spPr>
            <a:xfrm rot="5400000">
              <a:off x="1245710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手繪多邊形 4"/>
            <p:cNvSpPr/>
            <p:nvPr/>
          </p:nvSpPr>
          <p:spPr>
            <a:xfrm>
              <a:off x="1527065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創造禮物是客製且特別專屬的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 rot="5400000">
              <a:off x="1245710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手繪多邊形 6"/>
            <p:cNvSpPr/>
            <p:nvPr/>
          </p:nvSpPr>
          <p:spPr>
            <a:xfrm>
              <a:off x="1527065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我的材料來源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869671" y="3491807"/>
              <a:ext cx="2203158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手繪多邊形 8"/>
            <p:cNvSpPr/>
            <p:nvPr/>
          </p:nvSpPr>
          <p:spPr>
            <a:xfrm>
              <a:off x="1527065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可接受的</a:t>
              </a:r>
              <a:endParaRPr lang="en-US" altLang="zh-TW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價格範圍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 rot="16200000">
              <a:off x="3458694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手繪多邊形 10"/>
            <p:cNvSpPr/>
            <p:nvPr/>
          </p:nvSpPr>
          <p:spPr>
            <a:xfrm>
              <a:off x="3740050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可以在哪裡購買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16200000">
              <a:off x="3458694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手繪多邊形 12"/>
            <p:cNvSpPr/>
            <p:nvPr/>
          </p:nvSpPr>
          <p:spPr>
            <a:xfrm>
              <a:off x="3740050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手作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Baby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彌月禮盒銷售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4082656" y="995959"/>
              <a:ext cx="2203158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手繪多邊形 14"/>
            <p:cNvSpPr/>
            <p:nvPr/>
          </p:nvSpPr>
          <p:spPr>
            <a:xfrm>
              <a:off x="3740050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哪些人會買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 rot="5400000">
              <a:off x="5671679" y="1619921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手繪多邊形 16"/>
            <p:cNvSpPr/>
            <p:nvPr/>
          </p:nvSpPr>
          <p:spPr>
            <a:xfrm>
              <a:off x="5953035" y="824656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送禮的想法</a:t>
              </a:r>
              <a:endParaRPr lang="en-US" altLang="zh-TW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有哪些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 rot="5400000">
              <a:off x="5671679" y="2867845"/>
              <a:ext cx="1238097" cy="1497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手繪多邊形 18"/>
            <p:cNvSpPr/>
            <p:nvPr/>
          </p:nvSpPr>
          <p:spPr>
            <a:xfrm>
              <a:off x="5953035" y="2072580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如何讓買家信賴我的成品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手繪多邊形 19"/>
            <p:cNvSpPr/>
            <p:nvPr/>
          </p:nvSpPr>
          <p:spPr>
            <a:xfrm>
              <a:off x="5953035" y="3320504"/>
              <a:ext cx="1663898" cy="998339"/>
            </a:xfrm>
            <a:custGeom>
              <a:avLst/>
              <a:gdLst>
                <a:gd name="connsiteX0" fmla="*/ 0 w 1663898"/>
                <a:gd name="connsiteY0" fmla="*/ 99834 h 998339"/>
                <a:gd name="connsiteX1" fmla="*/ 99834 w 1663898"/>
                <a:gd name="connsiteY1" fmla="*/ 0 h 998339"/>
                <a:gd name="connsiteX2" fmla="*/ 1564064 w 1663898"/>
                <a:gd name="connsiteY2" fmla="*/ 0 h 998339"/>
                <a:gd name="connsiteX3" fmla="*/ 1663898 w 1663898"/>
                <a:gd name="connsiteY3" fmla="*/ 99834 h 998339"/>
                <a:gd name="connsiteX4" fmla="*/ 1663898 w 1663898"/>
                <a:gd name="connsiteY4" fmla="*/ 898505 h 998339"/>
                <a:gd name="connsiteX5" fmla="*/ 1564064 w 1663898"/>
                <a:gd name="connsiteY5" fmla="*/ 998339 h 998339"/>
                <a:gd name="connsiteX6" fmla="*/ 99834 w 1663898"/>
                <a:gd name="connsiteY6" fmla="*/ 998339 h 998339"/>
                <a:gd name="connsiteX7" fmla="*/ 0 w 1663898"/>
                <a:gd name="connsiteY7" fmla="*/ 898505 h 998339"/>
                <a:gd name="connsiteX8" fmla="*/ 0 w 1663898"/>
                <a:gd name="connsiteY8" fmla="*/ 99834 h 9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3898" h="998339">
                  <a:moveTo>
                    <a:pt x="0" y="99834"/>
                  </a:moveTo>
                  <a:cubicBezTo>
                    <a:pt x="0" y="44697"/>
                    <a:pt x="44697" y="0"/>
                    <a:pt x="99834" y="0"/>
                  </a:cubicBezTo>
                  <a:lnTo>
                    <a:pt x="1564064" y="0"/>
                  </a:lnTo>
                  <a:cubicBezTo>
                    <a:pt x="1619201" y="0"/>
                    <a:pt x="1663898" y="44697"/>
                    <a:pt x="1663898" y="99834"/>
                  </a:cubicBezTo>
                  <a:lnTo>
                    <a:pt x="1663898" y="898505"/>
                  </a:lnTo>
                  <a:cubicBezTo>
                    <a:pt x="1663898" y="953642"/>
                    <a:pt x="1619201" y="998339"/>
                    <a:pt x="1564064" y="998339"/>
                  </a:cubicBezTo>
                  <a:lnTo>
                    <a:pt x="99834" y="998339"/>
                  </a:lnTo>
                  <a:cubicBezTo>
                    <a:pt x="44697" y="998339"/>
                    <a:pt x="0" y="953642"/>
                    <a:pt x="0" y="898505"/>
                  </a:cubicBezTo>
                  <a:lnTo>
                    <a:pt x="0" y="9983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970" tIns="154970" rIns="154970" bIns="15497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如何讓作品曝光</a:t>
              </a:r>
              <a:r>
                <a:rPr lang="en-US" altLang="zh-TW" sz="1400" kern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?</a:t>
              </a:r>
              <a:endParaRPr lang="zh-TW" altLang="en-US" sz="1400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1" name="文字方塊 20"/>
          <p:cNvSpPr txBox="1"/>
          <p:nvPr/>
        </p:nvSpPr>
        <p:spPr>
          <a:xfrm>
            <a:off x="476545" y="175376"/>
            <a:ext cx="383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3</a:t>
            </a:r>
            <a:r>
              <a:rPr lang="zh-TW" altLang="en-US" dirty="0"/>
              <a:t>：手作小物</a:t>
            </a:r>
            <a:r>
              <a:rPr lang="en-US" altLang="zh-TW" dirty="0"/>
              <a:t>Baby</a:t>
            </a:r>
            <a:r>
              <a:rPr lang="zh-TW" altLang="en-US" dirty="0"/>
              <a:t>彌月禮盒銷售</a:t>
            </a:r>
          </a:p>
        </p:txBody>
      </p:sp>
    </p:spTree>
    <p:extLst>
      <p:ext uri="{BB962C8B-B14F-4D97-AF65-F5344CB8AC3E}">
        <p14:creationId xmlns:p14="http://schemas.microsoft.com/office/powerpoint/2010/main" val="3851932744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2006715" y="1311610"/>
            <a:ext cx="5085565" cy="216024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5400" dirty="0">
                <a:latin typeface="微軟正黑體" pitchFamily="34" charset="-120"/>
                <a:ea typeface="微軟正黑體" pitchFamily="34" charset="-120"/>
              </a:rPr>
              <a:t>第四次提案</a:t>
            </a:r>
          </a:p>
        </p:txBody>
      </p:sp>
    </p:spTree>
    <p:extLst>
      <p:ext uri="{BB962C8B-B14F-4D97-AF65-F5344CB8AC3E}">
        <p14:creationId xmlns:p14="http://schemas.microsoft.com/office/powerpoint/2010/main" val="3207736677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方塊 20"/>
          <p:cNvSpPr txBox="1"/>
          <p:nvPr/>
        </p:nvSpPr>
        <p:spPr>
          <a:xfrm>
            <a:off x="476545" y="175376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10</a:t>
            </a:r>
            <a:r>
              <a:rPr lang="zh-TW" altLang="en-US" dirty="0"/>
              <a:t>：冰品店服務流程改善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812534" y="906565"/>
            <a:ext cx="59647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近期朋友將自己創業的店面改為冰品店，除了將店面陳列、布置、設備等進行調整外，因應服務實體進店的客人外，外送訂單以及線上點餐系統需提供的服務檢核，應改善哪些小地方，是本次發想的緣由</a:t>
            </a:r>
          </a:p>
        </p:txBody>
      </p:sp>
      <p:pic>
        <p:nvPicPr>
          <p:cNvPr id="1026" name="Picture 2" descr="刨冰圖片PNG去背圖| 矢量圖案素材| 免费下载| Pngtree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00" b="97222" l="5278" r="93056">
                        <a14:foregroundMark x1="16111" y1="58889" x2="16111" y2="58889"/>
                        <a14:foregroundMark x1="16667" y1="67778" x2="16667" y2="67778"/>
                        <a14:foregroundMark x1="18333" y1="66667" x2="18333" y2="66667"/>
                        <a14:foregroundMark x1="19444" y1="64167" x2="19444" y2="64167"/>
                        <a14:foregroundMark x1="13889" y1="63333" x2="13889" y2="6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641" y="1761661"/>
            <a:ext cx="3381839" cy="338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091380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431540" y="96475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10</a:t>
            </a:r>
            <a:r>
              <a:rPr lang="zh-TW" altLang="en-US" dirty="0"/>
              <a:t>：冰品店服務流程改善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66552" y="607936"/>
          <a:ext cx="7965888" cy="428419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3681">
                  <a:extLst>
                    <a:ext uri="{9D8B030D-6E8A-4147-A177-3AD203B41FA5}">
                      <a16:colId xmlns:a16="http://schemas.microsoft.com/office/drawing/2014/main" val="2656092419"/>
                    </a:ext>
                  </a:extLst>
                </a:gridCol>
                <a:gridCol w="1848665">
                  <a:extLst>
                    <a:ext uri="{9D8B030D-6E8A-4147-A177-3AD203B41FA5}">
                      <a16:colId xmlns:a16="http://schemas.microsoft.com/office/drawing/2014/main" val="4214556189"/>
                    </a:ext>
                  </a:extLst>
                </a:gridCol>
                <a:gridCol w="1696875">
                  <a:extLst>
                    <a:ext uri="{9D8B030D-6E8A-4147-A177-3AD203B41FA5}">
                      <a16:colId xmlns:a16="http://schemas.microsoft.com/office/drawing/2014/main" val="1382106539"/>
                    </a:ext>
                  </a:extLst>
                </a:gridCol>
                <a:gridCol w="1791146">
                  <a:extLst>
                    <a:ext uri="{9D8B030D-6E8A-4147-A177-3AD203B41FA5}">
                      <a16:colId xmlns:a16="http://schemas.microsoft.com/office/drawing/2014/main" val="624150165"/>
                    </a:ext>
                  </a:extLst>
                </a:gridCol>
                <a:gridCol w="1225521">
                  <a:extLst>
                    <a:ext uri="{9D8B030D-6E8A-4147-A177-3AD203B41FA5}">
                      <a16:colId xmlns:a16="http://schemas.microsoft.com/office/drawing/2014/main" val="1989690989"/>
                    </a:ext>
                  </a:extLst>
                </a:gridCol>
              </a:tblGrid>
              <a:tr h="354294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實體消費者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線上消費者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櫃台服務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後台製餐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695974"/>
                  </a:ext>
                </a:extLst>
              </a:tr>
              <a:tr h="3273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看菜單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菜單在哪裡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線上菜單查看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注意消費者上前時間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458778"/>
                  </a:ext>
                </a:extLst>
              </a:tr>
              <a:tr h="295245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實體菜單查看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照片參考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770704"/>
                  </a:ext>
                </a:extLst>
              </a:tr>
              <a:tr h="295245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查找照片參考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070454"/>
                  </a:ext>
                </a:extLst>
              </a:tr>
              <a:tr h="2952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點餐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選畫、清楚告知餐點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點選選項訂餐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介紹解說餐點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接收訂單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801370"/>
                  </a:ext>
                </a:extLst>
              </a:tr>
              <a:tr h="295245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提出餐點疑問</a:t>
                      </a:r>
                      <a:r>
                        <a:rPr lang="en-US" altLang="zh-TW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了解內容</a:t>
                      </a:r>
                      <a:r>
                        <a:rPr lang="en-US" altLang="zh-TW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)</a:t>
                      </a:r>
                      <a:endParaRPr lang="zh-TW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確認項目下單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複誦確認點餐項目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668515"/>
                  </a:ext>
                </a:extLst>
              </a:tr>
              <a:tr h="29524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確認餐點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875372"/>
                  </a:ext>
                </a:extLst>
              </a:tr>
              <a:tr h="3297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收費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現金付款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選擇付費方式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收費確認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324140"/>
                  </a:ext>
                </a:extLst>
              </a:tr>
              <a:tr h="295245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電子支付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046588"/>
                  </a:ext>
                </a:extLst>
              </a:tr>
              <a:tr h="29524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取餐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叫號自行取餐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選擇自取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製作餐點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985965"/>
                  </a:ext>
                </a:extLst>
              </a:tr>
              <a:tr h="29524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等待送餐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選擇外送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送餐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送出至前台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706867"/>
                  </a:ext>
                </a:extLst>
              </a:tr>
              <a:tr h="29524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結束用餐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清潔、洗手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自己丟垃圾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收拾桌面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97963"/>
                  </a:ext>
                </a:extLst>
              </a:tr>
              <a:tr h="2952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離開店面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清潔消毒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074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417553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476545" y="175376"/>
            <a:ext cx="5271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11</a:t>
            </a:r>
            <a:r>
              <a:rPr lang="zh-TW" altLang="en-US" dirty="0"/>
              <a:t>：如何吸引消費者駐足停留，提升進店機會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812534" y="906565"/>
            <a:ext cx="690981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到百貨公司逛街，有些人是為了找特定的商品，有些人則是閒晃的時候，看看是否有平常看過但不是必須得買的商品，偶而會有衝動型消費狀況產生，但在櫃位上等待客人的銷售人員，如何吸引想進來但不敢進來的消費者進店，提升可以介紹商品的機會，是本次發想的緣由</a:t>
            </a:r>
          </a:p>
        </p:txBody>
      </p:sp>
      <p:pic>
        <p:nvPicPr>
          <p:cNvPr id="2050" name="Picture 2" descr="百貨公司圖片PNG去背圖| 矢量圖案素材| 免费下载| Pngtree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1" y="2121700"/>
            <a:ext cx="3301076" cy="3301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816412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476545" y="175376"/>
            <a:ext cx="5271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11</a:t>
            </a:r>
            <a:r>
              <a:rPr lang="zh-TW" altLang="en-US" dirty="0"/>
              <a:t>：如何吸引消費者駐足停留，提升進店機會</a:t>
            </a:r>
          </a:p>
        </p:txBody>
      </p:sp>
      <p:graphicFrame>
        <p:nvGraphicFramePr>
          <p:cNvPr id="4" name="資料庫圖表 3"/>
          <p:cNvGraphicFramePr/>
          <p:nvPr/>
        </p:nvGraphicFramePr>
        <p:xfrm>
          <a:off x="1511659" y="636535"/>
          <a:ext cx="6525725" cy="6300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圓角矩形 4"/>
          <p:cNvSpPr/>
          <p:nvPr/>
        </p:nvSpPr>
        <p:spPr>
          <a:xfrm>
            <a:off x="440722" y="1444660"/>
            <a:ext cx="630070" cy="630070"/>
          </a:xfrm>
          <a:prstGeom prst="roundRect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活動</a:t>
            </a:r>
          </a:p>
        </p:txBody>
      </p:sp>
      <p:sp>
        <p:nvSpPr>
          <p:cNvPr id="6" name="圓角矩形 5"/>
          <p:cNvSpPr/>
          <p:nvPr/>
        </p:nvSpPr>
        <p:spPr>
          <a:xfrm>
            <a:off x="440722" y="2436883"/>
            <a:ext cx="630070" cy="630070"/>
          </a:xfrm>
          <a:prstGeom prst="roundRect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心情</a:t>
            </a:r>
          </a:p>
        </p:txBody>
      </p:sp>
      <p:sp>
        <p:nvSpPr>
          <p:cNvPr id="7" name="圓角矩形 6"/>
          <p:cNvSpPr/>
          <p:nvPr/>
        </p:nvSpPr>
        <p:spPr>
          <a:xfrm>
            <a:off x="440722" y="3561860"/>
            <a:ext cx="630070" cy="630070"/>
          </a:xfrm>
          <a:prstGeom prst="roundRect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痛點</a:t>
            </a:r>
          </a:p>
        </p:txBody>
      </p:sp>
      <p:sp>
        <p:nvSpPr>
          <p:cNvPr id="8" name="圓角矩形 7"/>
          <p:cNvSpPr/>
          <p:nvPr/>
        </p:nvSpPr>
        <p:spPr>
          <a:xfrm>
            <a:off x="440722" y="4411491"/>
            <a:ext cx="630070" cy="630070"/>
          </a:xfrm>
          <a:prstGeom prst="roundRect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機會</a:t>
            </a:r>
          </a:p>
        </p:txBody>
      </p:sp>
      <p:sp>
        <p:nvSpPr>
          <p:cNvPr id="18" name="手繪多邊形 17"/>
          <p:cNvSpPr/>
          <p:nvPr/>
        </p:nvSpPr>
        <p:spPr>
          <a:xfrm rot="21427071">
            <a:off x="1032129" y="2106721"/>
            <a:ext cx="7206000" cy="798738"/>
          </a:xfrm>
          <a:custGeom>
            <a:avLst/>
            <a:gdLst>
              <a:gd name="connsiteX0" fmla="*/ 0 w 7206000"/>
              <a:gd name="connsiteY0" fmla="*/ 656073 h 798738"/>
              <a:gd name="connsiteX1" fmla="*/ 1143000 w 7206000"/>
              <a:gd name="connsiteY1" fmla="*/ 218468 h 798738"/>
              <a:gd name="connsiteX2" fmla="*/ 1874520 w 7206000"/>
              <a:gd name="connsiteY2" fmla="*/ 675668 h 798738"/>
              <a:gd name="connsiteX3" fmla="*/ 2736668 w 7206000"/>
              <a:gd name="connsiteY3" fmla="*/ 793233 h 798738"/>
              <a:gd name="connsiteX4" fmla="*/ 3833948 w 7206000"/>
              <a:gd name="connsiteY4" fmla="*/ 545039 h 798738"/>
              <a:gd name="connsiteX5" fmla="*/ 4362994 w 7206000"/>
              <a:gd name="connsiteY5" fmla="*/ 316439 h 798738"/>
              <a:gd name="connsiteX6" fmla="*/ 4885508 w 7206000"/>
              <a:gd name="connsiteY6" fmla="*/ 486256 h 798738"/>
              <a:gd name="connsiteX7" fmla="*/ 5649686 w 7206000"/>
              <a:gd name="connsiteY7" fmla="*/ 100902 h 798738"/>
              <a:gd name="connsiteX8" fmla="*/ 6374674 w 7206000"/>
              <a:gd name="connsiteY8" fmla="*/ 355628 h 798738"/>
              <a:gd name="connsiteX9" fmla="*/ 7125788 w 7206000"/>
              <a:gd name="connsiteY9" fmla="*/ 29056 h 798738"/>
              <a:gd name="connsiteX10" fmla="*/ 7184571 w 7206000"/>
              <a:gd name="connsiteY10" fmla="*/ 15993 h 798738"/>
              <a:gd name="connsiteX11" fmla="*/ 7184571 w 7206000"/>
              <a:gd name="connsiteY11" fmla="*/ 15993 h 798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206000" h="798738">
                <a:moveTo>
                  <a:pt x="0" y="656073"/>
                </a:moveTo>
                <a:cubicBezTo>
                  <a:pt x="415290" y="435637"/>
                  <a:pt x="830580" y="215202"/>
                  <a:pt x="1143000" y="218468"/>
                </a:cubicBezTo>
                <a:cubicBezTo>
                  <a:pt x="1455420" y="221734"/>
                  <a:pt x="1608909" y="579874"/>
                  <a:pt x="1874520" y="675668"/>
                </a:cubicBezTo>
                <a:cubicBezTo>
                  <a:pt x="2140131" y="771462"/>
                  <a:pt x="2410097" y="815005"/>
                  <a:pt x="2736668" y="793233"/>
                </a:cubicBezTo>
                <a:cubicBezTo>
                  <a:pt x="3063239" y="771462"/>
                  <a:pt x="3562894" y="624505"/>
                  <a:pt x="3833948" y="545039"/>
                </a:cubicBezTo>
                <a:cubicBezTo>
                  <a:pt x="4105002" y="465573"/>
                  <a:pt x="4187734" y="326236"/>
                  <a:pt x="4362994" y="316439"/>
                </a:cubicBezTo>
                <a:cubicBezTo>
                  <a:pt x="4538254" y="306642"/>
                  <a:pt x="4671059" y="522179"/>
                  <a:pt x="4885508" y="486256"/>
                </a:cubicBezTo>
                <a:cubicBezTo>
                  <a:pt x="5099957" y="450333"/>
                  <a:pt x="5401492" y="122673"/>
                  <a:pt x="5649686" y="100902"/>
                </a:cubicBezTo>
                <a:cubicBezTo>
                  <a:pt x="5897880" y="79131"/>
                  <a:pt x="6128657" y="367602"/>
                  <a:pt x="6374674" y="355628"/>
                </a:cubicBezTo>
                <a:cubicBezTo>
                  <a:pt x="6620691" y="343654"/>
                  <a:pt x="6990805" y="85662"/>
                  <a:pt x="7125788" y="29056"/>
                </a:cubicBezTo>
                <a:cubicBezTo>
                  <a:pt x="7260771" y="-27550"/>
                  <a:pt x="7184571" y="15993"/>
                  <a:pt x="7184571" y="15993"/>
                </a:cubicBezTo>
                <a:lnTo>
                  <a:pt x="7184571" y="15993"/>
                </a:ln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1064623" y="1563970"/>
            <a:ext cx="13965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抵達涼爽的百貨公司</a:t>
            </a:r>
          </a:p>
        </p:txBody>
      </p:sp>
      <p:sp>
        <p:nvSpPr>
          <p:cNvPr id="20" name="文字方塊 19"/>
          <p:cNvSpPr txBox="1"/>
          <p:nvPr/>
        </p:nvSpPr>
        <p:spPr>
          <a:xfrm>
            <a:off x="1942169" y="1811873"/>
            <a:ext cx="117013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閒逛並目光掃射有興趣的商品</a:t>
            </a:r>
          </a:p>
        </p:txBody>
      </p:sp>
      <p:sp>
        <p:nvSpPr>
          <p:cNvPr id="21" name="文字方塊 20"/>
          <p:cNvSpPr txBox="1"/>
          <p:nvPr/>
        </p:nvSpPr>
        <p:spPr>
          <a:xfrm>
            <a:off x="3044194" y="1506450"/>
            <a:ext cx="11701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思考最近缺什麼</a:t>
            </a:r>
            <a:r>
              <a:rPr lang="en-US" altLang="zh-TW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446875" y="1852805"/>
            <a:ext cx="15301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連結現場節慶活動資訊</a:t>
            </a:r>
          </a:p>
        </p:txBody>
      </p:sp>
      <p:sp>
        <p:nvSpPr>
          <p:cNvPr id="23" name="文字方塊 22"/>
          <p:cNvSpPr txBox="1"/>
          <p:nvPr/>
        </p:nvSpPr>
        <p:spPr>
          <a:xfrm>
            <a:off x="4441092" y="1506450"/>
            <a:ext cx="15301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查看現場優惠活動資訊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5093664" y="1852805"/>
            <a:ext cx="15301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店頭優惠方案訊息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282190" y="1462909"/>
            <a:ext cx="15301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看現場電子廣告資訊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6672712" y="1815266"/>
            <a:ext cx="15301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聆聽銷售人員介紹商品</a:t>
            </a:r>
          </a:p>
        </p:txBody>
      </p:sp>
      <p:sp>
        <p:nvSpPr>
          <p:cNvPr id="27" name="圓角矩形 26"/>
          <p:cNvSpPr/>
          <p:nvPr/>
        </p:nvSpPr>
        <p:spPr>
          <a:xfrm>
            <a:off x="8153537" y="1197007"/>
            <a:ext cx="989997" cy="880769"/>
          </a:xfrm>
          <a:prstGeom prst="roundRect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/>
              <a:t>買到喜歡的東西</a:t>
            </a:r>
          </a:p>
        </p:txBody>
      </p:sp>
      <p:sp>
        <p:nvSpPr>
          <p:cNvPr id="28" name="文字方塊 27"/>
          <p:cNvSpPr txBox="1"/>
          <p:nvPr/>
        </p:nvSpPr>
        <p:spPr>
          <a:xfrm>
            <a:off x="1243901" y="3688215"/>
            <a:ext cx="15311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各個櫃位都很涼爽</a:t>
            </a:r>
            <a:endParaRPr lang="en-US" altLang="zh-TW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沒有特別吸引人的溫度</a:t>
            </a:r>
          </a:p>
        </p:txBody>
      </p:sp>
      <p:sp>
        <p:nvSpPr>
          <p:cNvPr id="29" name="矩形 28"/>
          <p:cNvSpPr/>
          <p:nvPr/>
        </p:nvSpPr>
        <p:spPr>
          <a:xfrm>
            <a:off x="1286635" y="2363153"/>
            <a:ext cx="655534" cy="35022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進到涼爽的環境</a:t>
            </a:r>
          </a:p>
        </p:txBody>
      </p:sp>
      <p:sp>
        <p:nvSpPr>
          <p:cNvPr id="30" name="文字方塊 29"/>
          <p:cNvSpPr txBox="1"/>
          <p:nvPr/>
        </p:nvSpPr>
        <p:spPr>
          <a:xfrm>
            <a:off x="1176575" y="4477991"/>
            <a:ext cx="244810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提供吸引人的感官觸及</a:t>
            </a:r>
            <a:endParaRPr lang="en-US" altLang="zh-TW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搭配節慶活動提供快速選物參考資訊</a:t>
            </a:r>
            <a:endParaRPr lang="en-US" altLang="zh-TW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提供與其他櫃位不一樣的介紹方式</a:t>
            </a:r>
          </a:p>
        </p:txBody>
      </p:sp>
      <p:sp>
        <p:nvSpPr>
          <p:cNvPr id="31" name="矩形 30"/>
          <p:cNvSpPr/>
          <p:nvPr/>
        </p:nvSpPr>
        <p:spPr>
          <a:xfrm>
            <a:off x="2164680" y="2261493"/>
            <a:ext cx="787140" cy="35022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對所有櫃位感到新鮮</a:t>
            </a:r>
          </a:p>
        </p:txBody>
      </p:sp>
      <p:sp>
        <p:nvSpPr>
          <p:cNvPr id="32" name="矩形 31"/>
          <p:cNvSpPr/>
          <p:nvPr/>
        </p:nvSpPr>
        <p:spPr>
          <a:xfrm>
            <a:off x="2837541" y="2735894"/>
            <a:ext cx="879364" cy="35022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品項太多</a:t>
            </a:r>
            <a:endParaRPr lang="en-US" altLang="zh-TW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不知從何看起</a:t>
            </a:r>
          </a:p>
        </p:txBody>
      </p:sp>
      <p:sp>
        <p:nvSpPr>
          <p:cNvPr id="33" name="矩形 32"/>
          <p:cNvSpPr/>
          <p:nvPr/>
        </p:nvSpPr>
        <p:spPr>
          <a:xfrm>
            <a:off x="4001410" y="2607609"/>
            <a:ext cx="879364" cy="35022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查找特惠方案資訊</a:t>
            </a:r>
          </a:p>
        </p:txBody>
      </p:sp>
      <p:sp>
        <p:nvSpPr>
          <p:cNvPr id="34" name="矩形 33"/>
          <p:cNvSpPr/>
          <p:nvPr/>
        </p:nvSpPr>
        <p:spPr>
          <a:xfrm>
            <a:off x="5004660" y="2134280"/>
            <a:ext cx="647460" cy="35022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有便利的</a:t>
            </a:r>
            <a:endParaRPr lang="en-US" altLang="zh-TW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優惠組合</a:t>
            </a:r>
          </a:p>
        </p:txBody>
      </p:sp>
      <p:sp>
        <p:nvSpPr>
          <p:cNvPr id="35" name="矩形 34"/>
          <p:cNvSpPr/>
          <p:nvPr/>
        </p:nvSpPr>
        <p:spPr>
          <a:xfrm>
            <a:off x="5672110" y="2517807"/>
            <a:ext cx="647460" cy="35022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如何進行選擇</a:t>
            </a:r>
          </a:p>
        </p:txBody>
      </p:sp>
      <p:sp>
        <p:nvSpPr>
          <p:cNvPr id="36" name="矩形 35"/>
          <p:cNvSpPr/>
          <p:nvPr/>
        </p:nvSpPr>
        <p:spPr>
          <a:xfrm>
            <a:off x="6417495" y="2034656"/>
            <a:ext cx="647460" cy="35022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針對需求聆聽介紹</a:t>
            </a:r>
          </a:p>
        </p:txBody>
      </p:sp>
      <p:sp>
        <p:nvSpPr>
          <p:cNvPr id="37" name="矩形 36"/>
          <p:cNvSpPr/>
          <p:nvPr/>
        </p:nvSpPr>
        <p:spPr>
          <a:xfrm>
            <a:off x="7196453" y="2306167"/>
            <a:ext cx="647460" cy="35022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議價時間</a:t>
            </a:r>
          </a:p>
        </p:txBody>
      </p:sp>
      <p:sp>
        <p:nvSpPr>
          <p:cNvPr id="38" name="文字方塊 37"/>
          <p:cNvSpPr txBox="1"/>
          <p:nvPr/>
        </p:nvSpPr>
        <p:spPr>
          <a:xfrm>
            <a:off x="3044556" y="3550716"/>
            <a:ext cx="139653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不知道要買什麼</a:t>
            </a:r>
            <a:endParaRPr lang="en-US" altLang="zh-TW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覺得每個東西差不多</a:t>
            </a:r>
            <a:endParaRPr lang="en-US" altLang="zh-TW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快速走過，沒有停留</a:t>
            </a:r>
          </a:p>
        </p:txBody>
      </p:sp>
      <p:sp>
        <p:nvSpPr>
          <p:cNvPr id="39" name="文字方塊 38"/>
          <p:cNvSpPr txBox="1"/>
          <p:nvPr/>
        </p:nvSpPr>
        <p:spPr>
          <a:xfrm>
            <a:off x="3780607" y="4445902"/>
            <a:ext cx="244810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提供專業介紹資訊服務</a:t>
            </a:r>
            <a:endParaRPr lang="en-US" altLang="zh-TW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</a:t>
            </a:r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提供便利滿足需求的商品組合及介紹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5018320" y="3526632"/>
            <a:ext cx="19351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優惠資訊太多，無法立即消化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6746939" y="3769006"/>
            <a:ext cx="23391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銷售人員緊迫盯人，覺得不買有壓力</a:t>
            </a:r>
          </a:p>
        </p:txBody>
      </p:sp>
    </p:spTree>
    <p:extLst>
      <p:ext uri="{BB962C8B-B14F-4D97-AF65-F5344CB8AC3E}">
        <p14:creationId xmlns:p14="http://schemas.microsoft.com/office/powerpoint/2010/main" val="1476418605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476545" y="175376"/>
            <a:ext cx="6211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12</a:t>
            </a:r>
            <a:r>
              <a:rPr lang="zh-TW" altLang="en-US" dirty="0"/>
              <a:t>：如何提升公司招募競爭力，提升招募人才數量機會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812534" y="906565"/>
            <a:ext cx="72698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近兩年</a:t>
            </a:r>
            <a:r>
              <a:rPr lang="en-US" altLang="zh-TW" dirty="0"/>
              <a:t>HR</a:t>
            </a:r>
            <a:r>
              <a:rPr lang="zh-TW" altLang="en-US" dirty="0"/>
              <a:t>面臨的大難題除了留才之外，招募選才也是一大難關，除了招募方式需要調整之外，公司內部的管理、訓練以及福利等，或許都是吸引人才投遞履歷的關鍵因素之一，如何提升招募競爭力，是本次發想的緣由</a:t>
            </a:r>
          </a:p>
        </p:txBody>
      </p:sp>
      <p:pic>
        <p:nvPicPr>
          <p:cNvPr id="3076" name="Picture 4" descr="工作圖案素材| PNG和向量圖| 透明背景圖片| 免費下载- Pngtree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5000" r="9805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060" y="2121701"/>
            <a:ext cx="3834045" cy="383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154752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21550" y="996575"/>
          <a:ext cx="5670636" cy="13027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5106">
                  <a:extLst>
                    <a:ext uri="{9D8B030D-6E8A-4147-A177-3AD203B41FA5}">
                      <a16:colId xmlns:a16="http://schemas.microsoft.com/office/drawing/2014/main" val="3798773846"/>
                    </a:ext>
                  </a:extLst>
                </a:gridCol>
                <a:gridCol w="945106">
                  <a:extLst>
                    <a:ext uri="{9D8B030D-6E8A-4147-A177-3AD203B41FA5}">
                      <a16:colId xmlns:a16="http://schemas.microsoft.com/office/drawing/2014/main" val="1376565535"/>
                    </a:ext>
                  </a:extLst>
                </a:gridCol>
                <a:gridCol w="945106">
                  <a:extLst>
                    <a:ext uri="{9D8B030D-6E8A-4147-A177-3AD203B41FA5}">
                      <a16:colId xmlns:a16="http://schemas.microsoft.com/office/drawing/2014/main" val="1315082124"/>
                    </a:ext>
                  </a:extLst>
                </a:gridCol>
                <a:gridCol w="945106">
                  <a:extLst>
                    <a:ext uri="{9D8B030D-6E8A-4147-A177-3AD203B41FA5}">
                      <a16:colId xmlns:a16="http://schemas.microsoft.com/office/drawing/2014/main" val="3596706802"/>
                    </a:ext>
                  </a:extLst>
                </a:gridCol>
                <a:gridCol w="945106">
                  <a:extLst>
                    <a:ext uri="{9D8B030D-6E8A-4147-A177-3AD203B41FA5}">
                      <a16:colId xmlns:a16="http://schemas.microsoft.com/office/drawing/2014/main" val="629303518"/>
                    </a:ext>
                  </a:extLst>
                </a:gridCol>
                <a:gridCol w="945106">
                  <a:extLst>
                    <a:ext uri="{9D8B030D-6E8A-4147-A177-3AD203B41FA5}">
                      <a16:colId xmlns:a16="http://schemas.microsoft.com/office/drawing/2014/main" val="3765167006"/>
                    </a:ext>
                  </a:extLst>
                </a:gridCol>
              </a:tblGrid>
              <a:tr h="67507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受僱員工人數</a:t>
                      </a:r>
                      <a:b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b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職缺數</a:t>
                      </a:r>
                      <a:b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b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</a:t>
                      </a:r>
                      <a:endParaRPr lang="en-US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職缺數</a:t>
                      </a:r>
                      <a:b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扣除短期職缺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b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b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職缺率</a:t>
                      </a:r>
                      <a:b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b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B/(A＋B)</a:t>
                      </a:r>
                      <a:endParaRPr lang="en-US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職缺率</a:t>
                      </a:r>
                      <a:b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扣除短期職缺</a:t>
                      </a:r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b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C/(A</a:t>
                      </a:r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＋</a:t>
                      </a:r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C)</a:t>
                      </a:r>
                      <a:endParaRPr lang="en-US" altLang="zh-TW" sz="1100" b="0" i="0" u="none" strike="noStrike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16750097"/>
                  </a:ext>
                </a:extLst>
              </a:tr>
              <a:tr h="2075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11208</a:t>
                      </a:r>
                      <a:endParaRPr lang="en-US" altLang="zh-TW" sz="1100" b="1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1,707,632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41,907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31,060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2.40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1.79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7151154"/>
                  </a:ext>
                </a:extLst>
              </a:tr>
              <a:tr h="2075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11108</a:t>
                      </a:r>
                      <a:endParaRPr lang="en-US" altLang="zh-TW" sz="1100" b="1" i="0" u="none" strike="noStrike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1,707,221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39,748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27,844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2.28</a:t>
                      </a:r>
                      <a:endParaRPr lang="en-US" altLang="zh-TW" sz="1100" b="0" i="0" u="none" strike="noStrike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1.60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4341589"/>
                  </a:ext>
                </a:extLst>
              </a:tr>
              <a:tr h="2075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11008</a:t>
                      </a:r>
                      <a:endParaRPr lang="en-US" altLang="zh-TW" sz="1100" b="0" i="0" u="none" strike="noStrike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1,698,841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38,804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22,979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2.23</a:t>
                      </a:r>
                      <a:endParaRPr lang="en-US" altLang="zh-TW" sz="1100" b="0" i="0" u="none" strike="noStrike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1.33</a:t>
                      </a:r>
                      <a:endParaRPr lang="en-US" altLang="zh-TW" sz="1100" b="0" i="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0798019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926595" y="276495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各業廠商職缺概況－按行業及員工規模分</a:t>
            </a:r>
          </a:p>
        </p:txBody>
      </p:sp>
      <p:sp>
        <p:nvSpPr>
          <p:cNvPr id="4" name="矩形 3"/>
          <p:cNvSpPr/>
          <p:nvPr/>
        </p:nvSpPr>
        <p:spPr>
          <a:xfrm>
            <a:off x="4766796" y="698846"/>
            <a:ext cx="1425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單位：人；個；</a:t>
            </a:r>
            <a:r>
              <a:rPr lang="en-US" altLang="zh-TW" sz="1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%</a:t>
            </a:r>
            <a:r>
              <a:rPr lang="zh-TW" altLang="en-US" sz="1200" dirty="0"/>
              <a:t> </a:t>
            </a:r>
          </a:p>
        </p:txBody>
      </p:sp>
      <p:graphicFrame>
        <p:nvGraphicFramePr>
          <p:cNvPr id="5" name="圖表 4"/>
          <p:cNvGraphicFramePr>
            <a:graphicFrameLocks/>
          </p:cNvGraphicFramePr>
          <p:nvPr/>
        </p:nvGraphicFramePr>
        <p:xfrm>
          <a:off x="1005027" y="2436735"/>
          <a:ext cx="4273331" cy="2610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5607115" y="2796775"/>
            <a:ext cx="3375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可看出</a:t>
            </a:r>
            <a:r>
              <a:rPr lang="en-US" altLang="zh-TW" dirty="0"/>
              <a:t>110-112</a:t>
            </a:r>
            <a:r>
              <a:rPr lang="zh-TW" altLang="en-US" dirty="0"/>
              <a:t>年職缺率上升</a:t>
            </a:r>
            <a:endParaRPr lang="en-US" altLang="zh-TW" dirty="0"/>
          </a:p>
          <a:p>
            <a:r>
              <a:rPr lang="zh-TW" altLang="en-US" dirty="0"/>
              <a:t>短期職缺下降，以超過</a:t>
            </a:r>
            <a:r>
              <a:rPr lang="en-US" altLang="zh-TW" dirty="0"/>
              <a:t>1</a:t>
            </a:r>
            <a:r>
              <a:rPr lang="zh-TW" altLang="en-US" dirty="0"/>
              <a:t>個月以上職缺為主</a:t>
            </a:r>
          </a:p>
        </p:txBody>
      </p:sp>
    </p:spTree>
    <p:extLst>
      <p:ext uri="{BB962C8B-B14F-4D97-AF65-F5344CB8AC3E}">
        <p14:creationId xmlns:p14="http://schemas.microsoft.com/office/powerpoint/2010/main" val="2785663062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476545" y="17537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12</a:t>
            </a:r>
            <a:r>
              <a:rPr lang="zh-TW" altLang="en-US" dirty="0"/>
              <a:t>：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46575" y="591530"/>
          <a:ext cx="7425828" cy="43308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50150">
                  <a:extLst>
                    <a:ext uri="{9D8B030D-6E8A-4147-A177-3AD203B41FA5}">
                      <a16:colId xmlns:a16="http://schemas.microsoft.com/office/drawing/2014/main" val="3836486443"/>
                    </a:ext>
                  </a:extLst>
                </a:gridCol>
                <a:gridCol w="2205245">
                  <a:extLst>
                    <a:ext uri="{9D8B030D-6E8A-4147-A177-3AD203B41FA5}">
                      <a16:colId xmlns:a16="http://schemas.microsoft.com/office/drawing/2014/main" val="123835470"/>
                    </a:ext>
                  </a:extLst>
                </a:gridCol>
                <a:gridCol w="1845205">
                  <a:extLst>
                    <a:ext uri="{9D8B030D-6E8A-4147-A177-3AD203B41FA5}">
                      <a16:colId xmlns:a16="http://schemas.microsoft.com/office/drawing/2014/main" val="3038874091"/>
                    </a:ext>
                  </a:extLst>
                </a:gridCol>
                <a:gridCol w="2025228">
                  <a:extLst>
                    <a:ext uri="{9D8B030D-6E8A-4147-A177-3AD203B41FA5}">
                      <a16:colId xmlns:a16="http://schemas.microsoft.com/office/drawing/2014/main" val="2319531719"/>
                    </a:ext>
                  </a:extLst>
                </a:gridCol>
              </a:tblGrid>
              <a:tr h="45005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求職者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HR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雇主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826909"/>
                  </a:ext>
                </a:extLst>
              </a:tr>
              <a:tr h="76167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法規政策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期望</a:t>
                      </a:r>
                      <a:endParaRPr lang="en-US" altLang="zh-TW" sz="1400" dirty="0"/>
                    </a:p>
                    <a:p>
                      <a:pPr algn="ctr"/>
                      <a:r>
                        <a:rPr lang="zh-TW" altLang="en-US" sz="1400" dirty="0"/>
                        <a:t>優於勞動法規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符合勞動法規</a:t>
                      </a:r>
                      <a:endParaRPr lang="en-US" altLang="zh-TW" sz="1400" dirty="0"/>
                    </a:p>
                    <a:p>
                      <a:pPr algn="ctr"/>
                      <a:r>
                        <a:rPr lang="zh-TW" altLang="en-US" sz="1400" dirty="0"/>
                        <a:t>部分可優於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符合法規即可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326753"/>
                  </a:ext>
                </a:extLst>
              </a:tr>
              <a:tr h="65086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外部環境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職缺多</a:t>
                      </a:r>
                      <a:endParaRPr lang="en-US" altLang="zh-TW" sz="1400" dirty="0"/>
                    </a:p>
                    <a:p>
                      <a:pPr algn="ctr"/>
                      <a:r>
                        <a:rPr lang="zh-TW" altLang="en-US" sz="1400" dirty="0"/>
                        <a:t>選擇權在我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各家公司搶人</a:t>
                      </a:r>
                      <a:endParaRPr lang="en-US" altLang="zh-TW" sz="1400" dirty="0"/>
                    </a:p>
                    <a:p>
                      <a:pPr algn="ctr"/>
                      <a:r>
                        <a:rPr lang="zh-TW" altLang="en-US" sz="1400" dirty="0"/>
                        <a:t>收不到履歷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到處都有人找工作但收不到履歷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3410106"/>
                  </a:ext>
                </a:extLst>
              </a:tr>
              <a:tr h="76167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內部環境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不知道自己要作什麼工作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職缺曝光亮點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公司品牌大小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環境是否友善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如何找到適合的人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如何留人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421755"/>
                  </a:ext>
                </a:extLst>
              </a:tr>
              <a:tr h="76167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期望值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薪水高、事情少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可有晉升機會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可以學到東西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提升履歷數量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精準選才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優化公司制度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聽懂人話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願意發揮價值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不計較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主動、積極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008559"/>
                  </a:ext>
                </a:extLst>
              </a:tr>
              <a:tr h="76167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關鍵字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選擇、機會、訓練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數量、精準、亮點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適合、有選擇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6820468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76545" y="175376"/>
            <a:ext cx="6211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提案</a:t>
            </a:r>
            <a:r>
              <a:rPr lang="en-US" altLang="zh-TW" dirty="0"/>
              <a:t>12</a:t>
            </a:r>
            <a:r>
              <a:rPr lang="zh-TW" altLang="en-US" dirty="0"/>
              <a:t>：如何提升公司招募競爭力，提升招募人才數量機會</a:t>
            </a:r>
          </a:p>
        </p:txBody>
      </p:sp>
    </p:spTree>
    <p:extLst>
      <p:ext uri="{BB962C8B-B14F-4D97-AF65-F5344CB8AC3E}">
        <p14:creationId xmlns:p14="http://schemas.microsoft.com/office/powerpoint/2010/main" val="793763123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1777303" y="2166705"/>
            <a:ext cx="5361824" cy="69124"/>
            <a:chOff x="566555" y="877035"/>
            <a:chExt cx="2340260" cy="164545"/>
          </a:xfrm>
        </p:grpSpPr>
        <p:sp>
          <p:nvSpPr>
            <p:cNvPr id="20" name="矩形 19"/>
            <p:cNvSpPr/>
            <p:nvPr/>
          </p:nvSpPr>
          <p:spPr>
            <a:xfrm>
              <a:off x="566555" y="877035"/>
              <a:ext cx="585065" cy="164545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1620" y="877035"/>
              <a:ext cx="585065" cy="164545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2" name="矩形 21"/>
            <p:cNvSpPr/>
            <p:nvPr/>
          </p:nvSpPr>
          <p:spPr>
            <a:xfrm>
              <a:off x="1736685" y="877035"/>
              <a:ext cx="585065" cy="164545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3" name="矩形 22"/>
            <p:cNvSpPr/>
            <p:nvPr/>
          </p:nvSpPr>
          <p:spPr>
            <a:xfrm>
              <a:off x="2321750" y="877035"/>
              <a:ext cx="585065" cy="164545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701571" y="1620241"/>
            <a:ext cx="7425824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rgbClr val="1A7BAE"/>
                </a:solidFill>
              </a:rPr>
              <a:t>THANKS</a:t>
            </a:r>
            <a:r>
              <a:rPr lang="en-US" altLang="zh-CN" sz="3200">
                <a:solidFill>
                  <a:srgbClr val="BF3420"/>
                </a:solidFill>
              </a:rPr>
              <a:t> </a:t>
            </a:r>
            <a:r>
              <a:rPr lang="en-US" altLang="zh-CN" sz="3200">
                <a:solidFill>
                  <a:srgbClr val="95BC49"/>
                </a:solidFill>
              </a:rPr>
              <a:t>FOR</a:t>
            </a:r>
            <a:r>
              <a:rPr lang="zh-CN" altLang="en-US" sz="3200">
                <a:solidFill>
                  <a:srgbClr val="1A7BAE"/>
                </a:solidFill>
              </a:rPr>
              <a:t> </a:t>
            </a:r>
            <a:r>
              <a:rPr lang="en-US" altLang="zh-CN" sz="3200">
                <a:solidFill>
                  <a:srgbClr val="FDA907"/>
                </a:solidFill>
              </a:rPr>
              <a:t>YOUR</a:t>
            </a:r>
            <a:r>
              <a:rPr lang="en-US" altLang="zh-CN" sz="3200">
                <a:solidFill>
                  <a:srgbClr val="1A7BAE"/>
                </a:solidFill>
              </a:rPr>
              <a:t> </a:t>
            </a:r>
            <a:r>
              <a:rPr lang="en-US" altLang="zh-CN" sz="3200">
                <a:solidFill>
                  <a:srgbClr val="BF3420"/>
                </a:solidFill>
              </a:rPr>
              <a:t>WATCHING</a:t>
            </a:r>
          </a:p>
        </p:txBody>
      </p:sp>
    </p:spTree>
    <p:extLst>
      <p:ext uri="{BB962C8B-B14F-4D97-AF65-F5344CB8AC3E}">
        <p14:creationId xmlns:p14="http://schemas.microsoft.com/office/powerpoint/2010/main" val="304602243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字体2">
      <a:majorFont>
        <a:latin typeface="Impact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A7BAE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3585</TotalTime>
  <Words>2739</Words>
  <Application>Microsoft Office PowerPoint</Application>
  <PresentationFormat>如螢幕大小 (16:9)</PresentationFormat>
  <Paragraphs>373</Paragraphs>
  <Slides>32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8" baseType="lpstr">
      <vt:lpstr>微軟正黑體</vt:lpstr>
      <vt:lpstr>新細明體</vt:lpstr>
      <vt:lpstr>Arial</vt:lpstr>
      <vt:lpstr>Calibri</vt:lpstr>
      <vt:lpstr>Impact</vt:lpstr>
      <vt:lpstr>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乃遠 白</cp:lastModifiedBy>
  <cp:revision>698</cp:revision>
  <dcterms:modified xsi:type="dcterms:W3CDTF">2024-08-29T15:36:20Z</dcterms:modified>
</cp:coreProperties>
</file>