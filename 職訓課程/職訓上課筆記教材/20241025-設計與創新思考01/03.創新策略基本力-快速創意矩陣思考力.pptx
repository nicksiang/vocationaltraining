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55"/>
  </p:notesMasterIdLst>
  <p:sldIdLst>
    <p:sldId id="256" r:id="rId2"/>
    <p:sldId id="468" r:id="rId3"/>
    <p:sldId id="469" r:id="rId4"/>
    <p:sldId id="300" r:id="rId5"/>
    <p:sldId id="350" r:id="rId6"/>
    <p:sldId id="345" r:id="rId7"/>
    <p:sldId id="339" r:id="rId8"/>
    <p:sldId id="340" r:id="rId9"/>
    <p:sldId id="351" r:id="rId10"/>
    <p:sldId id="471" r:id="rId11"/>
    <p:sldId id="470" r:id="rId12"/>
    <p:sldId id="472" r:id="rId13"/>
    <p:sldId id="295" r:id="rId14"/>
    <p:sldId id="477" r:id="rId15"/>
    <p:sldId id="478" r:id="rId16"/>
    <p:sldId id="287" r:id="rId17"/>
    <p:sldId id="341" r:id="rId18"/>
    <p:sldId id="342" r:id="rId19"/>
    <p:sldId id="481" r:id="rId20"/>
    <p:sldId id="482" r:id="rId21"/>
    <p:sldId id="473" r:id="rId22"/>
    <p:sldId id="475" r:id="rId23"/>
    <p:sldId id="476" r:id="rId24"/>
    <p:sldId id="324" r:id="rId25"/>
    <p:sldId id="480" r:id="rId26"/>
    <p:sldId id="325" r:id="rId27"/>
    <p:sldId id="326" r:id="rId28"/>
    <p:sldId id="328" r:id="rId29"/>
    <p:sldId id="330" r:id="rId30"/>
    <p:sldId id="257" r:id="rId31"/>
    <p:sldId id="258" r:id="rId32"/>
    <p:sldId id="259" r:id="rId33"/>
    <p:sldId id="260" r:id="rId34"/>
    <p:sldId id="261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75" r:id="rId48"/>
    <p:sldId id="276" r:id="rId49"/>
    <p:sldId id="277" r:id="rId50"/>
    <p:sldId id="278" r:id="rId51"/>
    <p:sldId id="279" r:id="rId52"/>
    <p:sldId id="479" r:id="rId53"/>
    <p:sldId id="483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乃遠 白" initials="乃遠" lastIdx="1" clrIdx="0">
    <p:extLst>
      <p:ext uri="{19B8F6BF-5375-455C-9EA6-DF929625EA0E}">
        <p15:presenceInfo xmlns:p15="http://schemas.microsoft.com/office/powerpoint/2012/main" userId="307e5c1f41e2bc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426F8-89BE-4640-94D8-18C053966815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BF426-0783-480D-81F2-CA6E7E17F0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04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3E7AD5-9520-4A39-BA72-CD0C5F95245D}" type="slidenum">
              <a:rPr lang="en-US" altLang="zh-TW"/>
              <a:pPr/>
              <a:t>35</a:t>
            </a:fld>
            <a:endParaRPr lang="en-US" altLang="zh-TW"/>
          </a:p>
        </p:txBody>
      </p:sp>
      <p:sp>
        <p:nvSpPr>
          <p:cNvPr id="128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296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59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355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47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70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1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970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64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87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437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6081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419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8077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5395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158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884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BD6C66A-0281-4DB4-A9F1-E9DAA2857419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753281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61" name="內文層級一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854601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影像"/>
          <p:cNvSpPr>
            <a:spLocks noGrp="1"/>
          </p:cNvSpPr>
          <p:nvPr>
            <p:ph type="pic" idx="21"/>
          </p:nvPr>
        </p:nvSpPr>
        <p:spPr>
          <a:xfrm>
            <a:off x="-4763" y="-12700"/>
            <a:ext cx="9144000" cy="888716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813408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886F-8369-44A4-8048-A47A81A83E77}" type="datetimeFigureOut">
              <a:rPr lang="zh-TW" altLang="en-US" smtClean="0"/>
              <a:t>2024/4/19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0574E41-1BF1-4E5F-B278-C43BC87E2B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8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2" r:id="rId17"/>
    <p:sldLayoutId id="2147483683" r:id="rId18"/>
    <p:sldLayoutId id="2147483684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6537749" cy="1646302"/>
          </a:xfrm>
        </p:spPr>
        <p:txBody>
          <a:bodyPr/>
          <a:lstStyle/>
          <a:p>
            <a:r>
              <a:rPr lang="zh-TW" altLang="en-US" dirty="0"/>
              <a:t>創新策略基本力</a:t>
            </a:r>
            <a:br>
              <a:rPr lang="en-US" altLang="zh-TW" dirty="0"/>
            </a:br>
            <a:r>
              <a:rPr lang="zh-TW" altLang="en-US" dirty="0"/>
              <a:t>快速創意矩陣思考力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白乃遠老師</a:t>
            </a:r>
            <a:endParaRPr lang="en-US" altLang="zh-TW" dirty="0"/>
          </a:p>
          <a:p>
            <a:r>
              <a:rPr lang="en-US" altLang="zh-TW" dirty="0"/>
              <a:t>Facebook</a:t>
            </a:r>
            <a:r>
              <a:rPr lang="zh-TW" altLang="en-US" dirty="0"/>
              <a:t>：</a:t>
            </a:r>
            <a:r>
              <a:rPr lang="en-US" altLang="zh-TW" dirty="0"/>
              <a:t>Pai Xiao Pai</a:t>
            </a:r>
            <a:br>
              <a:rPr lang="en-US" altLang="zh-TW" dirty="0"/>
            </a:br>
            <a:r>
              <a:rPr lang="en-US" altLang="zh-TW" dirty="0"/>
              <a:t>billy_pai@hotmail.com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127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A3F967-BB69-402D-9ACB-AE9A0409F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sz="3600" dirty="0"/>
              <a:t>有一個廣告公司要招考廣告人員，於是出了一道考題：請各自應徵者創作一幅畫，然後把他們的作品全部放置在公園內，誰創作的作品先被拿走就錄取誰。</a:t>
            </a:r>
            <a:endParaRPr lang="en-US" altLang="zh-TW" sz="3600" dirty="0"/>
          </a:p>
          <a:p>
            <a:r>
              <a:rPr lang="zh-TW" altLang="en-US" sz="3600" dirty="0"/>
              <a:t>同學們猜猜看第一個被拿走的人畫的是什麼？ </a:t>
            </a:r>
          </a:p>
        </p:txBody>
      </p:sp>
      <p:pic>
        <p:nvPicPr>
          <p:cNvPr id="4" name="Picture 4" descr="0004oct">
            <a:hlinkClick r:id="" action="ppaction://noaction">
              <a:snd r:embed="rId2" name="drumroll.wav"/>
            </a:hlinkClick>
            <a:extLst>
              <a:ext uri="{FF2B5EF4-FFF2-40B4-BE49-F238E27FC236}">
                <a16:creationId xmlns:a16="http://schemas.microsoft.com/office/drawing/2014/main" id="{390577F0-7723-40F1-A05F-A4319AA5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928568"/>
            <a:ext cx="1696757" cy="166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0CD8477E-0FDB-4493-B2A9-8491393CCD82}"/>
              </a:ext>
            </a:extLst>
          </p:cNvPr>
          <p:cNvSpPr txBox="1">
            <a:spLocks/>
          </p:cNvSpPr>
          <p:nvPr/>
        </p:nvSpPr>
        <p:spPr>
          <a:xfrm>
            <a:off x="266661" y="620688"/>
            <a:ext cx="8610678" cy="16661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zh-TW" altLang="en-US" sz="7100" b="1" dirty="0">
                <a:solidFill>
                  <a:srgbClr val="C00000"/>
                </a:solidFill>
                <a:highlight>
                  <a:srgbClr val="FFFF00"/>
                </a:highlight>
              </a:rPr>
              <a:t>創新是一種需理解實際需求的能力</a:t>
            </a:r>
            <a:endParaRPr lang="en-US" altLang="zh-TW" sz="71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algn="ctr"/>
            <a:br>
              <a:rPr lang="en-US" altLang="zh-TW" sz="5025" b="1" dirty="0">
                <a:solidFill>
                  <a:srgbClr val="C00000"/>
                </a:solidFill>
                <a:highlight>
                  <a:srgbClr val="FFFF00"/>
                </a:highlight>
              </a:rPr>
            </a:br>
            <a:r>
              <a:rPr lang="zh-TW" altLang="en-US" b="1" dirty="0"/>
              <a:t>找到市場</a:t>
            </a:r>
            <a:r>
              <a:rPr lang="en-US" altLang="zh-TW" b="1" dirty="0"/>
              <a:t>TA</a:t>
            </a:r>
            <a:r>
              <a:rPr lang="zh-TW" altLang="en-US" b="1" dirty="0"/>
              <a:t>實際需求的最佳解答</a:t>
            </a:r>
            <a:r>
              <a:rPr lang="en-US" altLang="zh-TW" b="1" dirty="0"/>
              <a:t>-</a:t>
            </a:r>
            <a:r>
              <a:rPr lang="zh-TW" altLang="en-US" b="1" dirty="0"/>
              <a:t>從創意設計目的出發</a:t>
            </a:r>
            <a:br>
              <a:rPr lang="en-US" altLang="zh-TW" dirty="0"/>
            </a:b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24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4A6A3C-D4FD-421A-8ECF-23C5DA84D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創新策略思考</a:t>
            </a:r>
            <a:br>
              <a:rPr lang="en-US" altLang="zh-TW" dirty="0"/>
            </a:br>
            <a:r>
              <a:rPr lang="zh-TW" altLang="en-US" dirty="0"/>
              <a:t>思考其實具有一定的邏輯流程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A3F967-BB69-402D-9ACB-AE9A0409F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TW" altLang="en-US" sz="3600" dirty="0"/>
              <a:t>思考一下，</a:t>
            </a:r>
            <a:br>
              <a:rPr lang="zh-TW" altLang="en-US" sz="3600" dirty="0"/>
            </a:br>
            <a:r>
              <a:rPr lang="zh-TW" altLang="en-US" sz="3600" dirty="0"/>
              <a:t>什麼東西放在公園的地上，大部分的人都會撿走？</a:t>
            </a:r>
            <a:br>
              <a:rPr lang="zh-TW" altLang="en-US" sz="3600" dirty="0"/>
            </a:br>
            <a:endParaRPr lang="en-US" altLang="zh-TW" sz="3600" dirty="0"/>
          </a:p>
          <a:p>
            <a:r>
              <a:rPr lang="zh-TW" altLang="en-US" sz="3600" dirty="0"/>
              <a:t>思考一下，</a:t>
            </a:r>
            <a:br>
              <a:rPr lang="zh-TW" altLang="en-US" sz="3600" dirty="0"/>
            </a:br>
            <a:r>
              <a:rPr lang="zh-TW" altLang="en-US" sz="3600" dirty="0"/>
              <a:t>當你自己走在公園，看到什麼東西你一定會撿走？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zh-TW" altLang="en-US" sz="3600" dirty="0"/>
              <a:t>思考一下，</a:t>
            </a:r>
            <a:endParaRPr lang="en-US" altLang="zh-TW" sz="3600" dirty="0"/>
          </a:p>
          <a:p>
            <a:r>
              <a:rPr lang="zh-TW" altLang="en-US" sz="3600" dirty="0"/>
              <a:t>那個會被大部分的人都撿走的東西會是什麼？　</a:t>
            </a:r>
            <a:br>
              <a:rPr lang="zh-TW" altLang="en-US" sz="3600" dirty="0"/>
            </a:b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426161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84545" y="1610318"/>
            <a:ext cx="6768752" cy="857250"/>
          </a:xfrm>
        </p:spPr>
        <p:txBody>
          <a:bodyPr>
            <a:noAutofit/>
          </a:bodyPr>
          <a:lstStyle/>
          <a:p>
            <a:pPr algn="l"/>
            <a:r>
              <a:rPr lang="zh-TW" altLang="en-US" sz="2400" dirty="0">
                <a:solidFill>
                  <a:srgbClr val="0000FF"/>
                </a:solidFill>
                <a:ea typeface="標楷體" panose="03000509000000000000" pitchFamily="65" charset="-120"/>
              </a:rPr>
              <a:t>最有可能被撿走的作品就是：</a:t>
            </a:r>
            <a:br>
              <a:rPr lang="en-US" altLang="zh-TW" sz="2400" dirty="0">
                <a:solidFill>
                  <a:srgbClr val="0000FF"/>
                </a:solidFill>
                <a:ea typeface="標楷體" panose="03000509000000000000" pitchFamily="65" charset="-120"/>
              </a:rPr>
            </a:br>
            <a:r>
              <a:rPr lang="zh-TW" altLang="en-US" sz="2400" dirty="0">
                <a:solidFill>
                  <a:srgbClr val="0000FF"/>
                </a:solidFill>
                <a:ea typeface="標楷體" panose="03000509000000000000" pitchFamily="65" charset="-120"/>
              </a:rPr>
              <a:t>什麼都不畫，只在圖畫紙上貼上一張仟元鈔票。</a:t>
            </a:r>
          </a:p>
        </p:txBody>
      </p:sp>
      <p:pic>
        <p:nvPicPr>
          <p:cNvPr id="7177" name="Picture 9" descr="未命名 - 3"/>
          <p:cNvPicPr>
            <a:picLocks noChangeAspect="1" noChangeArrowheads="1"/>
          </p:cNvPicPr>
          <p:nvPr/>
        </p:nvPicPr>
        <p:blipFill>
          <a:blip r:embed="rId2">
            <a:lum bright="-6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36912"/>
            <a:ext cx="710478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6A5BD9C4-380B-44C3-B0C2-3635A1B1B23F}"/>
              </a:ext>
            </a:extLst>
          </p:cNvPr>
          <p:cNvSpPr txBox="1">
            <a:spLocks/>
          </p:cNvSpPr>
          <p:nvPr/>
        </p:nvSpPr>
        <p:spPr>
          <a:xfrm>
            <a:off x="500100" y="349717"/>
            <a:ext cx="6347713" cy="775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dirty="0"/>
              <a:t>找到創新的需求和目的</a:t>
            </a:r>
            <a:r>
              <a:rPr lang="en-US" altLang="zh-TW" dirty="0"/>
              <a:t>-</a:t>
            </a:r>
            <a:r>
              <a:rPr lang="zh-TW" altLang="en-US" dirty="0"/>
              <a:t>答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F00A298-BF7B-45E3-8881-55F45B19D795}"/>
              </a:ext>
            </a:extLst>
          </p:cNvPr>
          <p:cNvSpPr txBox="1"/>
          <p:nvPr/>
        </p:nvSpPr>
        <p:spPr>
          <a:xfrm>
            <a:off x="3203848" y="1071642"/>
            <a:ext cx="4988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創新的根本，深刻地理解問題的本質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6011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創新策略矩陣思考的前提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8" y="2160590"/>
            <a:ext cx="7922841" cy="3880773"/>
          </a:xfrm>
        </p:spPr>
        <p:txBody>
          <a:bodyPr>
            <a:noAutofit/>
          </a:bodyPr>
          <a:lstStyle/>
          <a:p>
            <a:r>
              <a:rPr lang="en-US" altLang="zh-TW" sz="2800" dirty="0"/>
              <a:t>01.</a:t>
            </a:r>
            <a:r>
              <a:rPr lang="zh-TW" altLang="en-US" sz="2800" dirty="0"/>
              <a:t>主題越明確越好、目的越單一越好。</a:t>
            </a:r>
            <a:endParaRPr lang="en-US" altLang="zh-TW" sz="2800" dirty="0"/>
          </a:p>
          <a:p>
            <a:r>
              <a:rPr lang="en-US" altLang="zh-TW" sz="2800" dirty="0"/>
              <a:t>02.</a:t>
            </a:r>
            <a:r>
              <a:rPr lang="zh-TW" altLang="en-US" sz="2800" dirty="0"/>
              <a:t>限制越多，效果越好。</a:t>
            </a:r>
            <a:endParaRPr lang="en-US" altLang="zh-TW" sz="2800" dirty="0"/>
          </a:p>
          <a:p>
            <a:r>
              <a:rPr lang="en-US" altLang="zh-TW" sz="2800" dirty="0"/>
              <a:t>03.</a:t>
            </a:r>
            <a:r>
              <a:rPr lang="zh-TW" altLang="en-US" sz="2800" dirty="0"/>
              <a:t>系統性的思考比天馬行空的思考更好。</a:t>
            </a:r>
            <a:endParaRPr lang="en-US" altLang="zh-TW" sz="2800" dirty="0"/>
          </a:p>
          <a:p>
            <a:r>
              <a:rPr lang="en-US" altLang="zh-TW" sz="2800" dirty="0"/>
              <a:t>04.</a:t>
            </a:r>
            <a:r>
              <a:rPr lang="zh-TW" altLang="en-US" sz="2800" dirty="0"/>
              <a:t>構成創意的主題元素越多越好。</a:t>
            </a:r>
            <a:endParaRPr lang="en-US" altLang="zh-TW" sz="2800" dirty="0"/>
          </a:p>
          <a:p>
            <a:r>
              <a:rPr lang="en-US" altLang="zh-TW" sz="2800" dirty="0"/>
              <a:t>05.</a:t>
            </a:r>
            <a:r>
              <a:rPr lang="zh-TW" altLang="en-US" sz="2800" dirty="0"/>
              <a:t>善用創意矩陣相關工具進行結構思考。</a:t>
            </a:r>
          </a:p>
        </p:txBody>
      </p:sp>
    </p:spTree>
    <p:extLst>
      <p:ext uri="{BB962C8B-B14F-4D97-AF65-F5344CB8AC3E}">
        <p14:creationId xmlns:p14="http://schemas.microsoft.com/office/powerpoint/2010/main" val="189198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創意矩陣思考力</a:t>
            </a:r>
            <a:br>
              <a:rPr lang="en-US" altLang="zh-TW" dirty="0"/>
            </a:br>
            <a:r>
              <a:rPr lang="zh-TW" altLang="en-US" dirty="0"/>
              <a:t>一、快速聯想法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你可以進行快速聯想。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什麼都想，什麼都試看看，什麼都不奇怪。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這是一種基礎的水平思考，可以訓練反應跟蒐集資訊的重要性。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但要把握住一個原則：那就是主題明確。</a:t>
            </a:r>
          </a:p>
        </p:txBody>
      </p:sp>
    </p:spTree>
    <p:extLst>
      <p:ext uri="{BB962C8B-B14F-4D97-AF65-F5344CB8AC3E}">
        <p14:creationId xmlns:p14="http://schemas.microsoft.com/office/powerpoint/2010/main" val="1519516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8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岳飛</a:t>
            </a:r>
            <a:r>
              <a:rPr lang="en-US" altLang="zh-TW" dirty="0"/>
              <a:t>—</a:t>
            </a:r>
            <a:r>
              <a:rPr lang="zh-TW" altLang="en-US" dirty="0"/>
              <a:t>會讓你想到什麼</a:t>
            </a:r>
            <a:r>
              <a:rPr lang="en-US" altLang="zh-TW" dirty="0"/>
              <a:t>?</a:t>
            </a:r>
          </a:p>
        </p:txBody>
      </p:sp>
      <p:sp>
        <p:nvSpPr>
          <p:cNvPr id="1231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TW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53DF-A344-4DF3-B691-1F5A54D84D0E}" type="slidenum">
              <a:rPr lang="en-US" altLang="zh-TW"/>
              <a:pPr/>
              <a:t>7</a:t>
            </a:fld>
            <a:endParaRPr lang="en-US" altLang="zh-TW"/>
          </a:p>
        </p:txBody>
      </p:sp>
      <p:pic>
        <p:nvPicPr>
          <p:cNvPr id="1231876" name="Picture 4" descr="照片 16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268413"/>
            <a:ext cx="7056438" cy="496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528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8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最有趣答案</a:t>
            </a:r>
          </a:p>
        </p:txBody>
      </p:sp>
      <p:sp>
        <p:nvSpPr>
          <p:cNvPr id="12328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r>
              <a:rPr lang="en-US" altLang="zh-TW" sz="2800" dirty="0"/>
              <a:t>1.</a:t>
            </a:r>
            <a:r>
              <a:rPr lang="zh-TW" altLang="en-US" sz="2800" dirty="0"/>
              <a:t>奧運最傑出運動員</a:t>
            </a:r>
          </a:p>
          <a:p>
            <a:r>
              <a:rPr lang="en-US" altLang="zh-TW" sz="2800" dirty="0"/>
              <a:t>2.</a:t>
            </a:r>
            <a:r>
              <a:rPr lang="zh-TW" altLang="en-US" sz="2800" dirty="0"/>
              <a:t>岳飛是過勞死</a:t>
            </a:r>
          </a:p>
          <a:p>
            <a:r>
              <a:rPr lang="en-US" altLang="zh-TW" sz="2800" dirty="0"/>
              <a:t>3.</a:t>
            </a:r>
            <a:r>
              <a:rPr lang="zh-TW" altLang="en-US" sz="2800" dirty="0"/>
              <a:t>王水，揮霍的女郎</a:t>
            </a:r>
          </a:p>
          <a:p>
            <a:endParaRPr lang="en-US" altLang="zh-TW" sz="4800" dirty="0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A4198-C101-468B-9F21-A0ABCF97343E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1232900" name="Rectangle 4"/>
          <p:cNvSpPr>
            <a:spLocks noRot="1" noChangeArrowheads="1"/>
          </p:cNvSpPr>
          <p:nvPr/>
        </p:nvSpPr>
        <p:spPr bwMode="auto">
          <a:xfrm>
            <a:off x="323528" y="400506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zh-TW" altLang="en-US" sz="4400" b="1" dirty="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rPr>
              <a:t>為什麼</a:t>
            </a:r>
            <a:r>
              <a:rPr lang="en-US" altLang="zh-TW" sz="4400" b="1" dirty="0">
                <a:solidFill>
                  <a:schemeClr val="tx2"/>
                </a:solidFill>
                <a:latin typeface="Garamond" pitchFamily="18" charset="0"/>
                <a:ea typeface="新細明體" pitchFamily="18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60036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8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1520" y="1556792"/>
            <a:ext cx="7634809" cy="13208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最有趣答案</a:t>
            </a:r>
            <a:br>
              <a:rPr lang="en-US" altLang="zh-TW" dirty="0"/>
            </a:br>
            <a:r>
              <a:rPr lang="zh-TW" altLang="en-US" dirty="0"/>
              <a:t>通常都是由最多可能的答案中找出來的。</a:t>
            </a:r>
          </a:p>
        </p:txBody>
      </p:sp>
      <p:sp>
        <p:nvSpPr>
          <p:cNvPr id="1232899" name="Rectangle 3"/>
          <p:cNvSpPr>
            <a:spLocks noGrp="1" noChangeArrowheads="1"/>
          </p:cNvSpPr>
          <p:nvPr>
            <p:ph idx="1"/>
          </p:nvPr>
        </p:nvSpPr>
        <p:spPr>
          <a:xfrm>
            <a:off x="598351" y="3284984"/>
            <a:ext cx="8229600" cy="2189163"/>
          </a:xfrm>
        </p:spPr>
        <p:txBody>
          <a:bodyPr/>
          <a:lstStyle/>
          <a:p>
            <a:r>
              <a:rPr lang="en-US" altLang="zh-TW" sz="2800" dirty="0"/>
              <a:t>1.</a:t>
            </a:r>
            <a:r>
              <a:rPr lang="zh-TW" altLang="en-US" sz="2800" dirty="0"/>
              <a:t>奧運最傑出運動員</a:t>
            </a:r>
            <a:r>
              <a:rPr lang="en-US" altLang="zh-TW" sz="2800" dirty="0">
                <a:sym typeface="Wingdings" panose="05000000000000000000" pitchFamily="2" charset="2"/>
              </a:rPr>
              <a:t></a:t>
            </a:r>
            <a:r>
              <a:rPr lang="zh-TW" altLang="en-US" sz="2800" dirty="0">
                <a:sym typeface="Wingdings" panose="05000000000000000000" pitchFamily="2" charset="2"/>
              </a:rPr>
              <a:t>獲得過</a:t>
            </a:r>
            <a:r>
              <a:rPr lang="zh-TW" altLang="en-US" sz="2800" b="1" dirty="0">
                <a:solidFill>
                  <a:srgbClr val="FF0000"/>
                </a:solidFill>
                <a:latin typeface="Garamond" pitchFamily="18" charset="0"/>
                <a:ea typeface="新細明體" pitchFamily="18" charset="-120"/>
              </a:rPr>
              <a:t>十二道金牌</a:t>
            </a:r>
            <a:endParaRPr lang="zh-TW" altLang="en-US" sz="2800" dirty="0"/>
          </a:p>
          <a:p>
            <a:r>
              <a:rPr lang="en-US" altLang="zh-TW" sz="2800" dirty="0"/>
              <a:t>2.</a:t>
            </a:r>
            <a:r>
              <a:rPr lang="zh-TW" altLang="en-US" sz="2800" dirty="0"/>
              <a:t>岳飛是過勞死</a:t>
            </a:r>
            <a:r>
              <a:rPr lang="en-US" altLang="zh-TW" sz="2800" dirty="0">
                <a:sym typeface="Wingdings" panose="05000000000000000000" pitchFamily="2" charset="2"/>
              </a:rPr>
              <a:t></a:t>
            </a:r>
            <a:r>
              <a:rPr lang="zh-TW" altLang="en-US" sz="2800" dirty="0">
                <a:sym typeface="Wingdings" panose="05000000000000000000" pitchFamily="2" charset="2"/>
              </a:rPr>
              <a:t>被</a:t>
            </a:r>
            <a:r>
              <a:rPr lang="zh-TW" altLang="en-US" sz="2800" b="1" dirty="0">
                <a:solidFill>
                  <a:srgbClr val="FF0000"/>
                </a:solidFill>
                <a:latin typeface="Garamond" pitchFamily="18" charset="0"/>
                <a:ea typeface="新細明體" pitchFamily="18" charset="-120"/>
              </a:rPr>
              <a:t>秦檜</a:t>
            </a:r>
            <a:r>
              <a:rPr lang="en-US" altLang="zh-TW" sz="2800" b="1" dirty="0">
                <a:solidFill>
                  <a:srgbClr val="FF0000"/>
                </a:solidFill>
                <a:latin typeface="Garamond" pitchFamily="18" charset="0"/>
                <a:ea typeface="新細明體" pitchFamily="18" charset="-120"/>
              </a:rPr>
              <a:t>(</a:t>
            </a:r>
            <a:r>
              <a:rPr lang="zh-TW" altLang="en-US" sz="2800" b="1" dirty="0">
                <a:solidFill>
                  <a:srgbClr val="FF0000"/>
                </a:solidFill>
                <a:latin typeface="Garamond" pitchFamily="18" charset="0"/>
                <a:ea typeface="新細明體" pitchFamily="18" charset="-120"/>
              </a:rPr>
              <a:t>勤快</a:t>
            </a:r>
            <a:r>
              <a:rPr lang="en-US" altLang="zh-TW" sz="2800" b="1" dirty="0">
                <a:solidFill>
                  <a:srgbClr val="FF0000"/>
                </a:solidFill>
                <a:latin typeface="Garamond" pitchFamily="18" charset="0"/>
                <a:ea typeface="新細明體" pitchFamily="18" charset="-120"/>
              </a:rPr>
              <a:t>)</a:t>
            </a:r>
            <a:r>
              <a:rPr lang="zh-TW" altLang="en-US" sz="2800" b="1" dirty="0">
                <a:solidFill>
                  <a:srgbClr val="FF0000"/>
                </a:solidFill>
                <a:latin typeface="Garamond" pitchFamily="18" charset="0"/>
                <a:ea typeface="新細明體" pitchFamily="18" charset="-120"/>
              </a:rPr>
              <a:t>害死</a:t>
            </a:r>
            <a:endParaRPr lang="zh-TW" altLang="en-US" sz="2800" dirty="0"/>
          </a:p>
          <a:p>
            <a:r>
              <a:rPr lang="en-US" altLang="zh-TW" sz="2800" dirty="0"/>
              <a:t>3.</a:t>
            </a:r>
            <a:r>
              <a:rPr lang="zh-TW" altLang="en-US" sz="2800" dirty="0"/>
              <a:t>王水，揮霍的女郎</a:t>
            </a:r>
            <a:r>
              <a:rPr lang="en-US" altLang="zh-TW" sz="2800" dirty="0">
                <a:sym typeface="Wingdings" panose="05000000000000000000" pitchFamily="2" charset="2"/>
              </a:rPr>
              <a:t></a:t>
            </a:r>
            <a:r>
              <a:rPr lang="zh-TW" altLang="en-US" sz="2800" b="1" dirty="0">
                <a:solidFill>
                  <a:srgbClr val="FF0000"/>
                </a:solidFill>
                <a:latin typeface="Garamond" pitchFamily="18" charset="0"/>
                <a:ea typeface="新細明體" pitchFamily="18" charset="-120"/>
              </a:rPr>
              <a:t>抗金，敗金</a:t>
            </a:r>
            <a:r>
              <a:rPr lang="en-US" altLang="zh-TW" sz="2800" b="1" dirty="0">
                <a:solidFill>
                  <a:srgbClr val="FF0000"/>
                </a:solidFill>
                <a:latin typeface="Garamond" pitchFamily="18" charset="0"/>
                <a:ea typeface="新細明體" pitchFamily="18" charset="-120"/>
              </a:rPr>
              <a:t>(</a:t>
            </a:r>
            <a:r>
              <a:rPr lang="zh-TW" altLang="en-US" sz="2800" b="1" dirty="0">
                <a:solidFill>
                  <a:srgbClr val="FF0000"/>
                </a:solidFill>
                <a:latin typeface="Garamond" pitchFamily="18" charset="0"/>
                <a:ea typeface="新細明體" pitchFamily="18" charset="-120"/>
              </a:rPr>
              <a:t>女</a:t>
            </a:r>
            <a:r>
              <a:rPr lang="en-US" altLang="zh-TW" sz="2800" b="1" dirty="0">
                <a:solidFill>
                  <a:srgbClr val="FF0000"/>
                </a:solidFill>
                <a:latin typeface="Garamond" pitchFamily="18" charset="0"/>
                <a:ea typeface="新細明體" pitchFamily="18" charset="-120"/>
              </a:rPr>
              <a:t>)</a:t>
            </a:r>
            <a:endParaRPr lang="zh-TW" altLang="en-US" sz="2800" dirty="0"/>
          </a:p>
          <a:p>
            <a:endParaRPr lang="en-US" altLang="zh-TW" sz="4800" dirty="0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A4198-C101-468B-9F21-A0ABCF97343E}" type="slidenum">
              <a:rPr lang="en-US" altLang="zh-TW"/>
              <a:pPr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5282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9D6BC18-0305-416C-9A02-8BA407C3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快速創意思考練習：</a:t>
            </a:r>
            <a:br>
              <a:rPr lang="en-US" altLang="zh-TW" dirty="0"/>
            </a:br>
            <a:r>
              <a:rPr lang="zh-TW" altLang="en-US" dirty="0"/>
              <a:t>筷子除了吃飯還能做什麼？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1F258BF-5258-48D8-B6B0-4F0674D0B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/>
              <a:t>筷子除了用來吃飯還能做什麼？</a:t>
            </a:r>
            <a:endParaRPr lang="en-US" altLang="zh-TW" sz="2000" dirty="0"/>
          </a:p>
          <a:p>
            <a:r>
              <a:rPr lang="zh-TW" altLang="en-US" sz="2000" dirty="0"/>
              <a:t>請拿出一張</a:t>
            </a:r>
            <a:r>
              <a:rPr lang="en-US" altLang="zh-TW" sz="2000" dirty="0"/>
              <a:t>A4</a:t>
            </a:r>
            <a:r>
              <a:rPr lang="zh-TW" altLang="en-US" sz="2000" dirty="0"/>
              <a:t>的空白紙，計時一分鐘，看你能想出多少可能性。</a:t>
            </a:r>
            <a:endParaRPr lang="en-US" altLang="zh-TW" sz="2000" dirty="0"/>
          </a:p>
          <a:p>
            <a:r>
              <a:rPr lang="zh-TW" altLang="en-US" sz="2000" dirty="0"/>
              <a:t>一分鐘過後，再計時一分鐘，然後再繼續想。</a:t>
            </a:r>
            <a:endParaRPr lang="en-US" altLang="zh-TW" sz="2000" dirty="0"/>
          </a:p>
          <a:p>
            <a:r>
              <a:rPr lang="zh-TW" altLang="en-US" sz="2000" dirty="0"/>
              <a:t>一分鐘過後，再計時一分鐘，然後再繼續想。</a:t>
            </a:r>
            <a:endParaRPr lang="en-US" altLang="zh-TW" sz="2000" dirty="0"/>
          </a:p>
          <a:p>
            <a:r>
              <a:rPr lang="zh-TW" altLang="en-US" sz="2000" dirty="0"/>
              <a:t>總共三分鐘，計時三次，看每一次你能想幾個，並且記錄下來。</a:t>
            </a: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72854195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9D6BC18-0305-416C-9A02-8BA407C3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490793" cy="13208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人類的基本思考模式：</a:t>
            </a:r>
            <a:br>
              <a:rPr lang="en-US" altLang="zh-TW" dirty="0"/>
            </a:br>
            <a:r>
              <a:rPr lang="en-US" altLang="zh-TW" dirty="0"/>
              <a:t>1</a:t>
            </a:r>
            <a:r>
              <a:rPr lang="zh-TW" altLang="en-US" dirty="0"/>
              <a:t>維思考，想一個算一個。</a:t>
            </a:r>
            <a:br>
              <a:rPr lang="en-US" altLang="zh-TW" dirty="0"/>
            </a:br>
            <a:r>
              <a:rPr lang="zh-TW" altLang="en-US" dirty="0"/>
              <a:t>這樣比較簡單，但是會越來越難想。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1F258BF-5258-48D8-B6B0-4F0674D0B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912" y="2852936"/>
            <a:ext cx="6347714" cy="2736304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每次思考一分鐘，總共紀錄三次，大部分的數據如下：</a:t>
            </a:r>
            <a:endParaRPr lang="en-US" altLang="zh-TW" sz="2000" dirty="0"/>
          </a:p>
          <a:p>
            <a:r>
              <a:rPr lang="zh-TW" altLang="en-US" sz="2000" dirty="0"/>
              <a:t>第一次：</a:t>
            </a:r>
            <a:r>
              <a:rPr lang="en-US" altLang="zh-TW" sz="2000" dirty="0"/>
              <a:t>6-7</a:t>
            </a:r>
            <a:r>
              <a:rPr lang="zh-TW" altLang="en-US" sz="2000" dirty="0"/>
              <a:t>個、第二次：</a:t>
            </a:r>
            <a:r>
              <a:rPr lang="en-US" altLang="zh-TW" sz="2000" dirty="0"/>
              <a:t>4-5</a:t>
            </a:r>
            <a:r>
              <a:rPr lang="zh-TW" altLang="en-US" sz="2000" dirty="0"/>
              <a:t>個、第三次：</a:t>
            </a:r>
            <a:r>
              <a:rPr lang="en-US" altLang="zh-TW" sz="2000" dirty="0"/>
              <a:t>2-3</a:t>
            </a:r>
            <a:r>
              <a:rPr lang="zh-TW" altLang="en-US" sz="2000" dirty="0"/>
              <a:t>個</a:t>
            </a:r>
            <a:endParaRPr lang="en-US" altLang="zh-TW" sz="2000" dirty="0"/>
          </a:p>
          <a:p>
            <a:r>
              <a:rPr lang="zh-TW" altLang="en-US" sz="2000" dirty="0"/>
              <a:t>越來越少，而且越來越難，並且開始進入到煩躁模式。</a:t>
            </a:r>
            <a:endParaRPr lang="en-US" altLang="zh-TW" sz="2000" dirty="0"/>
          </a:p>
          <a:p>
            <a:r>
              <a:rPr lang="zh-TW" altLang="en-US" sz="2000" dirty="0"/>
              <a:t>當我們一個一個想創意的時候，這就是</a:t>
            </a:r>
            <a:r>
              <a:rPr lang="en-US" altLang="zh-TW" sz="2000" dirty="0"/>
              <a:t>1</a:t>
            </a:r>
            <a:r>
              <a:rPr lang="zh-TW" altLang="en-US" sz="2000" dirty="0"/>
              <a:t>維的模式，想一個算一個。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41530708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9D6BC18-0305-416C-9A02-8BA407C3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創意矩陣思考力訓練</a:t>
            </a:r>
            <a:r>
              <a:rPr lang="en-US" altLang="zh-TW" dirty="0"/>
              <a:t>-</a:t>
            </a:r>
            <a:br>
              <a:rPr lang="en-US" altLang="zh-TW" dirty="0"/>
            </a:br>
            <a:r>
              <a:rPr lang="zh-TW" altLang="en-US" dirty="0"/>
              <a:t>讓創意點子從</a:t>
            </a:r>
            <a:r>
              <a:rPr lang="en-US" altLang="zh-TW" dirty="0"/>
              <a:t>1</a:t>
            </a:r>
            <a:r>
              <a:rPr lang="zh-TW" altLang="en-US" dirty="0"/>
              <a:t>維轉成</a:t>
            </a:r>
            <a:r>
              <a:rPr lang="en-US" altLang="zh-TW" dirty="0"/>
              <a:t>2</a:t>
            </a:r>
            <a:r>
              <a:rPr lang="zh-TW" altLang="en-US" dirty="0"/>
              <a:t>維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1F258BF-5258-48D8-B6B0-4F0674D0B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2564904"/>
            <a:ext cx="6347714" cy="27670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zh-TW" sz="2000" dirty="0"/>
          </a:p>
          <a:p>
            <a:r>
              <a:rPr lang="zh-TW" altLang="en-US" sz="3200" dirty="0"/>
              <a:t>當我們把創意要解決的問題分成兩個概念後，就可以形成一個矩陣，就可以讓可能的創意點子從</a:t>
            </a:r>
            <a:r>
              <a:rPr lang="en-US" altLang="zh-TW" sz="3200" dirty="0"/>
              <a:t>1</a:t>
            </a:r>
            <a:r>
              <a:rPr lang="zh-TW" altLang="en-US" sz="3200" dirty="0"/>
              <a:t>維轉為</a:t>
            </a:r>
            <a:r>
              <a:rPr lang="en-US" altLang="zh-TW" sz="3200" dirty="0"/>
              <a:t>2</a:t>
            </a:r>
            <a:r>
              <a:rPr lang="zh-TW" altLang="en-US" sz="3200" dirty="0"/>
              <a:t>維，讓創意點子從加法，轉為乘法。</a:t>
            </a:r>
            <a:endParaRPr lang="en-US" altLang="zh-TW" sz="3200" dirty="0"/>
          </a:p>
          <a:p>
            <a:pPr marL="0" indent="0">
              <a:buNone/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9743211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創意矩陣分析法</a:t>
            </a:r>
            <a:r>
              <a:rPr lang="en-US" altLang="zh-TW" dirty="0"/>
              <a:t>-</a:t>
            </a:r>
            <a:r>
              <a:rPr lang="zh-TW" altLang="en-US" dirty="0"/>
              <a:t>把加法的思考改為乘法的思考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理解問題的本質，把問題的本質</a:t>
            </a:r>
            <a:r>
              <a:rPr lang="en-US" altLang="zh-TW" dirty="0"/>
              <a:t>(</a:t>
            </a:r>
            <a:r>
              <a:rPr lang="zh-TW" altLang="en-US" dirty="0"/>
              <a:t>或者設計的目的</a:t>
            </a:r>
            <a:r>
              <a:rPr lang="en-US" altLang="zh-TW" dirty="0"/>
              <a:t>)</a:t>
            </a:r>
            <a:r>
              <a:rPr lang="zh-TW" altLang="en-US" dirty="0"/>
              <a:t>進行二維矩陣處理，則能得出相乘積數的可能答案。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例：椅子能做什麼？</a:t>
            </a:r>
            <a:r>
              <a:rPr lang="en-US" altLang="zh-TW" dirty="0"/>
              <a:t>(</a:t>
            </a:r>
            <a:r>
              <a:rPr lang="zh-TW" altLang="en-US" dirty="0"/>
              <a:t>先進行抽象思考→再結合具體思考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2637375"/>
              </p:ext>
            </p:extLst>
          </p:nvPr>
        </p:nvGraphicFramePr>
        <p:xfrm>
          <a:off x="785112" y="3717031"/>
          <a:ext cx="7459295" cy="28083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9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1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1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1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188">
                <a:tc gridSpan="5"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創意矩陣分析法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188"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分類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衣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行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188"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物理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擺東西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掛衣服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188"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結構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吃得輕鬆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曬衣服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18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000" dirty="0"/>
                        <a:t>材料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當柴燒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支柱、輔助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木頭蓋房子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助行器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188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188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976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5839" y="332656"/>
            <a:ext cx="6172200" cy="155679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如何讓自己不會遲到？</a:t>
            </a:r>
            <a:br>
              <a:rPr lang="en-US" altLang="zh-TW" dirty="0"/>
            </a:br>
            <a:r>
              <a:rPr lang="zh-TW" altLang="en-US" dirty="0"/>
              <a:t>或者重新問一個新問題：</a:t>
            </a:r>
            <a:br>
              <a:rPr lang="en-US" altLang="zh-TW" dirty="0"/>
            </a:br>
            <a:r>
              <a:rPr lang="zh-TW" altLang="en-US" dirty="0"/>
              <a:t>鬧鐘可以如何叫人起床？</a:t>
            </a:r>
            <a:endParaRPr lang="zh-TW" altLang="en-US" b="1" dirty="0"/>
          </a:p>
        </p:txBody>
      </p:sp>
      <p:graphicFrame>
        <p:nvGraphicFramePr>
          <p:cNvPr id="6" name="內容版面配置區 3"/>
          <p:cNvGraphicFramePr>
            <a:graphicFrameLocks/>
          </p:cNvGraphicFramePr>
          <p:nvPr/>
        </p:nvGraphicFramePr>
        <p:xfrm>
          <a:off x="510442" y="1988840"/>
          <a:ext cx="8123115" cy="4316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4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4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4468">
                <a:tc gridSpan="5"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bg1"/>
                          </a:solidFill>
                        </a:rPr>
                        <a:t>第一層創意矩陣分析</a:t>
                      </a:r>
                      <a:r>
                        <a:rPr lang="en-US" altLang="zh-TW" sz="2000" b="1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zh-TW" altLang="en-US" sz="2000" b="1" dirty="0">
                          <a:solidFill>
                            <a:schemeClr val="bg1"/>
                          </a:solidFill>
                        </a:rPr>
                        <a:t>如何讓人不遲到？</a:t>
                      </a:r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20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鬧鐘可以如何叫人起床？</a:t>
                      </a:r>
                      <a:endParaRPr lang="zh-TW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468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刺激物的方法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刺激物的外觀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刺激的機能流程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刺激的形式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468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聽覺刺激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鬧鈴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金屬撞擊聲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1170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觸覺刺激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撞擊、</a:t>
                      </a:r>
                      <a:r>
                        <a:rPr lang="zh-TW" altLang="en-US" sz="1400" dirty="0">
                          <a:solidFill>
                            <a:srgbClr val="00B0F0"/>
                          </a:solidFill>
                        </a:rPr>
                        <a:t>水沖臉</a:t>
                      </a:r>
                      <a:r>
                        <a:rPr lang="en-US" altLang="zh-TW" sz="1400" dirty="0">
                          <a:solidFill>
                            <a:srgbClr val="00B0F0"/>
                          </a:solidFill>
                        </a:rPr>
                        <a:t>(</a:t>
                      </a:r>
                      <a:r>
                        <a:rPr lang="zh-TW" altLang="en-US" sz="1400" dirty="0">
                          <a:solidFill>
                            <a:srgbClr val="00B0F0"/>
                          </a:solidFill>
                        </a:rPr>
                        <a:t>順便洗臉</a:t>
                      </a:r>
                      <a:r>
                        <a:rPr lang="en-US" altLang="zh-TW" sz="1400" dirty="0">
                          <a:solidFill>
                            <a:srgbClr val="00B0F0"/>
                          </a:solidFill>
                        </a:rPr>
                        <a:t>)</a:t>
                      </a:r>
                      <a:r>
                        <a:rPr lang="zh-TW" altLang="en-US" sz="1400" dirty="0"/>
                        <a:t>、</a:t>
                      </a:r>
                      <a:r>
                        <a:rPr lang="zh-TW" altLang="en-US" sz="1400" dirty="0">
                          <a:solidFill>
                            <a:srgbClr val="FF0000"/>
                          </a:solidFill>
                        </a:rPr>
                        <a:t>搔癢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軟的拳頭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46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/>
                        <a:t>視覺刺激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強光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468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嗅覺刺激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rgbClr val="00B050"/>
                          </a:solidFill>
                        </a:rPr>
                        <a:t>食物的香味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468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味覺刺激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辣味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468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身體活動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會亂滾的鬧鐘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有困難度的關鬧鐘方法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面版、鏡子、玩具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任務執行的流程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遊戲的行為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3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65621" y="188641"/>
            <a:ext cx="8843196" cy="1296144"/>
          </a:xfrm>
        </p:spPr>
        <p:txBody>
          <a:bodyPr>
            <a:normAutofit/>
          </a:bodyPr>
          <a:lstStyle/>
          <a:p>
            <a:r>
              <a:rPr lang="zh-TW" altLang="en-US" dirty="0"/>
              <a:t>再重新問一個問題：</a:t>
            </a:r>
            <a:br>
              <a:rPr lang="en-US" altLang="zh-TW" dirty="0"/>
            </a:br>
            <a:r>
              <a:rPr lang="zh-TW" altLang="en-US" b="1" dirty="0">
                <a:solidFill>
                  <a:srgbClr val="FF0000"/>
                </a:solidFill>
              </a:rPr>
              <a:t>如何設計一個有趣且容易叫人起床的鬧鐘</a:t>
            </a:r>
          </a:p>
        </p:txBody>
      </p:sp>
      <p:graphicFrame>
        <p:nvGraphicFramePr>
          <p:cNvPr id="6" name="內容版面配置區 3"/>
          <p:cNvGraphicFramePr>
            <a:graphicFrameLocks/>
          </p:cNvGraphicFramePr>
          <p:nvPr/>
        </p:nvGraphicFramePr>
        <p:xfrm>
          <a:off x="231813" y="1484785"/>
          <a:ext cx="8680373" cy="5076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3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5107">
                <a:tc gridSpan="4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solidFill>
                            <a:schemeClr val="bg1"/>
                          </a:solidFill>
                        </a:rPr>
                        <a:t>第二層創意矩陣分析法</a:t>
                      </a:r>
                      <a:r>
                        <a:rPr lang="en-US" altLang="zh-TW" sz="1800" b="1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zh-TW" altLang="en-US" sz="18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鬧鐘如何叫人起床？</a:t>
                      </a: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800" b="1" dirty="0">
                          <a:solidFill>
                            <a:schemeClr val="bg1"/>
                          </a:solidFill>
                          <a:sym typeface="Wingdings" panose="05000000000000000000" pitchFamily="2" charset="2"/>
                        </a:rPr>
                        <a:t>設計一個有趣且容易叫人起床的鬧種</a:t>
                      </a:r>
                      <a:endParaRPr lang="en-US" altLang="zh-TW" sz="1800" b="1" dirty="0">
                        <a:solidFill>
                          <a:schemeClr val="bg1"/>
                        </a:solidFill>
                        <a:sym typeface="Wingdings" panose="05000000000000000000" pitchFamily="2" charset="2"/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07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拼圖類遊戲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射擊類遊戲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運動類遊戲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07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組裝的任務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類似立體拼圖</a:t>
                      </a:r>
                      <a:endParaRPr lang="en-US" altLang="zh-TW" sz="14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需要把零件拼回去才會停止鈴聲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鬧鐘很大，要手腳並用壓到指定的位置，類似像首腳丫點的任務模式。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2766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計算的任務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拼圖加上指定計算的任務。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比如拼字遊戲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比如數字遊戲</a:t>
                      </a:r>
                      <a:endParaRPr lang="en-US" altLang="zh-TW" sz="1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</a:rPr>
                        <a:t>比如條件組合遊戲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鬧鐘組件有好幾個，需要邊找邊完成任務目標。</a:t>
                      </a:r>
                      <a:endParaRPr lang="en-US" altLang="zh-TW" sz="1400" dirty="0"/>
                    </a:p>
                    <a:p>
                      <a:r>
                        <a:rPr lang="zh-TW" altLang="en-US" sz="1400" dirty="0"/>
                        <a:t>組合，計算，找東西。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07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/>
                        <a:t>視覺的任務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把正在閃動的地方拔掉或組合</a:t>
                      </a:r>
                      <a:r>
                        <a:rPr lang="en-US" altLang="zh-TW" sz="1400" dirty="0"/>
                        <a:t>(</a:t>
                      </a:r>
                      <a:r>
                        <a:rPr lang="zh-TW" altLang="en-US" sz="1400" dirty="0"/>
                        <a:t>鑲入</a:t>
                      </a:r>
                      <a:r>
                        <a:rPr lang="en-US" altLang="zh-TW" sz="1400" dirty="0"/>
                        <a:t>)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一個大大的版子，用眼睛看著點擊，要至少完成實次才能結束鬧鐘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107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尋找的任務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鬧鐘會噴散掉零件，要找回來並且組裝上去才能停止鈴聲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107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反應的任務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任何拼圖遊戲加上時間的限制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反應遊戲類的全身動作反應遊戲，可以和鏡子結合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107"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瞄準的任務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rgbClr val="FF0000"/>
                          </a:solidFill>
                        </a:rPr>
                        <a:t>要打中靶心才能停止鈴聲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732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346777" cy="13208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回到我們剛剛的問題</a:t>
            </a:r>
            <a:br>
              <a:rPr lang="en-US" altLang="zh-TW" dirty="0"/>
            </a:br>
            <a:r>
              <a:rPr lang="zh-TW" altLang="en-US" dirty="0"/>
              <a:t>筷子除了吃飯以外還能做什麼？</a:t>
            </a:r>
            <a:br>
              <a:rPr lang="en-US" altLang="zh-TW" dirty="0"/>
            </a:br>
            <a:r>
              <a:rPr lang="zh-TW" altLang="en-US" dirty="0"/>
              <a:t>從創意矩陣中進行分析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找到更多可能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2721774"/>
            <a:ext cx="3242321" cy="3263504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作法：</a:t>
            </a:r>
            <a:endParaRPr lang="en-US" altLang="zh-TW" sz="2000" dirty="0"/>
          </a:p>
          <a:p>
            <a:r>
              <a:rPr lang="zh-TW" altLang="en-US" sz="2000" dirty="0"/>
              <a:t>以橫軸為應用專案 </a:t>
            </a:r>
            <a:br>
              <a:rPr lang="en-US" altLang="zh-TW" sz="2000" dirty="0"/>
            </a:br>
            <a:r>
              <a:rPr lang="en-US" altLang="zh-TW" sz="2000" dirty="0"/>
              <a:t>(</a:t>
            </a:r>
            <a:r>
              <a:rPr lang="zh-TW" altLang="en-US" sz="2000" dirty="0"/>
              <a:t>食衣住行育樂</a:t>
            </a:r>
            <a:r>
              <a:rPr lang="en-US" altLang="zh-TW" sz="2000" dirty="0"/>
              <a:t>)</a:t>
            </a:r>
          </a:p>
          <a:p>
            <a:r>
              <a:rPr lang="zh-TW" altLang="en-US" sz="2000" dirty="0"/>
              <a:t>以縱軸為特性項目 </a:t>
            </a:r>
            <a:br>
              <a:rPr lang="en-US" altLang="zh-TW" sz="2000" dirty="0"/>
            </a:br>
            <a:r>
              <a:rPr lang="en-US" altLang="zh-TW" sz="2000" dirty="0"/>
              <a:t>(</a:t>
            </a:r>
            <a:r>
              <a:rPr lang="zh-TW" altLang="en-US" sz="2000" dirty="0"/>
              <a:t>物理、化學、沾黏、重複性、單體、複體</a:t>
            </a:r>
            <a:r>
              <a:rPr lang="en-US" altLang="zh-TW" sz="2000" dirty="0"/>
              <a:t>)</a:t>
            </a:r>
          </a:p>
          <a:p>
            <a:r>
              <a:rPr lang="zh-TW" altLang="en-US" sz="2000" dirty="0"/>
              <a:t>矩陣分析法：筷子聯想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8094"/>
              </p:ext>
            </p:extLst>
          </p:nvPr>
        </p:nvGraphicFramePr>
        <p:xfrm>
          <a:off x="3502712" y="2984895"/>
          <a:ext cx="5389767" cy="34640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7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8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8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食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衣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住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行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</a:rPr>
                        <a:t>育、</a:t>
                      </a:r>
                      <a:r>
                        <a:rPr lang="zh-TW" sz="1300" kern="100" dirty="0">
                          <a:effectLst/>
                        </a:rPr>
                        <a:t>樂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單體</a:t>
                      </a:r>
                      <a:endParaRPr lang="en-US" altLang="zh-TW" sz="13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300" kern="100" dirty="0">
                          <a:effectLst/>
                        </a:rPr>
                        <a:t>(</a:t>
                      </a:r>
                      <a:r>
                        <a:rPr lang="zh-TW" altLang="en-US" sz="1300" kern="100" dirty="0">
                          <a:effectLst/>
                        </a:rPr>
                        <a:t>一個</a:t>
                      </a:r>
                      <a:r>
                        <a:rPr lang="en-US" altLang="zh-TW" sz="1300" kern="100" dirty="0">
                          <a:effectLst/>
                        </a:rPr>
                        <a:t>)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戳食物</a:t>
                      </a:r>
                      <a:endParaRPr lang="en-US" altLang="zh-TW" sz="13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清潔食品</a:t>
                      </a:r>
                      <a:endParaRPr lang="en-US" altLang="zh-TW" sz="13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zh-TW" altLang="en-US" sz="1300" kern="100" dirty="0">
                          <a:effectLst/>
                        </a:rPr>
                        <a:t>熨燙線</a:t>
                      </a:r>
                      <a:endParaRPr lang="en-US" altLang="zh-TW" sz="13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zh-TW" altLang="en-US" sz="1300" kern="100" dirty="0">
                          <a:effectLst/>
                        </a:rPr>
                        <a:t>門閂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zh-TW" altLang="en-US" sz="1300" kern="100" dirty="0">
                          <a:effectLst/>
                        </a:rPr>
                        <a:t>拐杖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zh-TW" altLang="en-US" sz="1300" kern="100" dirty="0">
                          <a:effectLst/>
                        </a:rPr>
                        <a:t>測量工具</a:t>
                      </a:r>
                      <a:endParaRPr lang="en-US" altLang="zh-TW" sz="13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30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複體</a:t>
                      </a:r>
                      <a:endParaRPr lang="en-US" altLang="zh-TW" sz="13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300" kern="100" dirty="0">
                          <a:effectLst/>
                        </a:rPr>
                        <a:t>(</a:t>
                      </a:r>
                      <a:r>
                        <a:rPr lang="zh-TW" altLang="en-US" sz="1300" kern="100" dirty="0">
                          <a:effectLst/>
                        </a:rPr>
                        <a:t>兩個以上</a:t>
                      </a:r>
                      <a:r>
                        <a:rPr lang="en-US" altLang="zh-TW" sz="1300" kern="100" dirty="0">
                          <a:effectLst/>
                        </a:rPr>
                        <a:t>)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夾食物</a:t>
                      </a:r>
                      <a:endParaRPr lang="zh-TW" sz="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夾不能吃的食物</a:t>
                      </a:r>
                      <a:endParaRPr lang="en-US" altLang="zh-TW" sz="13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放置食物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zh-TW" altLang="en-US" sz="1300" kern="100" dirty="0">
                          <a:effectLst/>
                        </a:rPr>
                        <a:t>衣架</a:t>
                      </a:r>
                      <a:endParaRPr lang="en-US" altLang="zh-TW" sz="13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織毛線工具</a:t>
                      </a:r>
                      <a:endParaRPr lang="en-US" altLang="zh-TW" sz="13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編織工具</a:t>
                      </a:r>
                      <a:endParaRPr lang="en-US" altLang="zh-TW" sz="13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zh-TW" altLang="en-US" sz="1300" kern="100" dirty="0">
                          <a:effectLst/>
                        </a:rPr>
                        <a:t>骨折用的固定器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zh-TW" altLang="en-US" sz="1300" kern="100" dirty="0">
                          <a:effectLst/>
                        </a:rPr>
                        <a:t>圓規</a:t>
                      </a:r>
                      <a:endParaRPr lang="en-US" altLang="zh-TW" sz="13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對位工具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8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</a:rPr>
                        <a:t>結構</a:t>
                      </a:r>
                      <a:r>
                        <a:rPr lang="zh-TW" sz="1300" kern="100" dirty="0">
                          <a:effectLst/>
                        </a:rPr>
                        <a:t>應用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蒸籠架</a:t>
                      </a:r>
                      <a:endParaRPr lang="zh-TW" sz="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zh-TW" altLang="en-US" sz="1300" kern="100" dirty="0">
                          <a:effectLst/>
                        </a:rPr>
                        <a:t>小滾輪</a:t>
                      </a:r>
                      <a:endParaRPr lang="en-US" altLang="zh-TW" sz="13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飛鏢</a:t>
                      </a:r>
                      <a:endParaRPr lang="zh-TW" sz="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</a:rPr>
                        <a:t>組裝道具</a:t>
                      </a:r>
                      <a:endParaRPr lang="zh-TW" sz="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數學道具</a:t>
                      </a:r>
                      <a:endParaRPr lang="en-US" altLang="zh-TW" sz="13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益智遊戲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化學應用</a:t>
                      </a: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燃料</a:t>
                      </a:r>
                      <a:endParaRPr lang="zh-TW" sz="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300" kern="100" dirty="0">
                          <a:effectLst/>
                        </a:rPr>
                        <a:t>碳筆</a:t>
                      </a: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altLang="en-US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altLang="en-US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altLang="en-US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zh-TW" altLang="en-US" sz="1300" kern="100" dirty="0">
                          <a:effectLst/>
                        </a:rPr>
                        <a:t>教具</a:t>
                      </a:r>
                      <a:endParaRPr lang="en-US" altLang="zh-TW" sz="13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3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立體拼圖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altLang="en-US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zh-TW" sz="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3193" marR="4319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696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0" dirty="0">
                <a:solidFill>
                  <a:srgbClr val="FF0000"/>
                </a:solidFill>
                <a:effectLst/>
                <a:ea typeface="標楷體" pitchFamily="65" charset="-120"/>
              </a:rPr>
              <a:t>筷子的應用</a:t>
            </a:r>
            <a:r>
              <a:rPr lang="en-US" altLang="zh-TW" b="0" dirty="0">
                <a:solidFill>
                  <a:srgbClr val="FF0000"/>
                </a:solidFill>
                <a:effectLst/>
                <a:ea typeface="標楷體" pitchFamily="65" charset="-120"/>
              </a:rPr>
              <a:t>(</a:t>
            </a:r>
            <a:r>
              <a:rPr lang="zh-TW" altLang="en-US" b="0" dirty="0">
                <a:solidFill>
                  <a:srgbClr val="FF0000"/>
                </a:solidFill>
                <a:effectLst/>
                <a:ea typeface="標楷體" pitchFamily="65" charset="-120"/>
              </a:rPr>
              <a:t>一</a:t>
            </a:r>
            <a:r>
              <a:rPr lang="en-US" altLang="zh-TW" b="0" dirty="0">
                <a:solidFill>
                  <a:srgbClr val="FF0000"/>
                </a:solidFill>
                <a:effectLst/>
                <a:ea typeface="標楷體" pitchFamily="65" charset="-120"/>
              </a:rPr>
              <a:t>)</a:t>
            </a:r>
          </a:p>
        </p:txBody>
      </p:sp>
      <p:sp>
        <p:nvSpPr>
          <p:cNvPr id="1088516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394414" y="2019457"/>
            <a:ext cx="2315712" cy="45259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1.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當十字架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2.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鑽木取火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3.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串關東煮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4.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團結力量大之寓言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5.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技術超強之抓蒼蠅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6.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搔癢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7.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織毛線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8.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攪拌咖啡、牛奶</a:t>
            </a: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…</a:t>
            </a:r>
          </a:p>
        </p:txBody>
      </p:sp>
      <p:sp>
        <p:nvSpPr>
          <p:cNvPr id="1088517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2915816" y="2060848"/>
            <a:ext cx="2315712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9.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彈弓支架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10.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唱「滄海一聲笑」</a:t>
            </a:r>
          </a:p>
          <a:p>
            <a:pPr>
              <a:buFont typeface="Wingdings" pitchFamily="2" charset="2"/>
              <a:buNone/>
            </a:pP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     敲杯伴奏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11.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指揮棒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12.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刮砂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13.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投擲表示不滿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14.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支架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15.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去污工具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ffectLst/>
                <a:latin typeface="Times New Roman" pitchFamily="18" charset="0"/>
                <a:ea typeface="標楷體" pitchFamily="65" charset="-120"/>
              </a:rPr>
              <a:t>16.</a:t>
            </a:r>
            <a:r>
              <a:rPr lang="zh-TW" altLang="en-US" dirty="0">
                <a:effectLst/>
                <a:latin typeface="Times New Roman" pitchFamily="18" charset="0"/>
                <a:ea typeface="標楷體" pitchFamily="65" charset="-120"/>
              </a:rPr>
              <a:t>筷子舞</a:t>
            </a:r>
          </a:p>
          <a:p>
            <a:pPr>
              <a:buFont typeface="Wingdings" pitchFamily="2" charset="2"/>
              <a:buNone/>
            </a:pPr>
            <a:endParaRPr lang="zh-TW" altLang="en-US" dirty="0">
              <a:effectLst/>
              <a:latin typeface="Times New Roman" pitchFamily="18" charset="0"/>
              <a:ea typeface="標楷體" pitchFamily="65" charset="-120"/>
            </a:endParaRPr>
          </a:p>
          <a:p>
            <a:pPr>
              <a:buFont typeface="Wingdings" pitchFamily="2" charset="2"/>
              <a:buNone/>
            </a:pPr>
            <a:endParaRPr lang="en-US" altLang="zh-TW" sz="2400" dirty="0"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0935B-A70C-4584-A4C4-6B30A8D18D02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33C5D46-F46A-4EEE-9282-86828661218B}"/>
              </a:ext>
            </a:extLst>
          </p:cNvPr>
          <p:cNvSpPr txBox="1">
            <a:spLocks noChangeArrowheads="1"/>
          </p:cNvSpPr>
          <p:nvPr/>
        </p:nvSpPr>
        <p:spPr>
          <a:xfrm>
            <a:off x="5437218" y="2079790"/>
            <a:ext cx="1800200" cy="3816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17.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剔牙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18.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抽籤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19.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敲木魚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20.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岳母教子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21.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門栓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22.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扒糞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23.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打鼓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24.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日軌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25.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髮髻</a:t>
            </a:r>
          </a:p>
          <a:p>
            <a:pPr>
              <a:buFont typeface="Wingdings" pitchFamily="2" charset="2"/>
              <a:buNone/>
            </a:pPr>
            <a:endParaRPr lang="zh-TW" altLang="en-US" dirty="0">
              <a:latin typeface="標楷體" pitchFamily="65" charset="-120"/>
              <a:ea typeface="標楷體" pitchFamily="65" charset="-120"/>
            </a:endParaRPr>
          </a:p>
          <a:p>
            <a:pPr>
              <a:buFont typeface="Wingdings" pitchFamily="2" charset="2"/>
              <a:buNone/>
            </a:pP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0021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7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00"/>
                </a:solidFill>
                <a:ea typeface="標楷體" pitchFamily="65" charset="-120"/>
              </a:rPr>
              <a:t>筷子的應用</a:t>
            </a:r>
            <a:r>
              <a:rPr lang="en-US" altLang="zh-TW" dirty="0">
                <a:solidFill>
                  <a:srgbClr val="FF0000"/>
                </a:solidFill>
                <a:ea typeface="標楷體" pitchFamily="65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ea typeface="標楷體" pitchFamily="65" charset="-120"/>
              </a:rPr>
              <a:t>二</a:t>
            </a:r>
            <a:r>
              <a:rPr lang="en-US" altLang="zh-TW" dirty="0">
                <a:solidFill>
                  <a:srgbClr val="FF0000"/>
                </a:solidFill>
                <a:ea typeface="標楷體" pitchFamily="65" charset="-120"/>
              </a:rPr>
              <a:t>)</a:t>
            </a:r>
          </a:p>
        </p:txBody>
      </p:sp>
      <p:sp>
        <p:nvSpPr>
          <p:cNvPr id="1183750" name="Rectangle 6"/>
          <p:cNvSpPr>
            <a:spLocks noGrp="1" noChangeArrowheads="1"/>
          </p:cNvSpPr>
          <p:nvPr>
            <p:ph sz="half" idx="2"/>
          </p:nvPr>
        </p:nvSpPr>
        <p:spPr>
          <a:xfrm>
            <a:off x="455517" y="1605705"/>
            <a:ext cx="2028251" cy="391152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26.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蒸菜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27.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翻大腸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28.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擠牙膏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29.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夾油條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30.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敲小孩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31.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竹蜻蜓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32.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風箏支架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33.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削片引火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34.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繞棉花糖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35.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冰棒柱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7B3E-D715-48A5-8314-D331D3AD5F36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E7633A1-E0EC-4C26-B283-E627BA0B5EE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24619" y="1601788"/>
            <a:ext cx="2232248" cy="376693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36.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挖鼻孔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37.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摺疊傘支架</a:t>
            </a: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(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傘面骨架斷掉之替代物</a:t>
            </a: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)</a:t>
            </a:r>
            <a:endParaRPr lang="en-US" altLang="zh-TW" dirty="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38.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酷刑</a:t>
            </a: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-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夾手指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39.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急救固定板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40.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書籤代用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41.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開罐器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42.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浮標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43.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模型、工藝品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44.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猜拳搶三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44.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印章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29A6A3C-ECAC-47BC-85B4-804CD9A215B4}"/>
              </a:ext>
            </a:extLst>
          </p:cNvPr>
          <p:cNvSpPr txBox="1">
            <a:spLocks noChangeArrowheads="1"/>
          </p:cNvSpPr>
          <p:nvPr/>
        </p:nvSpPr>
        <p:spPr>
          <a:xfrm>
            <a:off x="4687135" y="1601788"/>
            <a:ext cx="2553346" cy="50403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45.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扮鬼臉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46.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夾垃圾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47.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手指受傷支架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48.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木栓使用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49.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鞋拔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50.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沾墨水寫字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51.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挖耳朵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52.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玩具槍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53.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治打嗝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-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喝橋下水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把筷子當成橋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54.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送禮之環保筷</a:t>
            </a:r>
          </a:p>
          <a:p>
            <a:pPr>
              <a:buFont typeface="Wingdings" pitchFamily="2" charset="2"/>
              <a:buNone/>
            </a:pP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55.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消除飲料氣泡</a:t>
            </a:r>
          </a:p>
          <a:p>
            <a:pPr>
              <a:buFont typeface="Wingdings" pitchFamily="2" charset="2"/>
              <a:buNone/>
            </a:pP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56.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將筷子當燙髮用具</a:t>
            </a: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(</a:t>
            </a:r>
            <a:r>
              <a:rPr kumimoji="0" lang="zh-TW" altLang="en-US" dirty="0">
                <a:latin typeface="標楷體" pitchFamily="65" charset="-120"/>
                <a:ea typeface="標楷體" pitchFamily="65" charset="-120"/>
              </a:rPr>
              <a:t>筷子燙</a:t>
            </a:r>
            <a:r>
              <a:rPr kumimoji="0" lang="en-US" altLang="zh-TW" dirty="0">
                <a:latin typeface="標楷體" pitchFamily="65" charset="-120"/>
                <a:ea typeface="標楷體" pitchFamily="65" charset="-120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TW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9221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A5F284-DF31-4EF5-940E-A20DB7BF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56237"/>
            <a:ext cx="8534401" cy="13208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創意矩陣應用工具</a:t>
            </a:r>
            <a:r>
              <a:rPr lang="en-US" altLang="zh-TW" dirty="0"/>
              <a:t>-</a:t>
            </a:r>
            <a:r>
              <a:rPr lang="zh-TW" altLang="en-US" dirty="0"/>
              <a:t>概念矩陣</a:t>
            </a:r>
            <a:br>
              <a:rPr lang="en-US" altLang="zh-TW" dirty="0"/>
            </a:br>
            <a:r>
              <a:rPr lang="zh-TW" altLang="en-US" b="1" dirty="0">
                <a:solidFill>
                  <a:srgbClr val="FF0000"/>
                </a:solidFill>
              </a:rPr>
              <a:t>改善 </a:t>
            </a:r>
            <a:r>
              <a:rPr lang="en-US" altLang="zh-TW" b="1" dirty="0" err="1">
                <a:solidFill>
                  <a:srgbClr val="FF0000"/>
                </a:solidFill>
              </a:rPr>
              <a:t>YouBike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zh-TW" altLang="en-US" b="1" dirty="0">
                <a:solidFill>
                  <a:srgbClr val="FF0000"/>
                </a:solidFill>
              </a:rPr>
              <a:t>的體驗及提升每日的周轉率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BA9583-E607-4BCC-AB2A-DF212877C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03" y="1340768"/>
            <a:ext cx="8100392" cy="51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64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A5F284-DF31-4EF5-940E-A20DB7BF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56237"/>
            <a:ext cx="8534401" cy="1320800"/>
          </a:xfrm>
        </p:spPr>
        <p:txBody>
          <a:bodyPr>
            <a:normAutofit/>
          </a:bodyPr>
          <a:lstStyle/>
          <a:p>
            <a:r>
              <a:rPr lang="zh-TW" altLang="en-US" dirty="0"/>
              <a:t>創意矩陣應用工具</a:t>
            </a:r>
            <a:r>
              <a:rPr lang="en-US" altLang="zh-TW" dirty="0"/>
              <a:t>-</a:t>
            </a:r>
            <a:r>
              <a:rPr lang="zh-TW" altLang="en-US" dirty="0"/>
              <a:t>顧客旅程地圖</a:t>
            </a:r>
            <a:br>
              <a:rPr lang="en-US" altLang="zh-TW" dirty="0"/>
            </a:br>
            <a:r>
              <a:rPr lang="zh-TW" altLang="en-US" b="1" dirty="0">
                <a:solidFill>
                  <a:srgbClr val="FF0000"/>
                </a:solidFill>
              </a:rPr>
              <a:t>改善顧客歸還</a:t>
            </a:r>
            <a:r>
              <a:rPr lang="en-US" altLang="zh-TW" b="1" dirty="0" err="1">
                <a:solidFill>
                  <a:srgbClr val="FF0000"/>
                </a:solidFill>
              </a:rPr>
              <a:t>YouBike</a:t>
            </a:r>
            <a:r>
              <a:rPr lang="zh-TW" altLang="en-US" b="1" dirty="0">
                <a:solidFill>
                  <a:srgbClr val="FF0000"/>
                </a:solidFill>
              </a:rPr>
              <a:t>時無車位的體驗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015113E-50C2-4543-9CA1-340B43566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1340768"/>
            <a:ext cx="8371657" cy="522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55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創意矩陣範例1.jpeg" descr="創意矩陣範例1.jpe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xfrm>
            <a:off x="1403648" y="259045"/>
            <a:ext cx="6552728" cy="656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84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創意矩陣範例.jpeg" descr="創意矩陣範例.jpe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xfrm>
            <a:off x="2141" y="1994408"/>
            <a:ext cx="9144000" cy="2869184"/>
          </a:xfrm>
          <a:prstGeom prst="rect">
            <a:avLst/>
          </a:prstGeom>
        </p:spPr>
      </p:pic>
      <p:sp>
        <p:nvSpPr>
          <p:cNvPr id="137" name="上班族(目標族群)有感關鍵字"/>
          <p:cNvSpPr txBox="1"/>
          <p:nvPr/>
        </p:nvSpPr>
        <p:spPr>
          <a:xfrm>
            <a:off x="1681362" y="1177549"/>
            <a:ext cx="5918287" cy="5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r>
              <a:rPr sz="3600" dirty="0" err="1"/>
              <a:t>上班族</a:t>
            </a:r>
            <a:r>
              <a:rPr sz="3600" dirty="0"/>
              <a:t>(</a:t>
            </a:r>
            <a:r>
              <a:rPr sz="3600" dirty="0" err="1"/>
              <a:t>目標族群</a:t>
            </a:r>
            <a:r>
              <a:rPr sz="3600" dirty="0"/>
              <a:t>)</a:t>
            </a:r>
            <a:r>
              <a:rPr sz="3600" dirty="0" err="1"/>
              <a:t>有感關鍵字</a:t>
            </a:r>
            <a:endParaRPr sz="3600" dirty="0"/>
          </a:p>
        </p:txBody>
      </p:sp>
      <p:sp>
        <p:nvSpPr>
          <p:cNvPr id="141" name="連接線"/>
          <p:cNvSpPr/>
          <p:nvPr/>
        </p:nvSpPr>
        <p:spPr>
          <a:xfrm>
            <a:off x="1144426" y="1484512"/>
            <a:ext cx="432505" cy="3860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4" h="19918" extrusionOk="0">
                <a:moveTo>
                  <a:pt x="12" y="19918"/>
                </a:moveTo>
                <a:cubicBezTo>
                  <a:pt x="-326" y="4834"/>
                  <a:pt x="6761" y="-1682"/>
                  <a:pt x="21274" y="369"/>
                </a:cubicBezTo>
              </a:path>
            </a:pathLst>
          </a:custGeom>
          <a:ln w="1270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endParaRPr sz="675"/>
          </a:p>
        </p:txBody>
      </p:sp>
      <p:sp>
        <p:nvSpPr>
          <p:cNvPr id="142" name="連接線"/>
          <p:cNvSpPr/>
          <p:nvPr/>
        </p:nvSpPr>
        <p:spPr>
          <a:xfrm>
            <a:off x="395744" y="4989893"/>
            <a:ext cx="435548" cy="4179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03" h="19412" extrusionOk="0">
                <a:moveTo>
                  <a:pt x="20003" y="18737"/>
                </a:moveTo>
                <a:cubicBezTo>
                  <a:pt x="4962" y="21600"/>
                  <a:pt x="-1597" y="15354"/>
                  <a:pt x="327" y="0"/>
                </a:cubicBezTo>
              </a:path>
            </a:pathLst>
          </a:custGeom>
          <a:ln w="127000">
            <a:solidFill>
              <a:srgbClr val="ABABAB"/>
            </a:solidFill>
            <a:miter lim="400000"/>
            <a:headEnd type="triangle"/>
          </a:ln>
        </p:spPr>
        <p:txBody>
          <a:bodyPr/>
          <a:lstStyle/>
          <a:p>
            <a:endParaRPr sz="675"/>
          </a:p>
        </p:txBody>
      </p:sp>
      <p:sp>
        <p:nvSpPr>
          <p:cNvPr id="140" name="4K電視(產品)關鍵字"/>
          <p:cNvSpPr txBox="1"/>
          <p:nvPr/>
        </p:nvSpPr>
        <p:spPr>
          <a:xfrm>
            <a:off x="930711" y="5118760"/>
            <a:ext cx="3662862" cy="530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r>
              <a:rPr sz="3200" dirty="0"/>
              <a:t>4K電視(</a:t>
            </a:r>
            <a:r>
              <a:rPr sz="3200" dirty="0" err="1"/>
              <a:t>產品</a:t>
            </a:r>
            <a:r>
              <a:rPr sz="3200" dirty="0"/>
              <a:t>)</a:t>
            </a:r>
            <a:r>
              <a:rPr sz="3200" dirty="0" err="1"/>
              <a:t>關鍵字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114826689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創意矩陣範例3.png" descr="創意矩陣範例3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404664"/>
            <a:ext cx="9154506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4835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384" y="980728"/>
            <a:ext cx="6347714" cy="1320800"/>
          </a:xfrm>
        </p:spPr>
        <p:txBody>
          <a:bodyPr>
            <a:normAutofit/>
          </a:bodyPr>
          <a:lstStyle/>
          <a:p>
            <a:r>
              <a:rPr lang="zh-TW" altLang="en-US" dirty="0"/>
              <a:t>創意矩陣思考的應用方法</a:t>
            </a:r>
            <a:br>
              <a:rPr lang="en-US" altLang="zh-TW" dirty="0"/>
            </a:br>
            <a:r>
              <a:rPr lang="zh-TW" altLang="en-US" dirty="0"/>
              <a:t>二、重點抓取法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70384" y="2852936"/>
            <a:ext cx="8003232" cy="4525963"/>
          </a:xfrm>
        </p:spPr>
        <p:txBody>
          <a:bodyPr>
            <a:normAutofit/>
          </a:bodyPr>
          <a:lstStyle/>
          <a:p>
            <a:r>
              <a:rPr lang="zh-TW" altLang="en-US" dirty="0"/>
              <a:t>運用創意矩陣思考方法，找出一個創意要點</a:t>
            </a:r>
            <a:r>
              <a:rPr lang="en-US" altLang="zh-TW" dirty="0"/>
              <a:t>(</a:t>
            </a:r>
            <a:r>
              <a:rPr lang="zh-TW" altLang="en-US" dirty="0"/>
              <a:t>核心創意方法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就可以產生出很多的創意點子</a:t>
            </a:r>
            <a:endParaRPr lang="en-US" altLang="zh-TW" dirty="0"/>
          </a:p>
          <a:p>
            <a:r>
              <a:rPr lang="zh-TW" altLang="en-US" dirty="0"/>
              <a:t>這是一種邏輯的推論。</a:t>
            </a:r>
            <a:endParaRPr lang="en-US" altLang="zh-TW" dirty="0"/>
          </a:p>
          <a:p>
            <a:r>
              <a:rPr lang="zh-TW" altLang="en-US" dirty="0"/>
              <a:t>可以一次性產生出很多點子。</a:t>
            </a:r>
            <a:endParaRPr lang="en-US" altLang="zh-TW" dirty="0"/>
          </a:p>
          <a:p>
            <a:r>
              <a:rPr lang="zh-TW" altLang="en-US" dirty="0"/>
              <a:t>想點子要一次想最上層，然後就能得到很多很多的相同點子。</a:t>
            </a:r>
            <a:endParaRPr lang="en-US" altLang="zh-TW" dirty="0"/>
          </a:p>
          <a:p>
            <a:r>
              <a:rPr lang="zh-TW" altLang="en-US" dirty="0"/>
              <a:t>找到某種思考邏輯，然後一以貫之。</a:t>
            </a:r>
            <a:endParaRPr lang="en-US" altLang="zh-TW" dirty="0"/>
          </a:p>
          <a:p>
            <a:r>
              <a:rPr lang="zh-TW" altLang="en-US" dirty="0"/>
              <a:t>系統思考的概念，提綱契領。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16641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C9CCC7-3911-4CAA-8FD8-FF016A26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重點抓取法</a:t>
            </a:r>
            <a:br>
              <a:rPr lang="en-US" altLang="zh-TW" dirty="0"/>
            </a:br>
            <a:r>
              <a:rPr lang="zh-TW" altLang="en-US" dirty="0"/>
              <a:t>提問：怎樣才能更高？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14148A-BDE8-40F0-ADEC-E7F1BEC9E6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穿高跟鞋</a:t>
            </a:r>
            <a:endParaRPr lang="en-US" altLang="zh-TW" dirty="0"/>
          </a:p>
          <a:p>
            <a:r>
              <a:rPr lang="zh-TW" altLang="en-US" dirty="0"/>
              <a:t>踩高蹺</a:t>
            </a:r>
            <a:endParaRPr lang="en-US" altLang="zh-TW" dirty="0"/>
          </a:p>
          <a:p>
            <a:r>
              <a:rPr lang="zh-TW" altLang="en-US" dirty="0"/>
              <a:t>站在高處</a:t>
            </a:r>
            <a:endParaRPr lang="en-US" altLang="zh-TW" dirty="0"/>
          </a:p>
          <a:p>
            <a:r>
              <a:rPr lang="zh-TW" altLang="en-US" dirty="0"/>
              <a:t>站在大樓上</a:t>
            </a:r>
            <a:endParaRPr lang="en-US" altLang="zh-TW" dirty="0"/>
          </a:p>
          <a:p>
            <a:r>
              <a:rPr lang="zh-TW" altLang="en-US" dirty="0"/>
              <a:t>站在聖母峰上</a:t>
            </a:r>
            <a:endParaRPr lang="en-US" altLang="zh-TW" dirty="0"/>
          </a:p>
          <a:p>
            <a:r>
              <a:rPr lang="zh-TW" altLang="en-US" dirty="0"/>
              <a:t>踮著腳尖</a:t>
            </a:r>
            <a:endParaRPr lang="en-US" altLang="zh-TW" dirty="0"/>
          </a:p>
          <a:p>
            <a:r>
              <a:rPr lang="zh-TW" altLang="en-US" dirty="0"/>
              <a:t>跳起來</a:t>
            </a:r>
            <a:endParaRPr lang="en-US" altLang="zh-TW" dirty="0"/>
          </a:p>
          <a:p>
            <a:r>
              <a:rPr lang="zh-TW" altLang="en-US" dirty="0"/>
              <a:t>開飛機</a:t>
            </a:r>
            <a:endParaRPr lang="en-US" altLang="zh-TW" dirty="0"/>
          </a:p>
          <a:p>
            <a:r>
              <a:rPr lang="zh-TW" altLang="en-US" dirty="0"/>
              <a:t>你可以列舉出更多的方法</a:t>
            </a:r>
            <a:r>
              <a:rPr lang="en-US" altLang="zh-TW" dirty="0"/>
              <a:t>…………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49B4D3C-8ABF-4D35-ADCE-99CD359EAD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有沒有更簡單的方法？</a:t>
            </a:r>
            <a:endParaRPr lang="en-US" altLang="zh-TW" dirty="0"/>
          </a:p>
          <a:p>
            <a:r>
              <a:rPr lang="zh-TW" altLang="en-US" dirty="0"/>
              <a:t>或者，我們可以反著問：</a:t>
            </a:r>
            <a:endParaRPr lang="en-US" altLang="zh-TW" dirty="0"/>
          </a:p>
          <a:p>
            <a:r>
              <a:rPr lang="zh-TW" altLang="en-US" b="1" dirty="0">
                <a:solidFill>
                  <a:srgbClr val="FF0000"/>
                </a:solidFill>
              </a:rPr>
              <a:t>怎樣才能比人更矮？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zh-TW" altLang="en-US" dirty="0"/>
              <a:t>思考一下，有什麼方法可以根本性的解決比人更高的答案？</a:t>
            </a:r>
            <a:endParaRPr lang="en-US" altLang="zh-TW" dirty="0"/>
          </a:p>
          <a:p>
            <a:r>
              <a:rPr lang="zh-TW" altLang="en-US" dirty="0"/>
              <a:t>而這個答案，就是無限個如何比人更高的方法中最重要且核心的方法，找到這個答案，那就是重點抓取法的精隨了。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70044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9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重點抓取法</a:t>
            </a:r>
            <a:br>
              <a:rPr lang="en-US" altLang="zh-TW" dirty="0"/>
            </a:br>
            <a:r>
              <a:rPr lang="zh-TW" altLang="en-US" dirty="0"/>
              <a:t>一個簡單但有趣的範例：</a:t>
            </a:r>
            <a:br>
              <a:rPr lang="en-US" altLang="zh-TW" dirty="0"/>
            </a:br>
            <a:r>
              <a:rPr lang="zh-TW" altLang="en-US" dirty="0"/>
              <a:t>很難處理的歷史命題任務</a:t>
            </a:r>
          </a:p>
        </p:txBody>
      </p:sp>
      <p:sp>
        <p:nvSpPr>
          <p:cNvPr id="1234947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2708920"/>
            <a:ext cx="6912768" cy="388077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TW" altLang="en-US" b="1" dirty="0"/>
              <a:t>事由</a:t>
            </a:r>
            <a:r>
              <a:rPr lang="en-US" altLang="zh-TW" b="1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altLang="zh-TW" dirty="0"/>
              <a:t>        </a:t>
            </a:r>
            <a:r>
              <a:rPr lang="zh-TW" altLang="en-US" dirty="0"/>
              <a:t>你目前擔任中正預校歷史科教官，奉命出補考試卷，學生都不</a:t>
            </a:r>
            <a:endParaRPr lang="en-US" altLang="zh-TW" dirty="0"/>
          </a:p>
          <a:p>
            <a:pPr>
              <a:buFont typeface="Wingdings" pitchFamily="2" charset="2"/>
              <a:buNone/>
            </a:pPr>
            <a:r>
              <a:rPr lang="zh-TW" altLang="en-US" dirty="0"/>
              <a:t>        想要唸書，但你又被上級要求如下</a:t>
            </a:r>
            <a:r>
              <a:rPr lang="en-US" altLang="zh-TW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altLang="zh-TW" dirty="0"/>
              <a:t> 1.</a:t>
            </a:r>
            <a:r>
              <a:rPr lang="zh-TW" altLang="en-US" dirty="0"/>
              <a:t>中國史與外國史各二比一，採選擇題</a:t>
            </a:r>
          </a:p>
          <a:p>
            <a:pPr>
              <a:buFont typeface="Wingdings" pitchFamily="2" charset="2"/>
              <a:buNone/>
            </a:pPr>
            <a:r>
              <a:rPr lang="zh-TW" altLang="en-US" dirty="0"/>
              <a:t> </a:t>
            </a:r>
            <a:r>
              <a:rPr lang="en-US" altLang="zh-TW" dirty="0"/>
              <a:t>2.</a:t>
            </a:r>
            <a:r>
              <a:rPr lang="zh-TW" altLang="en-US" dirty="0"/>
              <a:t>嚴禁作弊，禁搖骰子</a:t>
            </a:r>
          </a:p>
          <a:p>
            <a:pPr>
              <a:buFont typeface="Wingdings" pitchFamily="2" charset="2"/>
              <a:buNone/>
            </a:pPr>
            <a:r>
              <a:rPr lang="zh-TW" altLang="en-US" dirty="0"/>
              <a:t> </a:t>
            </a:r>
            <a:r>
              <a:rPr lang="en-US" altLang="zh-TW" dirty="0"/>
              <a:t>3.</a:t>
            </a:r>
            <a:r>
              <a:rPr lang="zh-TW" altLang="en-US" dirty="0"/>
              <a:t>保證高分通過，展現課輔成果。</a:t>
            </a:r>
          </a:p>
          <a:p>
            <a:pPr>
              <a:buFont typeface="Wingdings" pitchFamily="2" charset="2"/>
              <a:buNone/>
            </a:pPr>
            <a:endParaRPr lang="en-US" altLang="zh-TW" b="1" dirty="0"/>
          </a:p>
          <a:p>
            <a:pPr>
              <a:buFont typeface="Wingdings" pitchFamily="2" charset="2"/>
              <a:buNone/>
            </a:pPr>
            <a:r>
              <a:rPr lang="zh-TW" altLang="en-US" b="1" dirty="0">
                <a:solidFill>
                  <a:srgbClr val="FF0000"/>
                </a:solidFill>
              </a:rPr>
              <a:t>以上軍令如山，不得違背，違者自行負責。</a:t>
            </a:r>
          </a:p>
        </p:txBody>
      </p:sp>
      <p:sp>
        <p:nvSpPr>
          <p:cNvPr id="4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E3A3-C071-447B-825D-BADA59BDFB45}" type="slidenum">
              <a:rPr lang="en-US" altLang="zh-TW"/>
              <a:pPr/>
              <a:t>26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44299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97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60648"/>
            <a:ext cx="6984776" cy="659735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1.</a:t>
            </a:r>
            <a:r>
              <a:rPr lang="zh-TW" altLang="en-US" dirty="0"/>
              <a:t>為了求愛妾而引清兵入關的明末將領為</a:t>
            </a:r>
            <a:r>
              <a:rPr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</a:t>
            </a:r>
            <a:r>
              <a:rPr lang="en-US" altLang="zh-TW" dirty="0"/>
              <a:t>(1)</a:t>
            </a:r>
            <a:r>
              <a:rPr lang="zh-TW" altLang="en-US" dirty="0"/>
              <a:t>吳一桂</a:t>
            </a:r>
            <a:r>
              <a:rPr lang="en-US" altLang="zh-TW" dirty="0"/>
              <a:t>(2)</a:t>
            </a:r>
            <a:r>
              <a:rPr lang="zh-TW" altLang="en-US" dirty="0"/>
              <a:t>吳二桂</a:t>
            </a:r>
            <a:r>
              <a:rPr lang="en-US" altLang="zh-TW" dirty="0"/>
              <a:t>(3)</a:t>
            </a:r>
            <a:r>
              <a:rPr lang="zh-TW" altLang="en-US" dirty="0"/>
              <a:t>吳三桂</a:t>
            </a:r>
            <a:r>
              <a:rPr lang="en-US" altLang="zh-TW" dirty="0"/>
              <a:t>(4)</a:t>
            </a:r>
            <a:r>
              <a:rPr lang="zh-TW" altLang="en-US" dirty="0"/>
              <a:t>吳四桂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2.</a:t>
            </a:r>
            <a:r>
              <a:rPr lang="zh-TW" altLang="en-US" dirty="0"/>
              <a:t>呈上題，其愛妾是</a:t>
            </a:r>
            <a:r>
              <a:rPr lang="en-US" altLang="zh-TW" dirty="0"/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TW" altLang="en-US" dirty="0"/>
              <a:t>  </a:t>
            </a:r>
            <a:r>
              <a:rPr kumimoji="0" lang="en-US" altLang="zh-TW" dirty="0"/>
              <a:t> (1)</a:t>
            </a:r>
            <a:r>
              <a:rPr kumimoji="0" lang="zh-TW" altLang="en-US" dirty="0"/>
              <a:t>陳平平</a:t>
            </a:r>
            <a:r>
              <a:rPr kumimoji="0" lang="en-US" altLang="zh-TW" dirty="0"/>
              <a:t>(2)</a:t>
            </a:r>
            <a:r>
              <a:rPr kumimoji="0" lang="zh-TW" altLang="en-US" dirty="0"/>
              <a:t>陳扁扁</a:t>
            </a:r>
            <a:r>
              <a:rPr kumimoji="0" lang="en-US" altLang="zh-TW" dirty="0"/>
              <a:t>(3)</a:t>
            </a:r>
            <a:r>
              <a:rPr kumimoji="0" lang="zh-TW" altLang="en-US" dirty="0"/>
              <a:t>陳方方</a:t>
            </a:r>
            <a:r>
              <a:rPr kumimoji="0" lang="en-US" altLang="zh-TW" dirty="0"/>
              <a:t>(4)</a:t>
            </a:r>
            <a:r>
              <a:rPr kumimoji="0" lang="zh-TW" altLang="en-US" dirty="0"/>
              <a:t>陳圓圓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/>
              <a:t>3.</a:t>
            </a:r>
            <a:r>
              <a:rPr kumimoji="0" lang="zh-TW" altLang="en-US" dirty="0"/>
              <a:t>秦二世時，專擅朝政、指鹿為馬的是</a:t>
            </a:r>
            <a:r>
              <a:rPr kumimoji="0"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TW" altLang="en-US" dirty="0"/>
              <a:t>   </a:t>
            </a:r>
            <a:r>
              <a:rPr kumimoji="0" lang="en-US" altLang="zh-TW" dirty="0"/>
              <a:t>(1)</a:t>
            </a:r>
            <a:r>
              <a:rPr kumimoji="0" lang="zh-TW" altLang="en-US" dirty="0"/>
              <a:t>趙高</a:t>
            </a:r>
            <a:r>
              <a:rPr kumimoji="0" lang="en-US" altLang="zh-TW" dirty="0"/>
              <a:t>(2)</a:t>
            </a:r>
            <a:r>
              <a:rPr kumimoji="0" lang="zh-TW" altLang="en-US" dirty="0"/>
              <a:t>趙低</a:t>
            </a:r>
            <a:r>
              <a:rPr kumimoji="0" lang="en-US" altLang="zh-TW" dirty="0"/>
              <a:t>(3)</a:t>
            </a:r>
            <a:r>
              <a:rPr kumimoji="0" lang="zh-TW" altLang="en-US" dirty="0"/>
              <a:t>趙上</a:t>
            </a:r>
            <a:r>
              <a:rPr kumimoji="0" lang="en-US" altLang="zh-TW" dirty="0"/>
              <a:t>(4)</a:t>
            </a:r>
            <a:r>
              <a:rPr kumimoji="0" lang="zh-TW" altLang="en-US" dirty="0"/>
              <a:t>趙下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/>
              <a:t>4.</a:t>
            </a:r>
            <a:r>
              <a:rPr kumimoji="0" lang="zh-TW" altLang="en-US" dirty="0"/>
              <a:t>著有道德經，為到家始祖的是</a:t>
            </a:r>
            <a:r>
              <a:rPr kumimoji="0" lang="en-US" altLang="zh-TW" dirty="0"/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TW" altLang="en-US" dirty="0"/>
              <a:t>   </a:t>
            </a:r>
            <a:r>
              <a:rPr kumimoji="0" lang="en-US" altLang="zh-TW" dirty="0"/>
              <a:t>(1)</a:t>
            </a:r>
            <a:r>
              <a:rPr kumimoji="0" lang="zh-TW" altLang="en-US" dirty="0"/>
              <a:t>李耳</a:t>
            </a:r>
            <a:r>
              <a:rPr kumimoji="0" lang="en-US" altLang="zh-TW" dirty="0"/>
              <a:t>(1)</a:t>
            </a:r>
            <a:r>
              <a:rPr kumimoji="0" lang="zh-TW" altLang="en-US" dirty="0"/>
              <a:t>李眼</a:t>
            </a:r>
            <a:r>
              <a:rPr kumimoji="0" lang="en-US" altLang="zh-TW" dirty="0"/>
              <a:t>(1)</a:t>
            </a:r>
            <a:r>
              <a:rPr kumimoji="0" lang="zh-TW" altLang="en-US" dirty="0"/>
              <a:t>李鼻</a:t>
            </a:r>
            <a:r>
              <a:rPr kumimoji="0" lang="en-US" altLang="zh-TW" dirty="0"/>
              <a:t>(1)</a:t>
            </a:r>
            <a:r>
              <a:rPr kumimoji="0" lang="zh-TW" altLang="en-US" dirty="0"/>
              <a:t>李口</a:t>
            </a:r>
            <a:endParaRPr kumimoji="0" lang="en-US" altLang="zh-TW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/>
              <a:t>5.</a:t>
            </a:r>
            <a:r>
              <a:rPr kumimoji="0" lang="zh-TW" altLang="en-US" dirty="0"/>
              <a:t>原為唐高宗之后，後登基為帝，為中國第一個女皇帝的是</a:t>
            </a:r>
            <a:r>
              <a:rPr kumimoji="0" lang="en-US" altLang="zh-TW" dirty="0"/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</a:t>
            </a:r>
            <a:r>
              <a:rPr kumimoji="0" lang="en-US" altLang="zh-TW" dirty="0"/>
              <a:t>(1)</a:t>
            </a:r>
            <a:r>
              <a:rPr kumimoji="0" lang="zh-TW" altLang="en-US" dirty="0"/>
              <a:t>文則天</a:t>
            </a:r>
            <a:r>
              <a:rPr kumimoji="0" lang="en-US" altLang="zh-TW" dirty="0"/>
              <a:t>(2)</a:t>
            </a:r>
            <a:r>
              <a:rPr kumimoji="0" lang="zh-TW" altLang="en-US" dirty="0"/>
              <a:t>武則天</a:t>
            </a:r>
            <a:r>
              <a:rPr kumimoji="0" lang="en-US" altLang="zh-TW" dirty="0"/>
              <a:t>(3)</a:t>
            </a:r>
            <a:r>
              <a:rPr kumimoji="0" lang="zh-TW" altLang="en-US" dirty="0"/>
              <a:t>文則地</a:t>
            </a:r>
            <a:r>
              <a:rPr kumimoji="0" lang="en-US" altLang="zh-TW" dirty="0"/>
              <a:t>(4)</a:t>
            </a:r>
            <a:r>
              <a:rPr kumimoji="0" lang="zh-TW" altLang="en-US" dirty="0"/>
              <a:t>武則地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/>
              <a:t>6.</a:t>
            </a:r>
            <a:r>
              <a:rPr kumimoji="0" lang="zh-TW" altLang="en-US" dirty="0"/>
              <a:t>東漢末年，劉備、關羽與何人互有盟約，約為兄弟</a:t>
            </a:r>
            <a:r>
              <a:rPr kumimoji="0" lang="en-US" altLang="zh-TW" dirty="0"/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</a:t>
            </a:r>
            <a:r>
              <a:rPr kumimoji="0" lang="en-US" altLang="zh-TW" dirty="0"/>
              <a:t>(1)</a:t>
            </a:r>
            <a:r>
              <a:rPr kumimoji="0" lang="zh-TW" altLang="en-US" dirty="0"/>
              <a:t>岳飛</a:t>
            </a:r>
            <a:r>
              <a:rPr kumimoji="0" lang="en-US" altLang="zh-TW" dirty="0"/>
              <a:t>(2)</a:t>
            </a:r>
            <a:r>
              <a:rPr kumimoji="0" lang="zh-TW" altLang="en-US" dirty="0"/>
              <a:t>張飛</a:t>
            </a:r>
            <a:r>
              <a:rPr kumimoji="0" lang="en-US" altLang="zh-TW" dirty="0"/>
              <a:t>(3)</a:t>
            </a:r>
            <a:r>
              <a:rPr kumimoji="0" lang="zh-TW" altLang="en-US" dirty="0"/>
              <a:t>鳳飛飛</a:t>
            </a:r>
            <a:r>
              <a:rPr kumimoji="0" lang="en-US" altLang="zh-TW" dirty="0"/>
              <a:t>(4)</a:t>
            </a:r>
            <a:r>
              <a:rPr kumimoji="0" lang="zh-TW" altLang="en-US" dirty="0"/>
              <a:t>王菲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/>
              <a:t>7.</a:t>
            </a:r>
            <a:r>
              <a:rPr kumimoji="0" lang="zh-TW" altLang="en-US" dirty="0"/>
              <a:t>呈上題，其史稱三結義為</a:t>
            </a:r>
            <a:r>
              <a:rPr kumimoji="0"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</a:t>
            </a:r>
            <a:r>
              <a:rPr kumimoji="0" lang="en-US" altLang="zh-TW" dirty="0"/>
              <a:t>(1)</a:t>
            </a:r>
            <a:r>
              <a:rPr kumimoji="0" lang="zh-TW" altLang="en-US" dirty="0"/>
              <a:t>宜蘭三結義</a:t>
            </a:r>
            <a:r>
              <a:rPr kumimoji="0" lang="en-US" altLang="zh-TW" dirty="0"/>
              <a:t>(2)</a:t>
            </a:r>
            <a:r>
              <a:rPr kumimoji="0" lang="zh-TW" altLang="en-US" dirty="0"/>
              <a:t>桃園三結義</a:t>
            </a:r>
            <a:r>
              <a:rPr kumimoji="0" lang="en-US" altLang="zh-TW" dirty="0"/>
              <a:t>(3)</a:t>
            </a:r>
            <a:r>
              <a:rPr kumimoji="0" lang="zh-TW" altLang="en-US" dirty="0"/>
              <a:t>新竹三結義</a:t>
            </a:r>
            <a:r>
              <a:rPr kumimoji="0" lang="en-US" altLang="zh-TW" dirty="0"/>
              <a:t>(4)</a:t>
            </a:r>
            <a:r>
              <a:rPr kumimoji="0" lang="zh-TW" altLang="en-US" dirty="0"/>
              <a:t>苗栗三結義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/>
              <a:t>8.</a:t>
            </a:r>
            <a:r>
              <a:rPr kumimoji="0" lang="zh-TW" altLang="en-US" dirty="0"/>
              <a:t>唐朝詩人，著有長恨歌描寫楊貴妃生平的是</a:t>
            </a:r>
            <a:r>
              <a:rPr kumimoji="0"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TW" altLang="en-US" dirty="0"/>
              <a:t>   </a:t>
            </a:r>
            <a:r>
              <a:rPr kumimoji="0" lang="en-US" altLang="zh-TW" dirty="0"/>
              <a:t>(1)</a:t>
            </a:r>
            <a:r>
              <a:rPr kumimoji="0" lang="zh-TW" altLang="en-US" dirty="0"/>
              <a:t>白居易</a:t>
            </a:r>
            <a:r>
              <a:rPr kumimoji="0" lang="en-US" altLang="zh-TW" dirty="0"/>
              <a:t>(2)</a:t>
            </a:r>
            <a:r>
              <a:rPr kumimoji="0" lang="zh-TW" altLang="en-US" dirty="0"/>
              <a:t>黑居易</a:t>
            </a:r>
            <a:r>
              <a:rPr kumimoji="0" lang="en-US" altLang="zh-TW" dirty="0"/>
              <a:t>(3)</a:t>
            </a:r>
            <a:r>
              <a:rPr kumimoji="0" lang="zh-TW" altLang="en-US" dirty="0"/>
              <a:t>紅居易</a:t>
            </a:r>
            <a:r>
              <a:rPr kumimoji="0" lang="en-US" altLang="zh-TW" dirty="0"/>
              <a:t>(4)</a:t>
            </a:r>
            <a:r>
              <a:rPr kumimoji="0" lang="zh-TW" altLang="en-US" dirty="0"/>
              <a:t>綠居易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TW" dirty="0"/>
              <a:t>9.</a:t>
            </a:r>
            <a:r>
              <a:rPr kumimoji="0" lang="zh-TW" altLang="en-US" dirty="0"/>
              <a:t>遠古時代，傳說黃帝於何時打敗蚩尤</a:t>
            </a:r>
            <a:r>
              <a:rPr kumimoji="0"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</a:t>
            </a:r>
            <a:r>
              <a:rPr kumimoji="0" lang="en-US" altLang="zh-TW" dirty="0"/>
              <a:t>(1)</a:t>
            </a:r>
            <a:r>
              <a:rPr kumimoji="0" lang="zh-TW" altLang="en-US" dirty="0"/>
              <a:t>涿牛</a:t>
            </a:r>
            <a:r>
              <a:rPr kumimoji="0" lang="en-US" altLang="zh-TW" dirty="0"/>
              <a:t>(2)</a:t>
            </a:r>
            <a:r>
              <a:rPr kumimoji="0" lang="zh-TW" altLang="en-US" dirty="0"/>
              <a:t>涿豬</a:t>
            </a:r>
            <a:r>
              <a:rPr kumimoji="0" lang="en-US" altLang="zh-TW" dirty="0"/>
              <a:t>(3)</a:t>
            </a:r>
            <a:r>
              <a:rPr kumimoji="0" lang="zh-TW" altLang="en-US" dirty="0"/>
              <a:t>涿鹿</a:t>
            </a:r>
            <a:r>
              <a:rPr kumimoji="0" lang="en-US" altLang="zh-TW" dirty="0"/>
              <a:t>(4)</a:t>
            </a:r>
            <a:r>
              <a:rPr kumimoji="0" lang="zh-TW" altLang="en-US" dirty="0"/>
              <a:t>涿馬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kumimoji="0" lang="zh-TW" alt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kumimoji="0" lang="zh-TW" alt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</p:txBody>
      </p:sp>
      <p:sp>
        <p:nvSpPr>
          <p:cNvPr id="3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F702-74F6-41EB-869A-FF2A6FBC2B5C}" type="slidenum">
              <a:rPr lang="en-US" altLang="zh-TW"/>
              <a:pPr/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3129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019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60648"/>
            <a:ext cx="6696744" cy="659735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10.</a:t>
            </a:r>
            <a:r>
              <a:rPr lang="zh-TW" altLang="en-US" dirty="0"/>
              <a:t>國共戰爭期間，打敗國民黨，建立中共政權的中共領導為</a:t>
            </a:r>
            <a:r>
              <a:rPr lang="en-US" altLang="zh-TW" dirty="0"/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毛澤東</a:t>
            </a:r>
            <a:r>
              <a:rPr lang="en-US" altLang="zh-TW" dirty="0"/>
              <a:t>(2)</a:t>
            </a:r>
            <a:r>
              <a:rPr lang="zh-TW" altLang="en-US" dirty="0"/>
              <a:t>毛澤西</a:t>
            </a:r>
            <a:r>
              <a:rPr lang="en-US" altLang="zh-TW" dirty="0"/>
              <a:t>(3)</a:t>
            </a:r>
            <a:r>
              <a:rPr lang="zh-TW" altLang="en-US" dirty="0"/>
              <a:t>毛澤南</a:t>
            </a:r>
            <a:r>
              <a:rPr lang="en-US" altLang="zh-TW" dirty="0"/>
              <a:t>(4)</a:t>
            </a:r>
            <a:r>
              <a:rPr lang="zh-TW" altLang="en-US" dirty="0"/>
              <a:t>毛澤北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11.</a:t>
            </a:r>
            <a:r>
              <a:rPr lang="zh-TW" altLang="en-US" dirty="0"/>
              <a:t>中日甲午戰爭訂定</a:t>
            </a:r>
            <a:r>
              <a:rPr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牛關條約</a:t>
            </a:r>
            <a:r>
              <a:rPr lang="en-US" altLang="zh-TW" dirty="0"/>
              <a:t>(2)</a:t>
            </a:r>
            <a:r>
              <a:rPr lang="zh-TW" altLang="en-US" dirty="0"/>
              <a:t>馬關條約</a:t>
            </a:r>
            <a:r>
              <a:rPr lang="en-US" altLang="zh-TW" dirty="0"/>
              <a:t>(3)</a:t>
            </a:r>
            <a:r>
              <a:rPr lang="zh-TW" altLang="en-US" dirty="0"/>
              <a:t>豬關條約</a:t>
            </a:r>
            <a:r>
              <a:rPr lang="en-US" altLang="zh-TW" dirty="0"/>
              <a:t>(4)</a:t>
            </a:r>
            <a:r>
              <a:rPr lang="zh-TW" altLang="en-US" dirty="0"/>
              <a:t>羊關條約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12.</a:t>
            </a:r>
            <a:r>
              <a:rPr lang="zh-TW" altLang="en-US" dirty="0"/>
              <a:t>甲午戰爭後台灣割讓日本，在台灣中部抗日的是</a:t>
            </a:r>
            <a:r>
              <a:rPr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丘逢甲</a:t>
            </a:r>
            <a:r>
              <a:rPr lang="en-US" altLang="zh-TW" dirty="0"/>
              <a:t>(2)</a:t>
            </a:r>
            <a:r>
              <a:rPr lang="zh-TW" altLang="en-US" dirty="0"/>
              <a:t>丘逢乙</a:t>
            </a:r>
            <a:r>
              <a:rPr lang="en-US" altLang="zh-TW" dirty="0"/>
              <a:t>(3)</a:t>
            </a:r>
            <a:r>
              <a:rPr lang="zh-TW" altLang="en-US" dirty="0"/>
              <a:t>丘逢丙</a:t>
            </a:r>
            <a:r>
              <a:rPr lang="en-US" altLang="zh-TW" dirty="0"/>
              <a:t>(4)</a:t>
            </a:r>
            <a:r>
              <a:rPr lang="zh-TW" altLang="en-US" dirty="0"/>
              <a:t>丘逢丁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13.</a:t>
            </a:r>
            <a:r>
              <a:rPr lang="zh-TW" altLang="en-US" dirty="0"/>
              <a:t>清末率兵平定新疆回亂的是</a:t>
            </a:r>
            <a:r>
              <a:rPr lang="en-US" altLang="zh-TW" dirty="0"/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左宗棠</a:t>
            </a:r>
            <a:r>
              <a:rPr lang="en-US" altLang="zh-TW" dirty="0"/>
              <a:t>(2)</a:t>
            </a:r>
            <a:r>
              <a:rPr lang="zh-TW" altLang="en-US" dirty="0"/>
              <a:t>右宗棠</a:t>
            </a:r>
            <a:r>
              <a:rPr lang="en-US" altLang="zh-TW" dirty="0"/>
              <a:t>(3)</a:t>
            </a:r>
            <a:r>
              <a:rPr lang="zh-TW" altLang="en-US" dirty="0"/>
              <a:t>前宗棠</a:t>
            </a:r>
            <a:r>
              <a:rPr lang="en-US" altLang="zh-TW" dirty="0"/>
              <a:t>(4)</a:t>
            </a:r>
            <a:r>
              <a:rPr lang="zh-TW" altLang="en-US" dirty="0"/>
              <a:t>後宗棠</a:t>
            </a:r>
            <a:endParaRPr lang="en-US" altLang="zh-TW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14.1492</a:t>
            </a:r>
            <a:r>
              <a:rPr lang="zh-TW" altLang="en-US" dirty="0"/>
              <a:t>年發現新大陸的是</a:t>
            </a:r>
            <a:r>
              <a:rPr lang="en-US" altLang="zh-TW" dirty="0"/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姐倫布</a:t>
            </a:r>
            <a:r>
              <a:rPr lang="en-US" altLang="zh-TW" dirty="0"/>
              <a:t>(2)</a:t>
            </a:r>
            <a:r>
              <a:rPr lang="zh-TW" altLang="en-US" dirty="0"/>
              <a:t>妹倫布</a:t>
            </a:r>
            <a:r>
              <a:rPr lang="en-US" altLang="zh-TW" dirty="0"/>
              <a:t>(3)</a:t>
            </a:r>
            <a:r>
              <a:rPr lang="zh-TW" altLang="en-US" dirty="0"/>
              <a:t>弟倫布</a:t>
            </a:r>
            <a:r>
              <a:rPr lang="en-US" altLang="zh-TW" dirty="0"/>
              <a:t>(4)</a:t>
            </a:r>
            <a:r>
              <a:rPr lang="zh-TW" altLang="en-US" dirty="0"/>
              <a:t>哥倫布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15.</a:t>
            </a:r>
            <a:r>
              <a:rPr lang="zh-TW" altLang="en-US" dirty="0"/>
              <a:t>發現萬有引力的是</a:t>
            </a:r>
            <a:r>
              <a:rPr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雞頓</a:t>
            </a:r>
            <a:r>
              <a:rPr lang="en-US" altLang="zh-TW" dirty="0"/>
              <a:t>(2)</a:t>
            </a:r>
            <a:r>
              <a:rPr lang="zh-TW" altLang="en-US" dirty="0"/>
              <a:t>鴨頓</a:t>
            </a:r>
            <a:r>
              <a:rPr lang="en-US" altLang="zh-TW" dirty="0"/>
              <a:t>(3)</a:t>
            </a:r>
            <a:r>
              <a:rPr lang="zh-TW" altLang="en-US" dirty="0"/>
              <a:t>牛頓</a:t>
            </a:r>
            <a:r>
              <a:rPr lang="en-US" altLang="zh-TW" dirty="0"/>
              <a:t>(4)</a:t>
            </a:r>
            <a:r>
              <a:rPr lang="zh-TW" altLang="en-US" dirty="0"/>
              <a:t>馬頓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16.</a:t>
            </a:r>
            <a:r>
              <a:rPr lang="zh-TW" altLang="en-US" dirty="0"/>
              <a:t>古埃及人把過世國王製成</a:t>
            </a:r>
            <a:r>
              <a:rPr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金乃伊</a:t>
            </a:r>
            <a:r>
              <a:rPr lang="en-US" altLang="zh-TW" dirty="0"/>
              <a:t>(2)</a:t>
            </a:r>
            <a:r>
              <a:rPr lang="zh-TW" altLang="en-US" dirty="0"/>
              <a:t>木乃伊</a:t>
            </a:r>
            <a:r>
              <a:rPr lang="en-US" altLang="zh-TW" dirty="0"/>
              <a:t>(3)</a:t>
            </a:r>
            <a:r>
              <a:rPr lang="zh-TW" altLang="en-US" dirty="0"/>
              <a:t>水乃伊</a:t>
            </a:r>
            <a:r>
              <a:rPr lang="en-US" altLang="zh-TW" dirty="0"/>
              <a:t>(4)</a:t>
            </a:r>
            <a:r>
              <a:rPr lang="zh-TW" altLang="en-US" dirty="0"/>
              <a:t>火乃伊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17.</a:t>
            </a:r>
            <a:r>
              <a:rPr lang="zh-TW" altLang="en-US" dirty="0"/>
              <a:t>呈上題，將國王遺體存放在</a:t>
            </a:r>
            <a:r>
              <a:rPr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金字塔</a:t>
            </a:r>
            <a:r>
              <a:rPr lang="en-US" altLang="zh-TW" dirty="0"/>
              <a:t>(2)</a:t>
            </a:r>
            <a:r>
              <a:rPr lang="zh-TW" altLang="en-US" dirty="0"/>
              <a:t>銀字塔</a:t>
            </a:r>
            <a:r>
              <a:rPr lang="en-US" altLang="zh-TW" dirty="0"/>
              <a:t>(3)</a:t>
            </a:r>
            <a:r>
              <a:rPr lang="zh-TW" altLang="en-US" dirty="0"/>
              <a:t>銅字塔</a:t>
            </a:r>
            <a:r>
              <a:rPr lang="en-US" altLang="zh-TW" dirty="0"/>
              <a:t>(4)</a:t>
            </a:r>
            <a:r>
              <a:rPr lang="zh-TW" altLang="en-US" dirty="0"/>
              <a:t>鐵字塔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18.</a:t>
            </a:r>
            <a:r>
              <a:rPr lang="zh-TW" altLang="en-US" dirty="0"/>
              <a:t>三十年代世界經濟大恐慌，美國總統推行新政是</a:t>
            </a:r>
            <a:r>
              <a:rPr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羅斯福</a:t>
            </a:r>
            <a:r>
              <a:rPr lang="en-US" altLang="zh-TW" dirty="0"/>
              <a:t>(2)</a:t>
            </a:r>
            <a:r>
              <a:rPr lang="zh-TW" altLang="en-US" dirty="0"/>
              <a:t>羅斯祿</a:t>
            </a:r>
            <a:r>
              <a:rPr lang="en-US" altLang="zh-TW" dirty="0"/>
              <a:t>(3)</a:t>
            </a:r>
            <a:r>
              <a:rPr lang="zh-TW" altLang="en-US" dirty="0"/>
              <a:t>羅斯壽</a:t>
            </a:r>
            <a:r>
              <a:rPr lang="en-US" altLang="zh-TW" dirty="0"/>
              <a:t>(4)</a:t>
            </a:r>
            <a:r>
              <a:rPr lang="zh-TW" altLang="en-US" dirty="0"/>
              <a:t>羅斯喜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TW" alt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TW" alt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kumimoji="0" lang="zh-TW" alt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</p:txBody>
      </p:sp>
      <p:sp>
        <p:nvSpPr>
          <p:cNvPr id="3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BBC3-0C53-44F3-9034-F6FC84470FA9}" type="slidenum">
              <a:rPr lang="en-US" altLang="zh-TW"/>
              <a:pPr/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3016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06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620688"/>
            <a:ext cx="7920880" cy="5785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19.</a:t>
            </a:r>
            <a:r>
              <a:rPr lang="zh-TW" altLang="en-US" dirty="0"/>
              <a:t>美國由建國的十三州擴充到最後的五十州，由最後一州是</a:t>
            </a:r>
            <a:r>
              <a:rPr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春威夷 </a:t>
            </a:r>
            <a:r>
              <a:rPr lang="en-US" altLang="zh-TW" dirty="0"/>
              <a:t>(2) </a:t>
            </a:r>
            <a:r>
              <a:rPr lang="zh-TW" altLang="en-US" dirty="0"/>
              <a:t>夏威夷</a:t>
            </a:r>
            <a:r>
              <a:rPr lang="en-US" altLang="zh-TW" dirty="0"/>
              <a:t>(3)</a:t>
            </a:r>
            <a:r>
              <a:rPr lang="zh-TW" altLang="en-US" dirty="0"/>
              <a:t>秋威夷</a:t>
            </a:r>
            <a:r>
              <a:rPr lang="en-US" altLang="zh-TW" dirty="0"/>
              <a:t>(4)</a:t>
            </a:r>
            <a:r>
              <a:rPr lang="zh-TW" altLang="en-US" dirty="0"/>
              <a:t>冬威夷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20.</a:t>
            </a:r>
            <a:r>
              <a:rPr lang="zh-TW" altLang="en-US" dirty="0"/>
              <a:t>建立人類第一個橫跨歐亞非版圖的大帝是</a:t>
            </a:r>
            <a:r>
              <a:rPr lang="en-US" altLang="zh-TW" dirty="0"/>
              <a:t>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冠力山大</a:t>
            </a:r>
            <a:r>
              <a:rPr lang="en-US" altLang="zh-TW" dirty="0"/>
              <a:t>(2)</a:t>
            </a:r>
            <a:r>
              <a:rPr lang="zh-TW" altLang="en-US" dirty="0"/>
              <a:t>亞力山大</a:t>
            </a:r>
            <a:r>
              <a:rPr lang="en-US" altLang="zh-TW" dirty="0"/>
              <a:t>(3)</a:t>
            </a:r>
            <a:r>
              <a:rPr lang="zh-TW" altLang="en-US" dirty="0"/>
              <a:t>季力山大</a:t>
            </a:r>
            <a:r>
              <a:rPr lang="en-US" altLang="zh-TW" dirty="0"/>
              <a:t>(4)</a:t>
            </a:r>
            <a:r>
              <a:rPr lang="zh-TW" altLang="en-US" dirty="0"/>
              <a:t>殿力山大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21.</a:t>
            </a:r>
            <a:r>
              <a:rPr lang="zh-TW" altLang="en-US" dirty="0"/>
              <a:t>台灣第一位民選總統是：</a:t>
            </a:r>
            <a:endParaRPr lang="en-US" altLang="zh-TW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李登輝</a:t>
            </a:r>
            <a:r>
              <a:rPr lang="en-US" altLang="zh-TW" dirty="0"/>
              <a:t>(2)</a:t>
            </a:r>
            <a:r>
              <a:rPr lang="zh-TW" altLang="en-US" dirty="0"/>
              <a:t>桃登輝</a:t>
            </a:r>
            <a:r>
              <a:rPr lang="en-US" altLang="zh-TW" dirty="0"/>
              <a:t>(3)</a:t>
            </a:r>
            <a:r>
              <a:rPr lang="zh-TW" altLang="en-US" dirty="0"/>
              <a:t>柚登輝</a:t>
            </a:r>
            <a:r>
              <a:rPr lang="en-US" altLang="zh-TW" dirty="0"/>
              <a:t>(4)</a:t>
            </a:r>
            <a:r>
              <a:rPr lang="zh-TW" altLang="en-US" dirty="0"/>
              <a:t>梅登輝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22.</a:t>
            </a:r>
            <a:r>
              <a:rPr lang="zh-TW" altLang="en-US" dirty="0"/>
              <a:t>美國向俄國購買的洲是哪一洲：</a:t>
            </a:r>
            <a:endParaRPr lang="en-US" altLang="zh-TW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/>
              <a:t>     </a:t>
            </a:r>
            <a:r>
              <a:rPr lang="en-US" altLang="zh-TW" dirty="0"/>
              <a:t>(1)</a:t>
            </a:r>
            <a:r>
              <a:rPr lang="zh-TW" altLang="en-US" dirty="0"/>
              <a:t>阿拉斯加</a:t>
            </a:r>
            <a:r>
              <a:rPr lang="en-US" altLang="zh-TW" dirty="0"/>
              <a:t>(2)</a:t>
            </a:r>
            <a:r>
              <a:rPr lang="zh-TW" altLang="en-US" dirty="0"/>
              <a:t>阿拉斯減</a:t>
            </a:r>
            <a:r>
              <a:rPr lang="en-US" altLang="zh-TW" dirty="0"/>
              <a:t>(3)</a:t>
            </a:r>
            <a:r>
              <a:rPr lang="zh-TW" altLang="en-US" dirty="0"/>
              <a:t>阿拉斯乘</a:t>
            </a:r>
            <a:r>
              <a:rPr lang="en-US" altLang="zh-TW" dirty="0"/>
              <a:t>(4)</a:t>
            </a:r>
            <a:r>
              <a:rPr lang="zh-TW" altLang="en-US" dirty="0"/>
              <a:t>阿拉斯除</a:t>
            </a:r>
            <a:endParaRPr lang="en-US" altLang="zh-TW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4400" dirty="0"/>
              <a:t>你現在已經看到</a:t>
            </a:r>
            <a:r>
              <a:rPr lang="en-US" altLang="zh-TW" sz="4400" dirty="0"/>
              <a:t>22</a:t>
            </a:r>
            <a:r>
              <a:rPr lang="zh-TW" altLang="en-US" sz="4400" dirty="0"/>
              <a:t>題了，</a:t>
            </a:r>
            <a:endParaRPr lang="en-US" altLang="zh-TW" sz="44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4400" dirty="0"/>
              <a:t>能不能再自己想剩下的</a:t>
            </a:r>
            <a:r>
              <a:rPr lang="en-US" altLang="zh-TW" sz="4400" dirty="0"/>
              <a:t>23</a:t>
            </a:r>
            <a:r>
              <a:rPr lang="zh-TW" altLang="en-US" sz="4400" dirty="0"/>
              <a:t>題，</a:t>
            </a:r>
            <a:endParaRPr lang="en-US" altLang="zh-TW" sz="44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4400" dirty="0"/>
              <a:t>每一題</a:t>
            </a:r>
            <a:r>
              <a:rPr lang="en-US" altLang="zh-TW" sz="4400" dirty="0"/>
              <a:t>2</a:t>
            </a:r>
            <a:r>
              <a:rPr lang="zh-TW" altLang="en-US" sz="4400" dirty="0"/>
              <a:t>分，總共</a:t>
            </a:r>
            <a:r>
              <a:rPr lang="en-US" altLang="zh-TW" sz="4400" dirty="0"/>
              <a:t>100</a:t>
            </a:r>
            <a:r>
              <a:rPr lang="zh-TW" altLang="en-US" sz="4400" dirty="0"/>
              <a:t>分。</a:t>
            </a:r>
            <a:endParaRPr lang="en-US" altLang="zh-TW" sz="44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4400" dirty="0"/>
              <a:t>這種題目應該不會有人不及格了。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kumimoji="0" lang="zh-TW" alt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</p:txBody>
      </p:sp>
      <p:sp>
        <p:nvSpPr>
          <p:cNvPr id="3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D042-EB36-43AE-A367-C993DFC36D55}" type="slidenum">
              <a:rPr lang="en-US" altLang="zh-TW"/>
              <a:pPr/>
              <a:t>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8654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4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8313" y="274638"/>
            <a:ext cx="8675687" cy="1785937"/>
          </a:xfrm>
        </p:spPr>
        <p:txBody>
          <a:bodyPr>
            <a:noAutofit/>
          </a:bodyPr>
          <a:lstStyle/>
          <a:p>
            <a:r>
              <a:rPr lang="zh-TW" altLang="en-US" sz="4000" b="0" dirty="0">
                <a:effectLst/>
                <a:latin typeface="標楷體" pitchFamily="65" charset="-120"/>
                <a:ea typeface="標楷體" pitchFamily="65" charset="-120"/>
              </a:rPr>
              <a:t>變形創意矩陣的延伸方法：</a:t>
            </a:r>
            <a:br>
              <a:rPr lang="zh-TW" altLang="en-US" sz="4000" b="0" dirty="0">
                <a:effectLst/>
                <a:latin typeface="標楷體" pitchFamily="65" charset="-120"/>
                <a:ea typeface="標楷體" pitchFamily="65" charset="-120"/>
              </a:rPr>
            </a:br>
            <a:r>
              <a:rPr lang="zh-TW" altLang="en-US" sz="4000" b="0" dirty="0">
                <a:effectLst/>
                <a:latin typeface="標楷體" pitchFamily="65" charset="-120"/>
                <a:ea typeface="標楷體" pitchFamily="65" charset="-120"/>
              </a:rPr>
              <a:t>創造性問題解決</a:t>
            </a:r>
            <a:r>
              <a:rPr lang="en-US" altLang="zh-TW" sz="4000" b="0" dirty="0">
                <a:effectLst/>
                <a:latin typeface="標楷體" pitchFamily="65" charset="-120"/>
                <a:ea typeface="標楷體" pitchFamily="65" charset="-120"/>
              </a:rPr>
              <a:t>CPS</a:t>
            </a:r>
            <a:br>
              <a:rPr lang="en-US" altLang="zh-TW" sz="4000" b="0" dirty="0">
                <a:effectLst/>
                <a:latin typeface="標楷體" pitchFamily="65" charset="-120"/>
                <a:ea typeface="標楷體" pitchFamily="65" charset="-120"/>
              </a:rPr>
            </a:br>
            <a:r>
              <a:rPr lang="en-US" altLang="zh-TW" sz="4000" b="0" dirty="0">
                <a:effectLst/>
                <a:latin typeface="標楷體" pitchFamily="65" charset="-120"/>
                <a:ea typeface="標楷體" pitchFamily="65" charset="-120"/>
              </a:rPr>
              <a:t>Creative Problem Solving</a:t>
            </a:r>
          </a:p>
        </p:txBody>
      </p:sp>
      <p:sp>
        <p:nvSpPr>
          <p:cNvPr id="1258499" name="Rectangle 3"/>
          <p:cNvSpPr>
            <a:spLocks noGrp="1" noChangeArrowheads="1"/>
          </p:cNvSpPr>
          <p:nvPr>
            <p:ph idx="1"/>
          </p:nvPr>
        </p:nvSpPr>
        <p:spPr>
          <a:xfrm>
            <a:off x="1529980" y="3425205"/>
            <a:ext cx="7488238" cy="3887787"/>
          </a:xfrm>
        </p:spPr>
        <p:txBody>
          <a:bodyPr/>
          <a:lstStyle/>
          <a:p>
            <a:r>
              <a:rPr lang="zh-TW" altLang="en-US" sz="3600" dirty="0">
                <a:effectLst/>
                <a:latin typeface="標楷體" pitchFamily="65" charset="-120"/>
                <a:ea typeface="標楷體" pitchFamily="65" charset="-120"/>
              </a:rPr>
              <a:t>聚歛式思考→曼陀羅</a:t>
            </a:r>
            <a:r>
              <a:rPr lang="en-US" altLang="zh-TW" sz="3600" dirty="0">
                <a:effectLst/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3600" dirty="0">
                <a:effectLst/>
                <a:latin typeface="標楷體" pitchFamily="65" charset="-120"/>
                <a:ea typeface="標楷體" pitchFamily="65" charset="-120"/>
              </a:rPr>
              <a:t>九宮格</a:t>
            </a:r>
            <a:r>
              <a:rPr lang="en-US" altLang="zh-TW" sz="3600" dirty="0">
                <a:effectLst/>
                <a:latin typeface="標楷體" pitchFamily="65" charset="-120"/>
                <a:ea typeface="標楷體" pitchFamily="65" charset="-120"/>
              </a:rPr>
              <a:t>)                           Convergent thinking</a:t>
            </a:r>
          </a:p>
          <a:p>
            <a:r>
              <a:rPr lang="zh-TW" altLang="en-US" sz="3600" dirty="0">
                <a:effectLst/>
                <a:latin typeface="標楷體" pitchFamily="65" charset="-120"/>
                <a:ea typeface="標楷體" pitchFamily="65" charset="-120"/>
              </a:rPr>
              <a:t>發散式思考→心智繪圖法                            </a:t>
            </a:r>
            <a:r>
              <a:rPr lang="en-US" altLang="zh-TW" sz="3600" dirty="0">
                <a:effectLst/>
                <a:latin typeface="標楷體" pitchFamily="65" charset="-120"/>
                <a:ea typeface="標楷體" pitchFamily="65" charset="-120"/>
              </a:rPr>
              <a:t>divergent thinking</a:t>
            </a:r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F020-5394-47E1-86D4-3BAB1A773615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1258501" name="Rectangle 5"/>
          <p:cNvSpPr>
            <a:spLocks noChangeArrowheads="1"/>
          </p:cNvSpPr>
          <p:nvPr/>
        </p:nvSpPr>
        <p:spPr bwMode="auto">
          <a:xfrm>
            <a:off x="439788" y="3154759"/>
            <a:ext cx="935038" cy="32400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58500" name="Text Box 4"/>
          <p:cNvSpPr txBox="1">
            <a:spLocks noChangeArrowheads="1"/>
          </p:cNvSpPr>
          <p:nvPr/>
        </p:nvSpPr>
        <p:spPr bwMode="auto">
          <a:xfrm>
            <a:off x="584251" y="3370659"/>
            <a:ext cx="733425" cy="324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3600" dirty="0"/>
              <a:t>重要、緊急</a:t>
            </a:r>
          </a:p>
        </p:txBody>
      </p:sp>
    </p:spTree>
    <p:extLst>
      <p:ext uri="{BB962C8B-B14F-4D97-AF65-F5344CB8AC3E}">
        <p14:creationId xmlns:p14="http://schemas.microsoft.com/office/powerpoint/2010/main" val="307174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3528" y="532606"/>
            <a:ext cx="8569325" cy="1116013"/>
          </a:xfrm>
        </p:spPr>
        <p:txBody>
          <a:bodyPr>
            <a:normAutofit/>
          </a:bodyPr>
          <a:lstStyle/>
          <a:p>
            <a:r>
              <a:rPr lang="zh-TW" altLang="en-US" dirty="0">
                <a:ea typeface="標楷體" pitchFamily="65" charset="-120"/>
              </a:rPr>
              <a:t>三、曼陀羅</a:t>
            </a:r>
            <a:r>
              <a:rPr lang="en-US" altLang="zh-TW" dirty="0"/>
              <a:t>Memo</a:t>
            </a:r>
            <a:r>
              <a:rPr lang="zh-TW" altLang="en-US" dirty="0">
                <a:ea typeface="標楷體" pitchFamily="65" charset="-120"/>
              </a:rPr>
              <a:t>思考技法的教學</a:t>
            </a:r>
          </a:p>
        </p:txBody>
      </p:sp>
      <p:graphicFrame>
        <p:nvGraphicFramePr>
          <p:cNvPr id="901150" name="Group 30"/>
          <p:cNvGraphicFramePr>
            <a:graphicFrameLocks noGrp="1"/>
          </p:cNvGraphicFramePr>
          <p:nvPr>
            <p:ph type="tbl" idx="1"/>
          </p:nvPr>
        </p:nvGraphicFramePr>
        <p:xfrm>
          <a:off x="4919663" y="3135313"/>
          <a:ext cx="3003550" cy="2582863"/>
        </p:xfrm>
        <a:graphic>
          <a:graphicData uri="http://schemas.openxmlformats.org/drawingml/2006/table">
            <a:tbl>
              <a:tblPr/>
              <a:tblGrid>
                <a:gridCol w="1001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0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2F8DAB-E3FA-492E-AB92-92A1597B61B5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90112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1773238"/>
            <a:ext cx="8459787" cy="14557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TW" altLang="en-US" sz="2900">
                <a:solidFill>
                  <a:srgbClr val="99FF33"/>
                </a:solidFill>
                <a:latin typeface="標楷體" pitchFamily="65" charset="-120"/>
                <a:ea typeface="標楷體" pitchFamily="65" charset="-120"/>
              </a:rPr>
              <a:t>曼陀羅思考目標</a:t>
            </a:r>
          </a:p>
          <a:p>
            <a:pPr>
              <a:buFont typeface="Wingdings" pitchFamily="2" charset="2"/>
              <a:buNone/>
            </a:pPr>
            <a:r>
              <a:rPr lang="en-US" altLang="zh-TW" sz="290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900">
                <a:latin typeface="標楷體" pitchFamily="65" charset="-120"/>
                <a:ea typeface="標楷體" pitchFamily="65" charset="-120"/>
              </a:rPr>
              <a:t>能用曼陀羅</a:t>
            </a:r>
            <a:r>
              <a:rPr lang="en-US" altLang="zh-TW" sz="2900">
                <a:ea typeface="標楷體" pitchFamily="65" charset="-120"/>
              </a:rPr>
              <a:t>Memo</a:t>
            </a:r>
            <a:r>
              <a:rPr lang="zh-TW" altLang="en-US" sz="2900">
                <a:latin typeface="標楷體" pitchFamily="65" charset="-120"/>
                <a:ea typeface="標楷體" pitchFamily="65" charset="-120"/>
              </a:rPr>
              <a:t>思考技法，做放射性思考。</a:t>
            </a:r>
          </a:p>
        </p:txBody>
      </p:sp>
      <p:graphicFrame>
        <p:nvGraphicFramePr>
          <p:cNvPr id="901124" name="Group 4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775030610"/>
              </p:ext>
            </p:extLst>
          </p:nvPr>
        </p:nvGraphicFramePr>
        <p:xfrm>
          <a:off x="905661" y="3165493"/>
          <a:ext cx="2954338" cy="2563813"/>
        </p:xfrm>
        <a:graphic>
          <a:graphicData uri="http://schemas.openxmlformats.org/drawingml/2006/table">
            <a:tbl>
              <a:tblPr/>
              <a:tblGrid>
                <a:gridCol w="9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zh-TW" altLang="zh-TW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1142" name="Line 22"/>
          <p:cNvSpPr>
            <a:spLocks noChangeShapeType="1"/>
          </p:cNvSpPr>
          <p:nvPr/>
        </p:nvSpPr>
        <p:spPr bwMode="auto">
          <a:xfrm>
            <a:off x="2484438" y="3500438"/>
            <a:ext cx="0" cy="649287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 type="triangle" w="lg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43" name="Line 23"/>
          <p:cNvSpPr>
            <a:spLocks noChangeShapeType="1"/>
          </p:cNvSpPr>
          <p:nvPr/>
        </p:nvSpPr>
        <p:spPr bwMode="auto">
          <a:xfrm>
            <a:off x="1619250" y="3644900"/>
            <a:ext cx="649288" cy="503238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 type="triangle" w="lg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44" name="Line 24"/>
          <p:cNvSpPr>
            <a:spLocks noChangeShapeType="1"/>
          </p:cNvSpPr>
          <p:nvPr/>
        </p:nvSpPr>
        <p:spPr bwMode="auto">
          <a:xfrm flipH="1">
            <a:off x="1476375" y="4365625"/>
            <a:ext cx="720725" cy="0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45" name="Line 25"/>
          <p:cNvSpPr>
            <a:spLocks noChangeShapeType="1"/>
          </p:cNvSpPr>
          <p:nvPr/>
        </p:nvSpPr>
        <p:spPr bwMode="auto">
          <a:xfrm flipH="1">
            <a:off x="1547813" y="4652963"/>
            <a:ext cx="576262" cy="431800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46" name="Line 26"/>
          <p:cNvSpPr>
            <a:spLocks noChangeShapeType="1"/>
          </p:cNvSpPr>
          <p:nvPr/>
        </p:nvSpPr>
        <p:spPr bwMode="auto">
          <a:xfrm>
            <a:off x="2484438" y="4652963"/>
            <a:ext cx="0" cy="576262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47" name="Line 27"/>
          <p:cNvSpPr>
            <a:spLocks noChangeShapeType="1"/>
          </p:cNvSpPr>
          <p:nvPr/>
        </p:nvSpPr>
        <p:spPr bwMode="auto">
          <a:xfrm>
            <a:off x="2916238" y="4652963"/>
            <a:ext cx="504825" cy="360362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48" name="Line 28"/>
          <p:cNvSpPr>
            <a:spLocks noChangeShapeType="1"/>
          </p:cNvSpPr>
          <p:nvPr/>
        </p:nvSpPr>
        <p:spPr bwMode="auto">
          <a:xfrm>
            <a:off x="2843213" y="4365625"/>
            <a:ext cx="719137" cy="0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49" name="Line 29"/>
          <p:cNvSpPr>
            <a:spLocks noChangeShapeType="1"/>
          </p:cNvSpPr>
          <p:nvPr/>
        </p:nvSpPr>
        <p:spPr bwMode="auto">
          <a:xfrm flipV="1">
            <a:off x="2771775" y="3573463"/>
            <a:ext cx="647700" cy="504825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68" name="Line 48"/>
          <p:cNvSpPr>
            <a:spLocks noChangeShapeType="1"/>
          </p:cNvSpPr>
          <p:nvPr/>
        </p:nvSpPr>
        <p:spPr bwMode="auto">
          <a:xfrm>
            <a:off x="6300788" y="4581525"/>
            <a:ext cx="0" cy="57467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69" name="Line 49"/>
          <p:cNvSpPr>
            <a:spLocks noChangeShapeType="1"/>
          </p:cNvSpPr>
          <p:nvPr/>
        </p:nvSpPr>
        <p:spPr bwMode="auto">
          <a:xfrm flipH="1">
            <a:off x="5435600" y="5157788"/>
            <a:ext cx="720725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70" name="Line 50"/>
          <p:cNvSpPr>
            <a:spLocks noChangeShapeType="1"/>
          </p:cNvSpPr>
          <p:nvPr/>
        </p:nvSpPr>
        <p:spPr bwMode="auto">
          <a:xfrm flipV="1">
            <a:off x="5364163" y="4508500"/>
            <a:ext cx="0" cy="576263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71" name="Line 51"/>
          <p:cNvSpPr>
            <a:spLocks noChangeShapeType="1"/>
          </p:cNvSpPr>
          <p:nvPr/>
        </p:nvSpPr>
        <p:spPr bwMode="auto">
          <a:xfrm flipV="1">
            <a:off x="5364163" y="3789363"/>
            <a:ext cx="0" cy="50482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72" name="Line 52"/>
          <p:cNvSpPr>
            <a:spLocks noChangeShapeType="1"/>
          </p:cNvSpPr>
          <p:nvPr/>
        </p:nvSpPr>
        <p:spPr bwMode="auto">
          <a:xfrm>
            <a:off x="5364163" y="3500438"/>
            <a:ext cx="8636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73" name="Line 53"/>
          <p:cNvSpPr>
            <a:spLocks noChangeShapeType="1"/>
          </p:cNvSpPr>
          <p:nvPr/>
        </p:nvSpPr>
        <p:spPr bwMode="auto">
          <a:xfrm>
            <a:off x="6443663" y="3500438"/>
            <a:ext cx="720725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74" name="Line 54"/>
          <p:cNvSpPr>
            <a:spLocks noChangeShapeType="1"/>
          </p:cNvSpPr>
          <p:nvPr/>
        </p:nvSpPr>
        <p:spPr bwMode="auto">
          <a:xfrm>
            <a:off x="7164388" y="3716338"/>
            <a:ext cx="0" cy="6477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01175" name="Line 55"/>
          <p:cNvSpPr>
            <a:spLocks noChangeShapeType="1"/>
          </p:cNvSpPr>
          <p:nvPr/>
        </p:nvSpPr>
        <p:spPr bwMode="auto">
          <a:xfrm>
            <a:off x="7164388" y="4581525"/>
            <a:ext cx="0" cy="503238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17314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773238"/>
            <a:ext cx="8362950" cy="432276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1</a:t>
            </a:r>
            <a:r>
              <a:rPr lang="en-US" altLang="zh-TW" sz="2400" dirty="0">
                <a:effectLst/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2400" dirty="0">
                <a:effectLst/>
                <a:latin typeface="標楷體" pitchFamily="65" charset="-120"/>
                <a:ea typeface="標楷體" pitchFamily="65" charset="-120"/>
              </a:rPr>
              <a:t>將主題列在中心，並向外做八項的思考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effectLst/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400" dirty="0">
                <a:effectLst/>
                <a:latin typeface="標楷體" pitchFamily="65" charset="-120"/>
                <a:ea typeface="標楷體" pitchFamily="65" charset="-120"/>
              </a:rPr>
              <a:t>能很快的從雜亂的思緒中，找出各項概念，</a:t>
            </a:r>
          </a:p>
          <a:p>
            <a:pPr>
              <a:buFont typeface="Wingdings" pitchFamily="2" charset="2"/>
              <a:buNone/>
            </a:pPr>
            <a:r>
              <a:rPr lang="zh-TW" altLang="en-US" sz="2400" dirty="0">
                <a:effectLst/>
                <a:latin typeface="標楷體" pitchFamily="65" charset="-120"/>
                <a:ea typeface="標楷體" pitchFamily="65" charset="-120"/>
              </a:rPr>
              <a:t>  作為每一格的標題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effectLst/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400" dirty="0">
                <a:effectLst/>
                <a:latin typeface="標楷體" pitchFamily="65" charset="-120"/>
                <a:ea typeface="標楷體" pitchFamily="65" charset="-120"/>
              </a:rPr>
              <a:t>選用的八項，都是內心最滿意或最想表達的</a:t>
            </a:r>
            <a:endParaRPr lang="en-US" altLang="zh-TW" sz="2400" dirty="0">
              <a:effectLst/>
              <a:latin typeface="標楷體" pitchFamily="65" charset="-120"/>
              <a:ea typeface="標楷體" pitchFamily="65" charset="-120"/>
            </a:endParaRP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4.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再從選出的八項中，找出最適合的方法跟概念。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 </a:t>
            </a:r>
            <a:endParaRPr lang="zh-TW" altLang="en-US" sz="2400" dirty="0">
              <a:effectLst/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BD6-F141-4F22-B157-117C98E52E5E}" type="slidenum">
              <a:rPr lang="en-US" altLang="zh-TW"/>
              <a:pPr/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7429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07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844675"/>
            <a:ext cx="7772400" cy="411480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zh-TW" altLang="en-US" sz="4400" dirty="0">
                <a:ea typeface="標楷體" pitchFamily="65" charset="-120"/>
              </a:rPr>
              <a:t>重要且緊急事件</a:t>
            </a:r>
          </a:p>
          <a:p>
            <a:pPr algn="ctr">
              <a:buFont typeface="Wingdings" pitchFamily="2" charset="2"/>
              <a:buNone/>
            </a:pPr>
            <a:r>
              <a:rPr lang="zh-TW" altLang="en-US" sz="4400" dirty="0">
                <a:ea typeface="標楷體" pitchFamily="65" charset="-120"/>
              </a:rPr>
              <a:t>爺爺的</a:t>
            </a:r>
            <a:r>
              <a:rPr lang="en-US" altLang="zh-TW" sz="4400" dirty="0">
                <a:ea typeface="標楷體" pitchFamily="65" charset="-120"/>
              </a:rPr>
              <a:t>70</a:t>
            </a:r>
            <a:r>
              <a:rPr lang="zh-TW" altLang="en-US" sz="4400" dirty="0">
                <a:ea typeface="標楷體" pitchFamily="65" charset="-120"/>
              </a:rPr>
              <a:t>大壽</a:t>
            </a:r>
          </a:p>
          <a:p>
            <a:pPr algn="ctr">
              <a:buFont typeface="Wingdings" pitchFamily="2" charset="2"/>
              <a:buNone/>
            </a:pPr>
            <a:r>
              <a:rPr lang="en-US" altLang="zh-TW" sz="4000" dirty="0">
                <a:ea typeface="標楷體" pitchFamily="65" charset="-120"/>
              </a:rPr>
              <a:t>(</a:t>
            </a:r>
            <a:r>
              <a:rPr lang="zh-TW" altLang="en-US" sz="4000" dirty="0">
                <a:ea typeface="標楷體" pitchFamily="65" charset="-120"/>
              </a:rPr>
              <a:t>曼陀羅方法應用案例</a:t>
            </a:r>
            <a:r>
              <a:rPr lang="en-US" altLang="zh-TW" sz="4000" dirty="0">
                <a:ea typeface="標楷體" pitchFamily="65" charset="-120"/>
              </a:rPr>
              <a:t>)</a:t>
            </a:r>
          </a:p>
          <a:p>
            <a:pPr>
              <a:buFont typeface="Wingdings" pitchFamily="2" charset="2"/>
              <a:buNone/>
            </a:pPr>
            <a:endParaRPr lang="en-US" altLang="zh-TW" dirty="0"/>
          </a:p>
        </p:txBody>
      </p:sp>
      <p:sp>
        <p:nvSpPr>
          <p:cNvPr id="3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AA7D2-FC50-4210-97DC-D54EF03930A0}" type="slidenum">
              <a:rPr lang="en-US" altLang="zh-TW"/>
              <a:pPr/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02431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0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0">
                <a:latin typeface="標楷體" pitchFamily="65" charset="-120"/>
                <a:ea typeface="標楷體" pitchFamily="65" charset="-120"/>
              </a:rPr>
              <a:t>前言</a:t>
            </a:r>
            <a:br>
              <a:rPr lang="zh-TW" altLang="en-US" b="0">
                <a:latin typeface="標楷體" pitchFamily="65" charset="-120"/>
                <a:ea typeface="標楷體" pitchFamily="65" charset="-120"/>
              </a:rPr>
            </a:br>
            <a:endParaRPr lang="zh-TW" altLang="en-US" b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8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en-US" altLang="zh-TW" sz="3600">
                <a:latin typeface="標楷體" pitchFamily="65" charset="-120"/>
                <a:ea typeface="標楷體" pitchFamily="65" charset="-120"/>
              </a:rPr>
              <a:t>	</a:t>
            </a:r>
            <a:r>
              <a:rPr kumimoji="0" lang="zh-TW" altLang="en-US" sz="3600">
                <a:latin typeface="標楷體" pitchFamily="65" charset="-120"/>
                <a:ea typeface="標楷體" pitchFamily="65" charset="-120"/>
              </a:rPr>
              <a:t>爺爺的七十大壽即將到來，台灣人相當重視大壽的舉辦，因此，我們希望以十分溫馨且特別的生日宴會，祝福開朗又活潑的爺爺「食到老老老 」。</a:t>
            </a:r>
          </a:p>
        </p:txBody>
      </p:sp>
      <p:sp>
        <p:nvSpPr>
          <p:cNvPr id="4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28E0-B426-4CAC-9462-D3A33AE0E2C2}" type="slidenum">
              <a:rPr lang="en-US" altLang="zh-TW"/>
              <a:pPr/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2505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1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0" y="260350"/>
            <a:ext cx="6840538" cy="1112838"/>
          </a:xfrm>
        </p:spPr>
        <p:txBody>
          <a:bodyPr/>
          <a:lstStyle/>
          <a:p>
            <a:pPr algn="l"/>
            <a:r>
              <a:rPr lang="zh-TW" altLang="en-US" b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動機</a:t>
            </a:r>
            <a:r>
              <a:rPr lang="en-US" altLang="zh-TW" b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b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重要且緊急的事件</a:t>
            </a:r>
            <a:r>
              <a:rPr lang="en-US" altLang="zh-TW" b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)</a:t>
            </a:r>
          </a:p>
        </p:txBody>
      </p:sp>
      <p:sp>
        <p:nvSpPr>
          <p:cNvPr id="128614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47800"/>
            <a:ext cx="8137525" cy="4573588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360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	</a:t>
            </a:r>
            <a:r>
              <a:rPr lang="zh-TW" altLang="en-US" sz="3600">
                <a:latin typeface="標楷體" pitchFamily="65" charset="-120"/>
                <a:ea typeface="標楷體" pitchFamily="65" charset="-120"/>
              </a:rPr>
              <a:t>分析的主題：慶祝爺爺七十大壽</a:t>
            </a:r>
            <a:r>
              <a:rPr lang="en-US" altLang="zh-TW" sz="3600">
                <a:latin typeface="標楷體" pitchFamily="65" charset="-120"/>
                <a:ea typeface="標楷體" pitchFamily="65" charset="-120"/>
              </a:rPr>
              <a:t>!!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3600">
                <a:latin typeface="標楷體" pitchFamily="65" charset="-120"/>
                <a:ea typeface="標楷體" pitchFamily="65" charset="-120"/>
              </a:rPr>
              <a:t>	</a:t>
            </a:r>
            <a:r>
              <a:rPr lang="zh-TW" altLang="en-US" sz="3600">
                <a:latin typeface="標楷體" pitchFamily="65" charset="-120"/>
                <a:ea typeface="標楷體" pitchFamily="65" charset="-120"/>
              </a:rPr>
              <a:t>所有子孫為表示對於爺爺的重視，因此，想為爺爺舉辦溫馨且活潑的生日派對。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3600">
                <a:latin typeface="標楷體" pitchFamily="65" charset="-120"/>
                <a:ea typeface="標楷體" pitchFamily="65" charset="-120"/>
              </a:rPr>
              <a:t>	但由於時間上的緊迫加上傳統習俗所需準備、注意的事項太多，因此想藉由曼陀羅法及心智繪圖法來思考生日派對所須準備的事項。</a:t>
            </a:r>
          </a:p>
        </p:txBody>
      </p:sp>
      <p:sp>
        <p:nvSpPr>
          <p:cNvPr id="4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9E48-B127-492F-AB54-62F8EE5DF41A}" type="slidenum">
              <a:rPr lang="en-US" altLang="zh-TW"/>
              <a:pPr/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10002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210" name="Rectangle 18"/>
          <p:cNvSpPr>
            <a:spLocks noGrp="1" noRot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r>
              <a:rPr lang="zh-TW" altLang="en-US" b="0">
                <a:latin typeface="標楷體" pitchFamily="65" charset="-120"/>
                <a:ea typeface="標楷體" pitchFamily="65" charset="-120"/>
              </a:rPr>
              <a:t>（一）曼陀羅法</a:t>
            </a:r>
          </a:p>
        </p:txBody>
      </p:sp>
      <p:sp>
        <p:nvSpPr>
          <p:cNvPr id="28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40CD8-C967-4174-8E58-7375F437F5AC}" type="slidenum">
              <a:rPr lang="en-US" altLang="zh-TW"/>
              <a:pPr/>
              <a:t>36</a:t>
            </a:fld>
            <a:endParaRPr lang="en-US" altLang="zh-TW"/>
          </a:p>
        </p:txBody>
      </p:sp>
      <p:grpSp>
        <p:nvGrpSpPr>
          <p:cNvPr id="1288194" name="Group 2"/>
          <p:cNvGrpSpPr>
            <a:grpSpLocks noChangeAspect="1"/>
          </p:cNvGrpSpPr>
          <p:nvPr/>
        </p:nvGrpSpPr>
        <p:grpSpPr bwMode="auto">
          <a:xfrm>
            <a:off x="1187450" y="817563"/>
            <a:ext cx="7200900" cy="6040437"/>
            <a:chOff x="2954" y="5380"/>
            <a:chExt cx="4852" cy="4160"/>
          </a:xfrm>
        </p:grpSpPr>
        <p:sp>
          <p:nvSpPr>
            <p:cNvPr id="1288195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8196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8197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8198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8199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8200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8201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</a:endParaRPr>
            </a:p>
          </p:txBody>
        </p:sp>
        <p:sp>
          <p:nvSpPr>
            <p:cNvPr id="1288202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</a:endParaRPr>
            </a:p>
          </p:txBody>
        </p:sp>
        <p:sp>
          <p:nvSpPr>
            <p:cNvPr id="1288203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</a:endParaRPr>
            </a:p>
          </p:txBody>
        </p:sp>
        <p:sp>
          <p:nvSpPr>
            <p:cNvPr id="1288204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</a:endParaRPr>
            </a:p>
          </p:txBody>
        </p:sp>
        <p:sp>
          <p:nvSpPr>
            <p:cNvPr id="1288205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</a:endParaRPr>
            </a:p>
          </p:txBody>
        </p:sp>
        <p:sp>
          <p:nvSpPr>
            <p:cNvPr id="1288206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</a:endParaRPr>
            </a:p>
          </p:txBody>
        </p:sp>
        <p:sp>
          <p:nvSpPr>
            <p:cNvPr id="1288207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</a:endParaRPr>
            </a:p>
          </p:txBody>
        </p:sp>
        <p:sp>
          <p:nvSpPr>
            <p:cNvPr id="1288208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</a:endParaRPr>
            </a:p>
          </p:txBody>
        </p:sp>
        <p:sp>
          <p:nvSpPr>
            <p:cNvPr id="1288209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</a:endParaRPr>
            </a:p>
          </p:txBody>
        </p:sp>
      </p:grpSp>
      <p:sp>
        <p:nvSpPr>
          <p:cNvPr id="1288211" name="Text Box 19"/>
          <p:cNvSpPr txBox="1">
            <a:spLocks noChangeArrowheads="1"/>
          </p:cNvSpPr>
          <p:nvPr/>
        </p:nvSpPr>
        <p:spPr bwMode="auto">
          <a:xfrm>
            <a:off x="6011863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時間</a:t>
            </a:r>
          </a:p>
        </p:txBody>
      </p:sp>
      <p:sp>
        <p:nvSpPr>
          <p:cNvPr id="1288212" name="Text Box 20"/>
          <p:cNvSpPr txBox="1">
            <a:spLocks noChangeArrowheads="1"/>
          </p:cNvSpPr>
          <p:nvPr/>
        </p:nvSpPr>
        <p:spPr bwMode="auto">
          <a:xfrm>
            <a:off x="3924300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地點</a:t>
            </a:r>
          </a:p>
        </p:txBody>
      </p:sp>
      <p:sp>
        <p:nvSpPr>
          <p:cNvPr id="1288213" name="Text Box 21"/>
          <p:cNvSpPr txBox="1">
            <a:spLocks noChangeArrowheads="1"/>
          </p:cNvSpPr>
          <p:nvPr/>
        </p:nvSpPr>
        <p:spPr bwMode="auto">
          <a:xfrm>
            <a:off x="1692275" y="2997200"/>
            <a:ext cx="20161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設計</a:t>
            </a:r>
          </a:p>
        </p:txBody>
      </p:sp>
      <p:sp>
        <p:nvSpPr>
          <p:cNvPr id="1288214" name="Text Box 22"/>
          <p:cNvSpPr txBox="1">
            <a:spLocks noChangeArrowheads="1"/>
          </p:cNvSpPr>
          <p:nvPr/>
        </p:nvSpPr>
        <p:spPr bwMode="auto">
          <a:xfrm>
            <a:off x="1908175" y="1700213"/>
            <a:ext cx="17272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節目</a:t>
            </a:r>
          </a:p>
        </p:txBody>
      </p:sp>
      <p:sp>
        <p:nvSpPr>
          <p:cNvPr id="1288215" name="Text Box 23"/>
          <p:cNvSpPr txBox="1">
            <a:spLocks noChangeArrowheads="1"/>
          </p:cNvSpPr>
          <p:nvPr/>
        </p:nvSpPr>
        <p:spPr bwMode="auto">
          <a:xfrm>
            <a:off x="1763713" y="4579938"/>
            <a:ext cx="1944687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餐點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準備</a:t>
            </a:r>
          </a:p>
        </p:txBody>
      </p:sp>
      <p:sp>
        <p:nvSpPr>
          <p:cNvPr id="1288216" name="Text Box 24"/>
          <p:cNvSpPr txBox="1">
            <a:spLocks noChangeArrowheads="1"/>
          </p:cNvSpPr>
          <p:nvPr/>
        </p:nvSpPr>
        <p:spPr bwMode="auto">
          <a:xfrm>
            <a:off x="3851275" y="4868863"/>
            <a:ext cx="18732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禮物</a:t>
            </a:r>
          </a:p>
        </p:txBody>
      </p:sp>
      <p:sp>
        <p:nvSpPr>
          <p:cNvPr id="1288217" name="Text Box 25"/>
          <p:cNvSpPr txBox="1">
            <a:spLocks noChangeArrowheads="1"/>
          </p:cNvSpPr>
          <p:nvPr/>
        </p:nvSpPr>
        <p:spPr bwMode="auto">
          <a:xfrm>
            <a:off x="5867400" y="4579938"/>
            <a:ext cx="1944688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參與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人員</a:t>
            </a:r>
          </a:p>
        </p:txBody>
      </p:sp>
      <p:sp>
        <p:nvSpPr>
          <p:cNvPr id="1288218" name="Text Box 26"/>
          <p:cNvSpPr txBox="1">
            <a:spLocks noChangeArrowheads="1"/>
          </p:cNvSpPr>
          <p:nvPr/>
        </p:nvSpPr>
        <p:spPr bwMode="auto">
          <a:xfrm>
            <a:off x="5867400" y="2997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舉行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方式</a:t>
            </a:r>
          </a:p>
        </p:txBody>
      </p:sp>
      <p:sp>
        <p:nvSpPr>
          <p:cNvPr id="1288219" name="Text Box 27"/>
          <p:cNvSpPr txBox="1">
            <a:spLocks noChangeArrowheads="1"/>
          </p:cNvSpPr>
          <p:nvPr/>
        </p:nvSpPr>
        <p:spPr bwMode="auto">
          <a:xfrm>
            <a:off x="3708400" y="3141663"/>
            <a:ext cx="223361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3200">
                <a:latin typeface="標楷體" pitchFamily="65" charset="-120"/>
              </a:rPr>
              <a:t>生日</a:t>
            </a:r>
            <a:r>
              <a:rPr lang="en-US" altLang="zh-TW" sz="3200">
                <a:latin typeface="標楷體" pitchFamily="65" charset="-120"/>
              </a:rPr>
              <a:t>party</a:t>
            </a:r>
            <a:r>
              <a:rPr lang="zh-TW" altLang="en-US" sz="3200">
                <a:latin typeface="標楷體" pitchFamily="65" charset="-120"/>
              </a:rPr>
              <a:t>舉行</a:t>
            </a:r>
          </a:p>
        </p:txBody>
      </p:sp>
    </p:spTree>
    <p:extLst>
      <p:ext uri="{BB962C8B-B14F-4D97-AF65-F5344CB8AC3E}">
        <p14:creationId xmlns:p14="http://schemas.microsoft.com/office/powerpoint/2010/main" val="3064860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50776-5453-4510-B673-E909D3C66143}" type="slidenum">
              <a:rPr lang="en-US" altLang="zh-TW"/>
              <a:pPr/>
              <a:t>37</a:t>
            </a:fld>
            <a:endParaRPr lang="en-US" altLang="zh-TW"/>
          </a:p>
        </p:txBody>
      </p:sp>
      <p:grpSp>
        <p:nvGrpSpPr>
          <p:cNvPr id="1289218" name="Group 2"/>
          <p:cNvGrpSpPr>
            <a:grpSpLocks/>
          </p:cNvGrpSpPr>
          <p:nvPr/>
        </p:nvGrpSpPr>
        <p:grpSpPr bwMode="auto">
          <a:xfrm>
            <a:off x="1187450" y="817563"/>
            <a:ext cx="7200900" cy="6040437"/>
            <a:chOff x="748" y="515"/>
            <a:chExt cx="4536" cy="3805"/>
          </a:xfrm>
        </p:grpSpPr>
        <p:sp>
          <p:nvSpPr>
            <p:cNvPr id="1289219" name="AutoShape 3"/>
            <p:cNvSpPr>
              <a:spLocks noChangeAspect="1" noChangeArrowheads="1"/>
            </p:cNvSpPr>
            <p:nvPr/>
          </p:nvSpPr>
          <p:spPr bwMode="auto">
            <a:xfrm>
              <a:off x="748" y="515"/>
              <a:ext cx="4536" cy="38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sz="2400">
                <a:latin typeface="標楷體" pitchFamily="65" charset="-120"/>
              </a:endParaRPr>
            </a:p>
          </p:txBody>
        </p:sp>
        <p:sp>
          <p:nvSpPr>
            <p:cNvPr id="1289220" name="Rectangle 4"/>
            <p:cNvSpPr>
              <a:spLocks noChangeArrowheads="1"/>
            </p:cNvSpPr>
            <p:nvPr/>
          </p:nvSpPr>
          <p:spPr bwMode="auto">
            <a:xfrm>
              <a:off x="1041" y="808"/>
              <a:ext cx="3950" cy="307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9221" name="Line 5"/>
            <p:cNvSpPr>
              <a:spLocks noChangeShapeType="1"/>
            </p:cNvSpPr>
            <p:nvPr/>
          </p:nvSpPr>
          <p:spPr bwMode="auto">
            <a:xfrm>
              <a:off x="1041" y="1832"/>
              <a:ext cx="39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9222" name="Line 6"/>
            <p:cNvSpPr>
              <a:spLocks noChangeShapeType="1"/>
            </p:cNvSpPr>
            <p:nvPr/>
          </p:nvSpPr>
          <p:spPr bwMode="auto">
            <a:xfrm>
              <a:off x="1041" y="2857"/>
              <a:ext cx="394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9223" name="Line 7"/>
            <p:cNvSpPr>
              <a:spLocks noChangeShapeType="1"/>
            </p:cNvSpPr>
            <p:nvPr/>
          </p:nvSpPr>
          <p:spPr bwMode="auto">
            <a:xfrm>
              <a:off x="2357" y="808"/>
              <a:ext cx="0" cy="30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9224" name="Line 8"/>
            <p:cNvSpPr>
              <a:spLocks noChangeShapeType="1"/>
            </p:cNvSpPr>
            <p:nvPr/>
          </p:nvSpPr>
          <p:spPr bwMode="auto">
            <a:xfrm>
              <a:off x="3674" y="808"/>
              <a:ext cx="1" cy="30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89225" name="Text Box 9"/>
            <p:cNvSpPr txBox="1">
              <a:spLocks noChangeArrowheads="1"/>
            </p:cNvSpPr>
            <p:nvPr/>
          </p:nvSpPr>
          <p:spPr bwMode="auto">
            <a:xfrm>
              <a:off x="1186" y="1100"/>
              <a:ext cx="1025" cy="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89226" name="Text Box 10"/>
            <p:cNvSpPr txBox="1">
              <a:spLocks noChangeArrowheads="1"/>
            </p:cNvSpPr>
            <p:nvPr/>
          </p:nvSpPr>
          <p:spPr bwMode="auto">
            <a:xfrm>
              <a:off x="2504" y="1100"/>
              <a:ext cx="1023" cy="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89227" name="Text Box 11"/>
            <p:cNvSpPr txBox="1">
              <a:spLocks noChangeArrowheads="1"/>
            </p:cNvSpPr>
            <p:nvPr/>
          </p:nvSpPr>
          <p:spPr bwMode="auto">
            <a:xfrm>
              <a:off x="3820" y="1100"/>
              <a:ext cx="1025" cy="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89228" name="Text Box 12"/>
            <p:cNvSpPr txBox="1">
              <a:spLocks noChangeArrowheads="1"/>
            </p:cNvSpPr>
            <p:nvPr/>
          </p:nvSpPr>
          <p:spPr bwMode="auto">
            <a:xfrm>
              <a:off x="3820" y="2125"/>
              <a:ext cx="1026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89229" name="Text Box 13"/>
            <p:cNvSpPr txBox="1">
              <a:spLocks noChangeArrowheads="1"/>
            </p:cNvSpPr>
            <p:nvPr/>
          </p:nvSpPr>
          <p:spPr bwMode="auto">
            <a:xfrm>
              <a:off x="3820" y="3003"/>
              <a:ext cx="1026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89230" name="Text Box 14"/>
            <p:cNvSpPr txBox="1">
              <a:spLocks noChangeArrowheads="1"/>
            </p:cNvSpPr>
            <p:nvPr/>
          </p:nvSpPr>
          <p:spPr bwMode="auto">
            <a:xfrm>
              <a:off x="2504" y="3003"/>
              <a:ext cx="1026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89231" name="Text Box 15"/>
            <p:cNvSpPr txBox="1">
              <a:spLocks noChangeArrowheads="1"/>
            </p:cNvSpPr>
            <p:nvPr/>
          </p:nvSpPr>
          <p:spPr bwMode="auto">
            <a:xfrm>
              <a:off x="1186" y="3003"/>
              <a:ext cx="1027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89232" name="Text Box 16"/>
            <p:cNvSpPr txBox="1">
              <a:spLocks noChangeArrowheads="1"/>
            </p:cNvSpPr>
            <p:nvPr/>
          </p:nvSpPr>
          <p:spPr bwMode="auto">
            <a:xfrm>
              <a:off x="1186" y="2125"/>
              <a:ext cx="1027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89233" name="Text Box 17"/>
            <p:cNvSpPr txBox="1">
              <a:spLocks noChangeArrowheads="1"/>
            </p:cNvSpPr>
            <p:nvPr/>
          </p:nvSpPr>
          <p:spPr bwMode="auto">
            <a:xfrm>
              <a:off x="2504" y="2125"/>
              <a:ext cx="1026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</p:grpSp>
      <p:sp>
        <p:nvSpPr>
          <p:cNvPr id="1289234" name="Text Box 18"/>
          <p:cNvSpPr txBox="1">
            <a:spLocks noChangeArrowheads="1"/>
          </p:cNvSpPr>
          <p:nvPr/>
        </p:nvSpPr>
        <p:spPr bwMode="auto">
          <a:xfrm>
            <a:off x="6011863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時間</a:t>
            </a:r>
          </a:p>
        </p:txBody>
      </p:sp>
      <p:sp>
        <p:nvSpPr>
          <p:cNvPr id="1289235" name="Text Box 19"/>
          <p:cNvSpPr txBox="1">
            <a:spLocks noChangeArrowheads="1"/>
          </p:cNvSpPr>
          <p:nvPr/>
        </p:nvSpPr>
        <p:spPr bwMode="auto">
          <a:xfrm>
            <a:off x="3924300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地點</a:t>
            </a:r>
          </a:p>
        </p:txBody>
      </p:sp>
      <p:sp>
        <p:nvSpPr>
          <p:cNvPr id="1289236" name="Text Box 20"/>
          <p:cNvSpPr txBox="1">
            <a:spLocks noChangeArrowheads="1"/>
          </p:cNvSpPr>
          <p:nvPr/>
        </p:nvSpPr>
        <p:spPr bwMode="auto">
          <a:xfrm>
            <a:off x="1692275" y="2997200"/>
            <a:ext cx="20161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設計</a:t>
            </a:r>
          </a:p>
        </p:txBody>
      </p:sp>
      <p:sp>
        <p:nvSpPr>
          <p:cNvPr id="1289237" name="Text Box 21"/>
          <p:cNvSpPr txBox="1">
            <a:spLocks noChangeArrowheads="1"/>
          </p:cNvSpPr>
          <p:nvPr/>
        </p:nvSpPr>
        <p:spPr bwMode="auto">
          <a:xfrm>
            <a:off x="1908175" y="1700213"/>
            <a:ext cx="17272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節目</a:t>
            </a:r>
          </a:p>
        </p:txBody>
      </p:sp>
      <p:sp>
        <p:nvSpPr>
          <p:cNvPr id="1289238" name="Text Box 22"/>
          <p:cNvSpPr txBox="1">
            <a:spLocks noChangeArrowheads="1"/>
          </p:cNvSpPr>
          <p:nvPr/>
        </p:nvSpPr>
        <p:spPr bwMode="auto">
          <a:xfrm>
            <a:off x="1763713" y="4579938"/>
            <a:ext cx="1944687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餐點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準備</a:t>
            </a:r>
          </a:p>
        </p:txBody>
      </p:sp>
      <p:sp>
        <p:nvSpPr>
          <p:cNvPr id="1289239" name="Text Box 23"/>
          <p:cNvSpPr txBox="1">
            <a:spLocks noChangeArrowheads="1"/>
          </p:cNvSpPr>
          <p:nvPr/>
        </p:nvSpPr>
        <p:spPr bwMode="auto">
          <a:xfrm>
            <a:off x="3851275" y="4868863"/>
            <a:ext cx="18732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禮物</a:t>
            </a:r>
          </a:p>
        </p:txBody>
      </p:sp>
      <p:sp>
        <p:nvSpPr>
          <p:cNvPr id="1289240" name="Text Box 24"/>
          <p:cNvSpPr txBox="1">
            <a:spLocks noChangeArrowheads="1"/>
          </p:cNvSpPr>
          <p:nvPr/>
        </p:nvSpPr>
        <p:spPr bwMode="auto">
          <a:xfrm>
            <a:off x="5867400" y="4579938"/>
            <a:ext cx="1944688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參與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人員</a:t>
            </a:r>
          </a:p>
        </p:txBody>
      </p:sp>
      <p:sp>
        <p:nvSpPr>
          <p:cNvPr id="1289241" name="Text Box 25"/>
          <p:cNvSpPr txBox="1">
            <a:spLocks noChangeArrowheads="1"/>
          </p:cNvSpPr>
          <p:nvPr/>
        </p:nvSpPr>
        <p:spPr bwMode="auto">
          <a:xfrm>
            <a:off x="5867400" y="2997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舉行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方式</a:t>
            </a:r>
          </a:p>
        </p:txBody>
      </p:sp>
      <p:sp>
        <p:nvSpPr>
          <p:cNvPr id="1289242" name="Text Box 26"/>
          <p:cNvSpPr txBox="1">
            <a:spLocks noChangeArrowheads="1"/>
          </p:cNvSpPr>
          <p:nvPr/>
        </p:nvSpPr>
        <p:spPr bwMode="auto">
          <a:xfrm>
            <a:off x="3708400" y="3141663"/>
            <a:ext cx="223361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3200">
                <a:latin typeface="標楷體" pitchFamily="65" charset="-120"/>
              </a:rPr>
              <a:t>生日</a:t>
            </a:r>
            <a:r>
              <a:rPr lang="en-US" altLang="zh-TW" sz="3200">
                <a:latin typeface="標楷體" pitchFamily="65" charset="-120"/>
              </a:rPr>
              <a:t>party</a:t>
            </a:r>
            <a:r>
              <a:rPr lang="zh-TW" altLang="en-US" sz="3200">
                <a:latin typeface="標楷體" pitchFamily="65" charset="-120"/>
              </a:rPr>
              <a:t>舉行</a:t>
            </a:r>
          </a:p>
        </p:txBody>
      </p:sp>
      <p:sp>
        <p:nvSpPr>
          <p:cNvPr id="1289243" name="Oval 27"/>
          <p:cNvSpPr>
            <a:spLocks noChangeArrowheads="1"/>
          </p:cNvSpPr>
          <p:nvPr/>
        </p:nvSpPr>
        <p:spPr bwMode="auto">
          <a:xfrm>
            <a:off x="5724525" y="1700213"/>
            <a:ext cx="2592388" cy="100806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89244" name="Text Box 28"/>
          <p:cNvSpPr txBox="1">
            <a:spLocks noChangeArrowheads="1"/>
          </p:cNvSpPr>
          <p:nvPr/>
        </p:nvSpPr>
        <p:spPr bwMode="auto">
          <a:xfrm>
            <a:off x="684213" y="333375"/>
            <a:ext cx="50403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4400" b="1">
                <a:latin typeface="Arial" charset="0"/>
              </a:rPr>
              <a:t>由時間進行分析</a:t>
            </a:r>
          </a:p>
        </p:txBody>
      </p:sp>
    </p:spTree>
    <p:extLst>
      <p:ext uri="{BB962C8B-B14F-4D97-AF65-F5344CB8AC3E}">
        <p14:creationId xmlns:p14="http://schemas.microsoft.com/office/powerpoint/2010/main" val="1088496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A28ED-2629-426E-83E2-3E72DD9444E6}" type="slidenum">
              <a:rPr lang="en-US" altLang="zh-TW"/>
              <a:pPr/>
              <a:t>38</a:t>
            </a:fld>
            <a:endParaRPr lang="en-US" altLang="zh-TW"/>
          </a:p>
        </p:txBody>
      </p:sp>
      <p:grpSp>
        <p:nvGrpSpPr>
          <p:cNvPr id="1290242" name="Group 2"/>
          <p:cNvGrpSpPr>
            <a:grpSpLocks noChangeAspect="1"/>
          </p:cNvGrpSpPr>
          <p:nvPr/>
        </p:nvGrpSpPr>
        <p:grpSpPr bwMode="auto">
          <a:xfrm>
            <a:off x="1187450" y="0"/>
            <a:ext cx="7200900" cy="6040438"/>
            <a:chOff x="2954" y="5380"/>
            <a:chExt cx="4852" cy="4160"/>
          </a:xfrm>
        </p:grpSpPr>
        <p:sp>
          <p:nvSpPr>
            <p:cNvPr id="1290243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0244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0245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0246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0247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0248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0249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0250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0251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0252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0253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0254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0255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0256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0257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290258" name="Text Box 18"/>
          <p:cNvSpPr txBox="1">
            <a:spLocks noChangeArrowheads="1"/>
          </p:cNvSpPr>
          <p:nvPr/>
        </p:nvSpPr>
        <p:spPr bwMode="auto">
          <a:xfrm>
            <a:off x="3779838" y="2420938"/>
            <a:ext cx="18732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時間</a:t>
            </a:r>
          </a:p>
        </p:txBody>
      </p:sp>
      <p:sp>
        <p:nvSpPr>
          <p:cNvPr id="1290259" name="Text Box 19"/>
          <p:cNvSpPr txBox="1">
            <a:spLocks noChangeArrowheads="1"/>
          </p:cNvSpPr>
          <p:nvPr/>
        </p:nvSpPr>
        <p:spPr bwMode="auto">
          <a:xfrm>
            <a:off x="3563938" y="620713"/>
            <a:ext cx="23749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TW" altLang="en-US" sz="3200">
                <a:latin typeface="標楷體" pitchFamily="65" charset="-120"/>
              </a:rPr>
              <a:t>星期六</a:t>
            </a:r>
          </a:p>
          <a:p>
            <a:pPr algn="ctr"/>
            <a:r>
              <a:rPr lang="en-US" altLang="zh-TW" sz="3200">
                <a:latin typeface="標楷體" pitchFamily="65" charset="-120"/>
              </a:rPr>
              <a:t>(</a:t>
            </a:r>
            <a:r>
              <a:rPr lang="zh-TW" altLang="en-US" sz="3200">
                <a:latin typeface="標楷體" pitchFamily="65" charset="-120"/>
              </a:rPr>
              <a:t>時間較長</a:t>
            </a:r>
            <a:r>
              <a:rPr lang="en-US" altLang="zh-TW" sz="3200">
                <a:latin typeface="標楷體" pitchFamily="65" charset="-120"/>
              </a:rPr>
              <a:t>)</a:t>
            </a:r>
          </a:p>
        </p:txBody>
      </p:sp>
      <p:sp>
        <p:nvSpPr>
          <p:cNvPr id="1290260" name="Text Box 20"/>
          <p:cNvSpPr txBox="1">
            <a:spLocks noChangeArrowheads="1"/>
          </p:cNvSpPr>
          <p:nvPr/>
        </p:nvSpPr>
        <p:spPr bwMode="auto">
          <a:xfrm>
            <a:off x="1763713" y="692150"/>
            <a:ext cx="18732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TW" altLang="en-US" sz="3200">
                <a:latin typeface="標楷體" pitchFamily="65" charset="-120"/>
              </a:rPr>
              <a:t>星期日</a:t>
            </a:r>
          </a:p>
          <a:p>
            <a:pPr algn="ctr"/>
            <a:r>
              <a:rPr lang="zh-TW" altLang="en-US" sz="3200">
                <a:latin typeface="標楷體" pitchFamily="65" charset="-120"/>
              </a:rPr>
              <a:t>中午</a:t>
            </a:r>
            <a:endParaRPr lang="zh-TW" altLang="en-US">
              <a:latin typeface="標楷體" pitchFamily="65" charset="-120"/>
            </a:endParaRPr>
          </a:p>
        </p:txBody>
      </p:sp>
      <p:sp>
        <p:nvSpPr>
          <p:cNvPr id="1290261" name="Text Box 21"/>
          <p:cNvSpPr txBox="1">
            <a:spLocks noChangeArrowheads="1"/>
          </p:cNvSpPr>
          <p:nvPr/>
        </p:nvSpPr>
        <p:spPr bwMode="auto">
          <a:xfrm>
            <a:off x="1690688" y="3789363"/>
            <a:ext cx="18732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TW" altLang="en-US" sz="3200">
                <a:latin typeface="標楷體" pitchFamily="65" charset="-120"/>
              </a:rPr>
              <a:t>星期日</a:t>
            </a:r>
          </a:p>
          <a:p>
            <a:pPr algn="ctr"/>
            <a:r>
              <a:rPr lang="zh-TW" altLang="en-US" sz="3200">
                <a:latin typeface="標楷體" pitchFamily="65" charset="-120"/>
              </a:rPr>
              <a:t>晚上</a:t>
            </a:r>
            <a:endParaRPr lang="zh-TW" altLang="en-US">
              <a:latin typeface="標楷體" pitchFamily="65" charset="-120"/>
            </a:endParaRPr>
          </a:p>
        </p:txBody>
      </p:sp>
      <p:sp>
        <p:nvSpPr>
          <p:cNvPr id="1290262" name="Text Box 22"/>
          <p:cNvSpPr txBox="1">
            <a:spLocks noChangeArrowheads="1"/>
          </p:cNvSpPr>
          <p:nvPr/>
        </p:nvSpPr>
        <p:spPr bwMode="auto">
          <a:xfrm>
            <a:off x="5722938" y="620713"/>
            <a:ext cx="22336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TW" altLang="en-US" sz="3200">
                <a:latin typeface="標楷體" pitchFamily="65" charset="-120"/>
              </a:rPr>
              <a:t>星期六</a:t>
            </a:r>
          </a:p>
          <a:p>
            <a:pPr algn="ctr"/>
            <a:r>
              <a:rPr lang="zh-TW" altLang="en-US" sz="3200">
                <a:latin typeface="標楷體" pitchFamily="65" charset="-120"/>
              </a:rPr>
              <a:t>中午</a:t>
            </a:r>
          </a:p>
        </p:txBody>
      </p:sp>
      <p:sp>
        <p:nvSpPr>
          <p:cNvPr id="1290263" name="Text Box 23"/>
          <p:cNvSpPr txBox="1">
            <a:spLocks noChangeArrowheads="1"/>
          </p:cNvSpPr>
          <p:nvPr/>
        </p:nvSpPr>
        <p:spPr bwMode="auto">
          <a:xfrm>
            <a:off x="1690688" y="2276475"/>
            <a:ext cx="18732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TW" altLang="en-US" sz="3200">
                <a:latin typeface="標楷體" pitchFamily="65" charset="-120"/>
              </a:rPr>
              <a:t>星期日</a:t>
            </a:r>
          </a:p>
          <a:p>
            <a:pPr algn="ctr"/>
            <a:r>
              <a:rPr lang="zh-TW" altLang="en-US" sz="3200">
                <a:latin typeface="標楷體" pitchFamily="65" charset="-120"/>
              </a:rPr>
              <a:t>下午</a:t>
            </a:r>
            <a:endParaRPr lang="zh-TW" altLang="en-US">
              <a:latin typeface="標楷體" pitchFamily="65" charset="-120"/>
            </a:endParaRPr>
          </a:p>
        </p:txBody>
      </p:sp>
      <p:sp>
        <p:nvSpPr>
          <p:cNvPr id="1290264" name="Text Box 24"/>
          <p:cNvSpPr txBox="1">
            <a:spLocks noChangeArrowheads="1"/>
          </p:cNvSpPr>
          <p:nvPr/>
        </p:nvSpPr>
        <p:spPr bwMode="auto">
          <a:xfrm>
            <a:off x="3563938" y="3789363"/>
            <a:ext cx="23749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TW" altLang="en-US" sz="3200">
                <a:latin typeface="標楷體" pitchFamily="65" charset="-120"/>
              </a:rPr>
              <a:t>星期日</a:t>
            </a:r>
          </a:p>
          <a:p>
            <a:pPr algn="ctr"/>
            <a:r>
              <a:rPr lang="en-US" altLang="zh-TW" sz="3200">
                <a:latin typeface="標楷體" pitchFamily="65" charset="-120"/>
              </a:rPr>
              <a:t>(</a:t>
            </a:r>
            <a:r>
              <a:rPr lang="zh-TW" altLang="en-US" sz="3200">
                <a:latin typeface="標楷體" pitchFamily="65" charset="-120"/>
              </a:rPr>
              <a:t>時間較長</a:t>
            </a:r>
            <a:r>
              <a:rPr lang="en-US" altLang="zh-TW" sz="3200">
                <a:latin typeface="標楷體" pitchFamily="65" charset="-120"/>
              </a:rPr>
              <a:t>)</a:t>
            </a:r>
          </a:p>
        </p:txBody>
      </p:sp>
      <p:sp>
        <p:nvSpPr>
          <p:cNvPr id="1290265" name="Text Box 25"/>
          <p:cNvSpPr txBox="1">
            <a:spLocks noChangeArrowheads="1"/>
          </p:cNvSpPr>
          <p:nvPr/>
        </p:nvSpPr>
        <p:spPr bwMode="auto">
          <a:xfrm>
            <a:off x="5940425" y="2276475"/>
            <a:ext cx="18732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TW" altLang="en-US" sz="3200">
                <a:latin typeface="標楷體" pitchFamily="65" charset="-120"/>
              </a:rPr>
              <a:t>星期六</a:t>
            </a:r>
          </a:p>
          <a:p>
            <a:pPr algn="ctr"/>
            <a:r>
              <a:rPr lang="zh-TW" altLang="en-US" sz="3200">
                <a:latin typeface="標楷體" pitchFamily="65" charset="-120"/>
              </a:rPr>
              <a:t>下午</a:t>
            </a:r>
            <a:endParaRPr lang="zh-TW" altLang="en-US">
              <a:latin typeface="標楷體" pitchFamily="65" charset="-120"/>
            </a:endParaRPr>
          </a:p>
        </p:txBody>
      </p:sp>
      <p:sp>
        <p:nvSpPr>
          <p:cNvPr id="1290266" name="Text Box 26"/>
          <p:cNvSpPr txBox="1">
            <a:spLocks noChangeArrowheads="1"/>
          </p:cNvSpPr>
          <p:nvPr/>
        </p:nvSpPr>
        <p:spPr bwMode="auto">
          <a:xfrm>
            <a:off x="5867400" y="3789363"/>
            <a:ext cx="18732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TW" altLang="en-US" sz="3200">
                <a:latin typeface="標楷體" pitchFamily="65" charset="-120"/>
              </a:rPr>
              <a:t>星期六</a:t>
            </a:r>
          </a:p>
          <a:p>
            <a:pPr algn="ctr"/>
            <a:r>
              <a:rPr lang="zh-TW" altLang="en-US" sz="3200">
                <a:latin typeface="標楷體" pitchFamily="65" charset="-120"/>
              </a:rPr>
              <a:t>晚上</a:t>
            </a:r>
            <a:endParaRPr lang="zh-TW" altLang="en-US">
              <a:latin typeface="標楷體" pitchFamily="65" charset="-120"/>
            </a:endParaRPr>
          </a:p>
        </p:txBody>
      </p:sp>
      <p:sp>
        <p:nvSpPr>
          <p:cNvPr id="1290267" name="Oval 27"/>
          <p:cNvSpPr>
            <a:spLocks noChangeArrowheads="1"/>
          </p:cNvSpPr>
          <p:nvPr/>
        </p:nvSpPr>
        <p:spPr bwMode="auto">
          <a:xfrm>
            <a:off x="3419475" y="620713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0268" name="Text Box 28"/>
          <p:cNvSpPr txBox="1">
            <a:spLocks noChangeArrowheads="1"/>
          </p:cNvSpPr>
          <p:nvPr/>
        </p:nvSpPr>
        <p:spPr bwMode="auto">
          <a:xfrm>
            <a:off x="827088" y="5589588"/>
            <a:ext cx="7777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2800">
                <a:latin typeface="Arial" charset="0"/>
              </a:rPr>
              <a:t>選擇原因：據說台灣人壽宴通常不在晚上舉辦。</a:t>
            </a:r>
          </a:p>
        </p:txBody>
      </p:sp>
    </p:spTree>
    <p:extLst>
      <p:ext uri="{BB962C8B-B14F-4D97-AF65-F5344CB8AC3E}">
        <p14:creationId xmlns:p14="http://schemas.microsoft.com/office/powerpoint/2010/main" val="596948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734F6-8258-4A5A-8704-45A316C17A8C}" type="slidenum">
              <a:rPr lang="en-US" altLang="zh-TW"/>
              <a:pPr/>
              <a:t>39</a:t>
            </a:fld>
            <a:endParaRPr lang="en-US" altLang="zh-TW"/>
          </a:p>
        </p:txBody>
      </p:sp>
      <p:grpSp>
        <p:nvGrpSpPr>
          <p:cNvPr id="1291266" name="Group 2"/>
          <p:cNvGrpSpPr>
            <a:grpSpLocks noChangeAspect="1"/>
          </p:cNvGrpSpPr>
          <p:nvPr/>
        </p:nvGrpSpPr>
        <p:grpSpPr bwMode="auto">
          <a:xfrm>
            <a:off x="1187450" y="844550"/>
            <a:ext cx="7200900" cy="6040438"/>
            <a:chOff x="2954" y="5380"/>
            <a:chExt cx="4852" cy="4160"/>
          </a:xfrm>
        </p:grpSpPr>
        <p:sp>
          <p:nvSpPr>
            <p:cNvPr id="1291267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1268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1269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1270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1271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1272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1273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1274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1275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1276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1277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1278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1279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1280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1281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291282" name="Text Box 18"/>
          <p:cNvSpPr txBox="1">
            <a:spLocks noChangeArrowheads="1"/>
          </p:cNvSpPr>
          <p:nvPr/>
        </p:nvSpPr>
        <p:spPr bwMode="auto">
          <a:xfrm>
            <a:off x="6011863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時間</a:t>
            </a:r>
          </a:p>
        </p:txBody>
      </p:sp>
      <p:sp>
        <p:nvSpPr>
          <p:cNvPr id="1291283" name="Text Box 19"/>
          <p:cNvSpPr txBox="1">
            <a:spLocks noChangeArrowheads="1"/>
          </p:cNvSpPr>
          <p:nvPr/>
        </p:nvSpPr>
        <p:spPr bwMode="auto">
          <a:xfrm>
            <a:off x="3924300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地點</a:t>
            </a:r>
          </a:p>
        </p:txBody>
      </p:sp>
      <p:sp>
        <p:nvSpPr>
          <p:cNvPr id="1291284" name="Text Box 20"/>
          <p:cNvSpPr txBox="1">
            <a:spLocks noChangeArrowheads="1"/>
          </p:cNvSpPr>
          <p:nvPr/>
        </p:nvSpPr>
        <p:spPr bwMode="auto">
          <a:xfrm>
            <a:off x="1692275" y="2997200"/>
            <a:ext cx="20161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設計</a:t>
            </a:r>
          </a:p>
        </p:txBody>
      </p:sp>
      <p:sp>
        <p:nvSpPr>
          <p:cNvPr id="1291285" name="Text Box 21"/>
          <p:cNvSpPr txBox="1">
            <a:spLocks noChangeArrowheads="1"/>
          </p:cNvSpPr>
          <p:nvPr/>
        </p:nvSpPr>
        <p:spPr bwMode="auto">
          <a:xfrm>
            <a:off x="1908175" y="1700213"/>
            <a:ext cx="17272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節目</a:t>
            </a:r>
          </a:p>
        </p:txBody>
      </p:sp>
      <p:sp>
        <p:nvSpPr>
          <p:cNvPr id="1291286" name="Text Box 22"/>
          <p:cNvSpPr txBox="1">
            <a:spLocks noChangeArrowheads="1"/>
          </p:cNvSpPr>
          <p:nvPr/>
        </p:nvSpPr>
        <p:spPr bwMode="auto">
          <a:xfrm>
            <a:off x="1763713" y="4579938"/>
            <a:ext cx="1944687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餐點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準備</a:t>
            </a:r>
          </a:p>
        </p:txBody>
      </p:sp>
      <p:sp>
        <p:nvSpPr>
          <p:cNvPr id="1291287" name="Text Box 23"/>
          <p:cNvSpPr txBox="1">
            <a:spLocks noChangeArrowheads="1"/>
          </p:cNvSpPr>
          <p:nvPr/>
        </p:nvSpPr>
        <p:spPr bwMode="auto">
          <a:xfrm>
            <a:off x="3851275" y="4868863"/>
            <a:ext cx="18732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禮物</a:t>
            </a:r>
          </a:p>
        </p:txBody>
      </p:sp>
      <p:sp>
        <p:nvSpPr>
          <p:cNvPr id="1291288" name="Text Box 24"/>
          <p:cNvSpPr txBox="1">
            <a:spLocks noChangeArrowheads="1"/>
          </p:cNvSpPr>
          <p:nvPr/>
        </p:nvSpPr>
        <p:spPr bwMode="auto">
          <a:xfrm>
            <a:off x="5867400" y="4579938"/>
            <a:ext cx="1944688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參與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人員</a:t>
            </a:r>
          </a:p>
        </p:txBody>
      </p:sp>
      <p:sp>
        <p:nvSpPr>
          <p:cNvPr id="1291289" name="Text Box 25"/>
          <p:cNvSpPr txBox="1">
            <a:spLocks noChangeArrowheads="1"/>
          </p:cNvSpPr>
          <p:nvPr/>
        </p:nvSpPr>
        <p:spPr bwMode="auto">
          <a:xfrm>
            <a:off x="5867400" y="2997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舉行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方式</a:t>
            </a:r>
          </a:p>
        </p:txBody>
      </p:sp>
      <p:sp>
        <p:nvSpPr>
          <p:cNvPr id="1291290" name="Text Box 26"/>
          <p:cNvSpPr txBox="1">
            <a:spLocks noChangeArrowheads="1"/>
          </p:cNvSpPr>
          <p:nvPr/>
        </p:nvSpPr>
        <p:spPr bwMode="auto">
          <a:xfrm>
            <a:off x="3708400" y="3141663"/>
            <a:ext cx="223361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3200">
                <a:latin typeface="標楷體" pitchFamily="65" charset="-120"/>
              </a:rPr>
              <a:t>生日</a:t>
            </a:r>
            <a:r>
              <a:rPr lang="en-US" altLang="zh-TW" sz="3200">
                <a:latin typeface="標楷體" pitchFamily="65" charset="-120"/>
              </a:rPr>
              <a:t>party</a:t>
            </a:r>
            <a:r>
              <a:rPr lang="zh-TW" altLang="en-US" sz="3200">
                <a:latin typeface="標楷體" pitchFamily="65" charset="-120"/>
              </a:rPr>
              <a:t>舉行</a:t>
            </a:r>
          </a:p>
        </p:txBody>
      </p:sp>
      <p:sp>
        <p:nvSpPr>
          <p:cNvPr id="1291291" name="Oval 27"/>
          <p:cNvSpPr>
            <a:spLocks noChangeArrowheads="1"/>
          </p:cNvSpPr>
          <p:nvPr/>
        </p:nvSpPr>
        <p:spPr bwMode="auto">
          <a:xfrm>
            <a:off x="5508625" y="3141663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1292" name="Text Box 28"/>
          <p:cNvSpPr txBox="1">
            <a:spLocks noChangeArrowheads="1"/>
          </p:cNvSpPr>
          <p:nvPr/>
        </p:nvSpPr>
        <p:spPr bwMode="auto">
          <a:xfrm>
            <a:off x="684213" y="333375"/>
            <a:ext cx="58324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4400" b="1">
                <a:latin typeface="Arial" charset="0"/>
              </a:rPr>
              <a:t>由舉行方式進行分析</a:t>
            </a:r>
          </a:p>
        </p:txBody>
      </p:sp>
    </p:spTree>
    <p:extLst>
      <p:ext uri="{BB962C8B-B14F-4D97-AF65-F5344CB8AC3E}">
        <p14:creationId xmlns:p14="http://schemas.microsoft.com/office/powerpoint/2010/main" val="1808004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87B1-4178-48DE-AA99-9297DB2E750A}" type="slidenum">
              <a:rPr lang="en-US" altLang="zh-TW"/>
              <a:pPr/>
              <a:t>40</a:t>
            </a:fld>
            <a:endParaRPr lang="en-US" altLang="zh-TW"/>
          </a:p>
        </p:txBody>
      </p:sp>
      <p:grpSp>
        <p:nvGrpSpPr>
          <p:cNvPr id="1292290" name="Group 2"/>
          <p:cNvGrpSpPr>
            <a:grpSpLocks noChangeAspect="1"/>
          </p:cNvGrpSpPr>
          <p:nvPr/>
        </p:nvGrpSpPr>
        <p:grpSpPr bwMode="auto">
          <a:xfrm>
            <a:off x="1116013" y="0"/>
            <a:ext cx="6427787" cy="5391150"/>
            <a:chOff x="2954" y="5380"/>
            <a:chExt cx="4852" cy="4160"/>
          </a:xfrm>
        </p:grpSpPr>
        <p:sp>
          <p:nvSpPr>
            <p:cNvPr id="1292291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2292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2293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2294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2295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2296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2297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2298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2299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2300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2301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2302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2303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2304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2305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292306" name="Text Box 18"/>
          <p:cNvSpPr txBox="1">
            <a:spLocks noChangeArrowheads="1"/>
          </p:cNvSpPr>
          <p:nvPr/>
        </p:nvSpPr>
        <p:spPr bwMode="auto">
          <a:xfrm>
            <a:off x="5334000" y="457200"/>
            <a:ext cx="18002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營火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晚會 </a:t>
            </a:r>
          </a:p>
        </p:txBody>
      </p:sp>
      <p:sp>
        <p:nvSpPr>
          <p:cNvPr id="1292307" name="Text Box 19"/>
          <p:cNvSpPr txBox="1">
            <a:spLocks noChangeArrowheads="1"/>
          </p:cNvSpPr>
          <p:nvPr/>
        </p:nvSpPr>
        <p:spPr bwMode="auto">
          <a:xfrm>
            <a:off x="3429000" y="838200"/>
            <a:ext cx="1828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流水席 </a:t>
            </a:r>
          </a:p>
        </p:txBody>
      </p:sp>
      <p:sp>
        <p:nvSpPr>
          <p:cNvPr id="1292308" name="Text Box 20"/>
          <p:cNvSpPr txBox="1">
            <a:spLocks noChangeArrowheads="1"/>
          </p:cNvSpPr>
          <p:nvPr/>
        </p:nvSpPr>
        <p:spPr bwMode="auto">
          <a:xfrm>
            <a:off x="1524000" y="1981200"/>
            <a:ext cx="20161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郊遊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踏青</a:t>
            </a:r>
          </a:p>
        </p:txBody>
      </p:sp>
      <p:sp>
        <p:nvSpPr>
          <p:cNvPr id="1292309" name="Text Box 21"/>
          <p:cNvSpPr txBox="1">
            <a:spLocks noChangeArrowheads="1"/>
          </p:cNvSpPr>
          <p:nvPr/>
        </p:nvSpPr>
        <p:spPr bwMode="auto">
          <a:xfrm>
            <a:off x="1752600" y="457200"/>
            <a:ext cx="1436688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家庭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聚會 </a:t>
            </a:r>
          </a:p>
        </p:txBody>
      </p:sp>
      <p:sp>
        <p:nvSpPr>
          <p:cNvPr id="1292310" name="Text Box 22"/>
          <p:cNvSpPr txBox="1">
            <a:spLocks noChangeArrowheads="1"/>
          </p:cNvSpPr>
          <p:nvPr/>
        </p:nvSpPr>
        <p:spPr bwMode="auto">
          <a:xfrm>
            <a:off x="1524000" y="3429000"/>
            <a:ext cx="1944688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電子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花車 </a:t>
            </a:r>
          </a:p>
        </p:txBody>
      </p:sp>
      <p:sp>
        <p:nvSpPr>
          <p:cNvPr id="1292311" name="Text Box 23"/>
          <p:cNvSpPr txBox="1">
            <a:spLocks noChangeArrowheads="1"/>
          </p:cNvSpPr>
          <p:nvPr/>
        </p:nvSpPr>
        <p:spPr bwMode="auto">
          <a:xfrm>
            <a:off x="3352800" y="3429000"/>
            <a:ext cx="208756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小型演唱會 </a:t>
            </a:r>
          </a:p>
        </p:txBody>
      </p:sp>
      <p:sp>
        <p:nvSpPr>
          <p:cNvPr id="1292312" name="Text Box 24"/>
          <p:cNvSpPr txBox="1">
            <a:spLocks noChangeArrowheads="1"/>
          </p:cNvSpPr>
          <p:nvPr/>
        </p:nvSpPr>
        <p:spPr bwMode="auto">
          <a:xfrm>
            <a:off x="5334000" y="3429000"/>
            <a:ext cx="19446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主題式</a:t>
            </a:r>
            <a:r>
              <a:rPr lang="en-US" altLang="zh-TW" sz="4000">
                <a:latin typeface="標楷體" pitchFamily="65" charset="-120"/>
              </a:rPr>
              <a:t>PARTY</a:t>
            </a:r>
          </a:p>
        </p:txBody>
      </p:sp>
      <p:sp>
        <p:nvSpPr>
          <p:cNvPr id="1292313" name="Text Box 25"/>
          <p:cNvSpPr txBox="1">
            <a:spLocks noChangeArrowheads="1"/>
          </p:cNvSpPr>
          <p:nvPr/>
        </p:nvSpPr>
        <p:spPr bwMode="auto">
          <a:xfrm>
            <a:off x="5257800" y="1981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二度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婚禮 </a:t>
            </a:r>
          </a:p>
        </p:txBody>
      </p:sp>
      <p:sp>
        <p:nvSpPr>
          <p:cNvPr id="1292314" name="Text Box 26"/>
          <p:cNvSpPr txBox="1">
            <a:spLocks noChangeArrowheads="1"/>
          </p:cNvSpPr>
          <p:nvPr/>
        </p:nvSpPr>
        <p:spPr bwMode="auto">
          <a:xfrm>
            <a:off x="3352800" y="1981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舉行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方式</a:t>
            </a:r>
          </a:p>
        </p:txBody>
      </p:sp>
      <p:sp>
        <p:nvSpPr>
          <p:cNvPr id="1292315" name="Oval 27"/>
          <p:cNvSpPr>
            <a:spLocks noChangeArrowheads="1"/>
          </p:cNvSpPr>
          <p:nvPr/>
        </p:nvSpPr>
        <p:spPr bwMode="auto">
          <a:xfrm>
            <a:off x="5105400" y="2057400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2316" name="Oval 28"/>
          <p:cNvSpPr>
            <a:spLocks noChangeArrowheads="1"/>
          </p:cNvSpPr>
          <p:nvPr/>
        </p:nvSpPr>
        <p:spPr bwMode="auto">
          <a:xfrm>
            <a:off x="3124200" y="3429000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2317" name="Text Box 29"/>
          <p:cNvSpPr txBox="1">
            <a:spLocks noChangeArrowheads="1"/>
          </p:cNvSpPr>
          <p:nvPr/>
        </p:nvSpPr>
        <p:spPr bwMode="auto">
          <a:xfrm>
            <a:off x="762000" y="5105400"/>
            <a:ext cx="7777163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2500">
                <a:latin typeface="標楷體" pitchFamily="65" charset="-120"/>
              </a:rPr>
              <a:t>選擇原因：順便慶祝爺爺奶奶結婚四十五週年    </a:t>
            </a:r>
          </a:p>
          <a:p>
            <a:pPr>
              <a:spcBef>
                <a:spcPct val="50000"/>
              </a:spcBef>
            </a:pPr>
            <a:r>
              <a:rPr lang="zh-TW" altLang="en-US" sz="2500">
                <a:latin typeface="標楷體" pitchFamily="65" charset="-120"/>
              </a:rPr>
              <a:t>          </a:t>
            </a:r>
            <a:r>
              <a:rPr lang="en-US" altLang="zh-TW" sz="2500">
                <a:latin typeface="標楷體" pitchFamily="65" charset="-120"/>
              </a:rPr>
              <a:t>(</a:t>
            </a:r>
            <a:r>
              <a:rPr lang="zh-TW" altLang="en-US" sz="2500">
                <a:latin typeface="標楷體" pitchFamily="65" charset="-120"/>
              </a:rPr>
              <a:t>藍寶石婚 </a:t>
            </a:r>
            <a:r>
              <a:rPr lang="en-US" altLang="zh-TW" sz="2500">
                <a:latin typeface="標楷體" pitchFamily="65" charset="-120"/>
              </a:rPr>
              <a:t>)</a:t>
            </a:r>
            <a:r>
              <a:rPr lang="zh-TW" altLang="en-US" sz="2500">
                <a:latin typeface="標楷體" pitchFamily="65" charset="-120"/>
              </a:rPr>
              <a:t>，另外爺爺喜歡高歌一</a:t>
            </a:r>
          </a:p>
          <a:p>
            <a:pPr>
              <a:spcBef>
                <a:spcPct val="50000"/>
              </a:spcBef>
            </a:pPr>
            <a:r>
              <a:rPr lang="zh-TW" altLang="en-US" sz="2500">
                <a:latin typeface="標楷體" pitchFamily="65" charset="-120"/>
              </a:rPr>
              <a:t>          曲，因此舉辦演唱會讓大家同歡。</a:t>
            </a:r>
          </a:p>
        </p:txBody>
      </p:sp>
    </p:spTree>
    <p:extLst>
      <p:ext uri="{BB962C8B-B14F-4D97-AF65-F5344CB8AC3E}">
        <p14:creationId xmlns:p14="http://schemas.microsoft.com/office/powerpoint/2010/main" val="18479756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E779-B5EF-4542-89B7-244EED9CF095}" type="slidenum">
              <a:rPr lang="en-US" altLang="zh-TW"/>
              <a:pPr/>
              <a:t>41</a:t>
            </a:fld>
            <a:endParaRPr lang="en-US" altLang="zh-TW"/>
          </a:p>
        </p:txBody>
      </p:sp>
      <p:grpSp>
        <p:nvGrpSpPr>
          <p:cNvPr id="1293314" name="Group 2"/>
          <p:cNvGrpSpPr>
            <a:grpSpLocks noChangeAspect="1"/>
          </p:cNvGrpSpPr>
          <p:nvPr/>
        </p:nvGrpSpPr>
        <p:grpSpPr bwMode="auto">
          <a:xfrm>
            <a:off x="1187450" y="817563"/>
            <a:ext cx="7200900" cy="6040437"/>
            <a:chOff x="2954" y="5380"/>
            <a:chExt cx="4852" cy="4160"/>
          </a:xfrm>
        </p:grpSpPr>
        <p:sp>
          <p:nvSpPr>
            <p:cNvPr id="1293315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3316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3317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3318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3319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3320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3321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3322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3323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3324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3325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3326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3327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3328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3329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293330" name="Text Box 18"/>
          <p:cNvSpPr txBox="1">
            <a:spLocks noChangeArrowheads="1"/>
          </p:cNvSpPr>
          <p:nvPr/>
        </p:nvSpPr>
        <p:spPr bwMode="auto">
          <a:xfrm>
            <a:off x="6011863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時間</a:t>
            </a:r>
          </a:p>
        </p:txBody>
      </p:sp>
      <p:sp>
        <p:nvSpPr>
          <p:cNvPr id="1293331" name="Text Box 19"/>
          <p:cNvSpPr txBox="1">
            <a:spLocks noChangeArrowheads="1"/>
          </p:cNvSpPr>
          <p:nvPr/>
        </p:nvSpPr>
        <p:spPr bwMode="auto">
          <a:xfrm>
            <a:off x="3924300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地點</a:t>
            </a:r>
          </a:p>
        </p:txBody>
      </p:sp>
      <p:sp>
        <p:nvSpPr>
          <p:cNvPr id="1293332" name="Text Box 20"/>
          <p:cNvSpPr txBox="1">
            <a:spLocks noChangeArrowheads="1"/>
          </p:cNvSpPr>
          <p:nvPr/>
        </p:nvSpPr>
        <p:spPr bwMode="auto">
          <a:xfrm>
            <a:off x="1692275" y="2997200"/>
            <a:ext cx="20161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設計</a:t>
            </a:r>
          </a:p>
        </p:txBody>
      </p:sp>
      <p:sp>
        <p:nvSpPr>
          <p:cNvPr id="1293333" name="Text Box 21"/>
          <p:cNvSpPr txBox="1">
            <a:spLocks noChangeArrowheads="1"/>
          </p:cNvSpPr>
          <p:nvPr/>
        </p:nvSpPr>
        <p:spPr bwMode="auto">
          <a:xfrm>
            <a:off x="1908175" y="1700213"/>
            <a:ext cx="17272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節目</a:t>
            </a:r>
          </a:p>
        </p:txBody>
      </p:sp>
      <p:sp>
        <p:nvSpPr>
          <p:cNvPr id="1293334" name="Text Box 22"/>
          <p:cNvSpPr txBox="1">
            <a:spLocks noChangeArrowheads="1"/>
          </p:cNvSpPr>
          <p:nvPr/>
        </p:nvSpPr>
        <p:spPr bwMode="auto">
          <a:xfrm>
            <a:off x="1763713" y="4579938"/>
            <a:ext cx="1944687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餐點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準備</a:t>
            </a:r>
          </a:p>
        </p:txBody>
      </p:sp>
      <p:sp>
        <p:nvSpPr>
          <p:cNvPr id="1293335" name="Text Box 23"/>
          <p:cNvSpPr txBox="1">
            <a:spLocks noChangeArrowheads="1"/>
          </p:cNvSpPr>
          <p:nvPr/>
        </p:nvSpPr>
        <p:spPr bwMode="auto">
          <a:xfrm>
            <a:off x="3851275" y="4868863"/>
            <a:ext cx="18732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禮物</a:t>
            </a:r>
          </a:p>
        </p:txBody>
      </p:sp>
      <p:sp>
        <p:nvSpPr>
          <p:cNvPr id="1293336" name="Text Box 24"/>
          <p:cNvSpPr txBox="1">
            <a:spLocks noChangeArrowheads="1"/>
          </p:cNvSpPr>
          <p:nvPr/>
        </p:nvSpPr>
        <p:spPr bwMode="auto">
          <a:xfrm>
            <a:off x="5867400" y="4579938"/>
            <a:ext cx="1944688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參與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人員</a:t>
            </a:r>
          </a:p>
        </p:txBody>
      </p:sp>
      <p:sp>
        <p:nvSpPr>
          <p:cNvPr id="1293337" name="Text Box 25"/>
          <p:cNvSpPr txBox="1">
            <a:spLocks noChangeArrowheads="1"/>
          </p:cNvSpPr>
          <p:nvPr/>
        </p:nvSpPr>
        <p:spPr bwMode="auto">
          <a:xfrm>
            <a:off x="5867400" y="2997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舉行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方式</a:t>
            </a:r>
          </a:p>
        </p:txBody>
      </p:sp>
      <p:sp>
        <p:nvSpPr>
          <p:cNvPr id="1293338" name="Text Box 26"/>
          <p:cNvSpPr txBox="1">
            <a:spLocks noChangeArrowheads="1"/>
          </p:cNvSpPr>
          <p:nvPr/>
        </p:nvSpPr>
        <p:spPr bwMode="auto">
          <a:xfrm>
            <a:off x="3708400" y="3141663"/>
            <a:ext cx="223361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3200">
                <a:latin typeface="標楷體" pitchFamily="65" charset="-120"/>
              </a:rPr>
              <a:t>生日</a:t>
            </a:r>
            <a:r>
              <a:rPr lang="en-US" altLang="zh-TW" sz="3200">
                <a:latin typeface="標楷體" pitchFamily="65" charset="-120"/>
              </a:rPr>
              <a:t>party</a:t>
            </a:r>
            <a:r>
              <a:rPr lang="zh-TW" altLang="en-US" sz="3200">
                <a:latin typeface="標楷體" pitchFamily="65" charset="-120"/>
              </a:rPr>
              <a:t>舉行</a:t>
            </a:r>
          </a:p>
        </p:txBody>
      </p:sp>
      <p:sp>
        <p:nvSpPr>
          <p:cNvPr id="1293339" name="Oval 27"/>
          <p:cNvSpPr>
            <a:spLocks noChangeArrowheads="1"/>
          </p:cNvSpPr>
          <p:nvPr/>
        </p:nvSpPr>
        <p:spPr bwMode="auto">
          <a:xfrm>
            <a:off x="3563938" y="1412875"/>
            <a:ext cx="2808287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3340" name="Text Box 28"/>
          <p:cNvSpPr txBox="1">
            <a:spLocks noChangeArrowheads="1"/>
          </p:cNvSpPr>
          <p:nvPr/>
        </p:nvSpPr>
        <p:spPr bwMode="auto">
          <a:xfrm>
            <a:off x="684213" y="333375"/>
            <a:ext cx="50403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4400" b="1">
                <a:latin typeface="Arial" charset="0"/>
              </a:rPr>
              <a:t>由地點進行分析</a:t>
            </a:r>
          </a:p>
        </p:txBody>
      </p:sp>
    </p:spTree>
    <p:extLst>
      <p:ext uri="{BB962C8B-B14F-4D97-AF65-F5344CB8AC3E}">
        <p14:creationId xmlns:p14="http://schemas.microsoft.com/office/powerpoint/2010/main" val="38171776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09C2-E689-4FDB-885E-ECE5298231EA}" type="slidenum">
              <a:rPr lang="en-US" altLang="zh-TW"/>
              <a:pPr/>
              <a:t>42</a:t>
            </a:fld>
            <a:endParaRPr lang="en-US" altLang="zh-TW"/>
          </a:p>
        </p:txBody>
      </p:sp>
      <p:grpSp>
        <p:nvGrpSpPr>
          <p:cNvPr id="1294338" name="Group 2"/>
          <p:cNvGrpSpPr>
            <a:grpSpLocks noChangeAspect="1"/>
          </p:cNvGrpSpPr>
          <p:nvPr/>
        </p:nvGrpSpPr>
        <p:grpSpPr bwMode="auto">
          <a:xfrm>
            <a:off x="1042988" y="0"/>
            <a:ext cx="7200900" cy="6040438"/>
            <a:chOff x="2954" y="5380"/>
            <a:chExt cx="4852" cy="4160"/>
          </a:xfrm>
        </p:grpSpPr>
        <p:sp>
          <p:nvSpPr>
            <p:cNvPr id="1294339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4340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4341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4342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4343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4344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4345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4346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4347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4348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4349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4350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4351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4352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4353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294354" name="Text Box 18"/>
          <p:cNvSpPr txBox="1">
            <a:spLocks noChangeArrowheads="1"/>
          </p:cNvSpPr>
          <p:nvPr/>
        </p:nvSpPr>
        <p:spPr bwMode="auto">
          <a:xfrm>
            <a:off x="6013450" y="836613"/>
            <a:ext cx="15335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724" tIns="38862" rIns="77724" bIns="38862">
            <a:spAutoFit/>
          </a:bodyPr>
          <a:lstStyle/>
          <a:p>
            <a:pPr algn="ctr"/>
            <a:r>
              <a:rPr lang="zh-TW" altLang="en-US" sz="4000">
                <a:latin typeface="標楷體" pitchFamily="65" charset="-120"/>
              </a:rPr>
              <a:t>遊艇</a:t>
            </a:r>
          </a:p>
        </p:txBody>
      </p:sp>
      <p:sp>
        <p:nvSpPr>
          <p:cNvPr id="1294355" name="Text Box 19"/>
          <p:cNvSpPr txBox="1">
            <a:spLocks noChangeArrowheads="1"/>
          </p:cNvSpPr>
          <p:nvPr/>
        </p:nvSpPr>
        <p:spPr bwMode="auto">
          <a:xfrm>
            <a:off x="3924300" y="836613"/>
            <a:ext cx="15335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724" tIns="38862" rIns="77724" bIns="38862">
            <a:spAutoFit/>
          </a:bodyPr>
          <a:lstStyle/>
          <a:p>
            <a:pPr algn="ctr"/>
            <a:r>
              <a:rPr lang="zh-TW" altLang="en-US" sz="4000">
                <a:latin typeface="標楷體" pitchFamily="65" charset="-120"/>
              </a:rPr>
              <a:t>家裡</a:t>
            </a:r>
          </a:p>
        </p:txBody>
      </p:sp>
      <p:sp>
        <p:nvSpPr>
          <p:cNvPr id="1294356" name="Text Box 20"/>
          <p:cNvSpPr txBox="1">
            <a:spLocks noChangeArrowheads="1"/>
          </p:cNvSpPr>
          <p:nvPr/>
        </p:nvSpPr>
        <p:spPr bwMode="auto">
          <a:xfrm>
            <a:off x="1763713" y="2565400"/>
            <a:ext cx="171608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724" tIns="38862" rIns="77724" bIns="38862">
            <a:spAutoFit/>
          </a:bodyPr>
          <a:lstStyle/>
          <a:p>
            <a:pPr algn="ctr"/>
            <a:r>
              <a:rPr lang="zh-TW" altLang="en-US" sz="4000">
                <a:latin typeface="標楷體" pitchFamily="65" charset="-120"/>
              </a:rPr>
              <a:t>公園</a:t>
            </a:r>
          </a:p>
        </p:txBody>
      </p:sp>
      <p:sp>
        <p:nvSpPr>
          <p:cNvPr id="1294357" name="Text Box 21"/>
          <p:cNvSpPr txBox="1">
            <a:spLocks noChangeArrowheads="1"/>
          </p:cNvSpPr>
          <p:nvPr/>
        </p:nvSpPr>
        <p:spPr bwMode="auto">
          <a:xfrm>
            <a:off x="1908175" y="908050"/>
            <a:ext cx="14700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724" tIns="38862" rIns="77724" bIns="38862">
            <a:spAutoFit/>
          </a:bodyPr>
          <a:lstStyle/>
          <a:p>
            <a:pPr algn="ctr"/>
            <a:r>
              <a:rPr lang="en-US" altLang="zh-TW" sz="4000">
                <a:latin typeface="標楷體" pitchFamily="65" charset="-120"/>
              </a:rPr>
              <a:t>KTV</a:t>
            </a:r>
          </a:p>
        </p:txBody>
      </p:sp>
      <p:sp>
        <p:nvSpPr>
          <p:cNvPr id="1294358" name="Text Box 22"/>
          <p:cNvSpPr txBox="1">
            <a:spLocks noChangeArrowheads="1"/>
          </p:cNvSpPr>
          <p:nvPr/>
        </p:nvSpPr>
        <p:spPr bwMode="auto">
          <a:xfrm>
            <a:off x="1836738" y="3860800"/>
            <a:ext cx="165576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724" tIns="38862" rIns="77724" bIns="38862">
            <a:spAutoFit/>
          </a:bodyPr>
          <a:lstStyle/>
          <a:p>
            <a:pPr algn="ctr"/>
            <a:r>
              <a:rPr lang="zh-TW" altLang="en-US" sz="4000">
                <a:latin typeface="標楷體" pitchFamily="65" charset="-120"/>
              </a:rPr>
              <a:t>休閒</a:t>
            </a:r>
          </a:p>
          <a:p>
            <a:pPr algn="ctr"/>
            <a:r>
              <a:rPr lang="zh-TW" altLang="en-US" sz="4000">
                <a:latin typeface="標楷體" pitchFamily="65" charset="-120"/>
              </a:rPr>
              <a:t>農場</a:t>
            </a:r>
          </a:p>
        </p:txBody>
      </p:sp>
      <p:sp>
        <p:nvSpPr>
          <p:cNvPr id="1294359" name="Text Box 23"/>
          <p:cNvSpPr txBox="1">
            <a:spLocks noChangeArrowheads="1"/>
          </p:cNvSpPr>
          <p:nvPr/>
        </p:nvSpPr>
        <p:spPr bwMode="auto">
          <a:xfrm>
            <a:off x="3924300" y="3860800"/>
            <a:ext cx="15954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724" tIns="38862" rIns="77724" bIns="38862">
            <a:spAutoFit/>
          </a:bodyPr>
          <a:lstStyle/>
          <a:p>
            <a:pPr algn="ctr"/>
            <a:r>
              <a:rPr lang="zh-TW" altLang="en-US" sz="4000">
                <a:latin typeface="標楷體" pitchFamily="65" charset="-120"/>
              </a:rPr>
              <a:t>高級餐廳</a:t>
            </a:r>
          </a:p>
        </p:txBody>
      </p:sp>
      <p:sp>
        <p:nvSpPr>
          <p:cNvPr id="1294360" name="Text Box 24"/>
          <p:cNvSpPr txBox="1">
            <a:spLocks noChangeArrowheads="1"/>
          </p:cNvSpPr>
          <p:nvPr/>
        </p:nvSpPr>
        <p:spPr bwMode="auto">
          <a:xfrm>
            <a:off x="6013450" y="4221163"/>
            <a:ext cx="16557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724" tIns="38862" rIns="77724" bIns="38862">
            <a:spAutoFit/>
          </a:bodyPr>
          <a:lstStyle/>
          <a:p>
            <a:pPr algn="ctr"/>
            <a:r>
              <a:rPr lang="zh-TW" altLang="en-US" sz="4000">
                <a:latin typeface="標楷體" pitchFamily="65" charset="-120"/>
              </a:rPr>
              <a:t>飯店</a:t>
            </a:r>
          </a:p>
        </p:txBody>
      </p:sp>
      <p:sp>
        <p:nvSpPr>
          <p:cNvPr id="1294361" name="Text Box 25"/>
          <p:cNvSpPr txBox="1">
            <a:spLocks noChangeArrowheads="1"/>
          </p:cNvSpPr>
          <p:nvPr/>
        </p:nvSpPr>
        <p:spPr bwMode="auto">
          <a:xfrm>
            <a:off x="5940425" y="2349500"/>
            <a:ext cx="1717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724" tIns="38862" rIns="77724" bIns="38862">
            <a:spAutoFit/>
          </a:bodyPr>
          <a:lstStyle/>
          <a:p>
            <a:pPr algn="ctr"/>
            <a:r>
              <a:rPr lang="zh-TW" altLang="en-US" sz="4000">
                <a:latin typeface="標楷體" pitchFamily="65" charset="-120"/>
              </a:rPr>
              <a:t>普通</a:t>
            </a:r>
          </a:p>
          <a:p>
            <a:pPr algn="ctr"/>
            <a:r>
              <a:rPr lang="zh-TW" altLang="en-US" sz="4000">
                <a:latin typeface="標楷體" pitchFamily="65" charset="-120"/>
              </a:rPr>
              <a:t>餐廳</a:t>
            </a:r>
          </a:p>
        </p:txBody>
      </p:sp>
      <p:sp>
        <p:nvSpPr>
          <p:cNvPr id="1294362" name="Text Box 26"/>
          <p:cNvSpPr txBox="1">
            <a:spLocks noChangeArrowheads="1"/>
          </p:cNvSpPr>
          <p:nvPr/>
        </p:nvSpPr>
        <p:spPr bwMode="auto">
          <a:xfrm>
            <a:off x="3995738" y="2565400"/>
            <a:ext cx="15335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724" tIns="38862" rIns="77724" bIns="38862">
            <a:spAutoFit/>
          </a:bodyPr>
          <a:lstStyle/>
          <a:p>
            <a:pPr algn="ctr"/>
            <a:r>
              <a:rPr lang="zh-TW" altLang="en-US" sz="4000">
                <a:latin typeface="標楷體" pitchFamily="65" charset="-120"/>
              </a:rPr>
              <a:t>地點</a:t>
            </a:r>
          </a:p>
        </p:txBody>
      </p:sp>
      <p:sp>
        <p:nvSpPr>
          <p:cNvPr id="1294363" name="Oval 27"/>
          <p:cNvSpPr>
            <a:spLocks noChangeArrowheads="1"/>
          </p:cNvSpPr>
          <p:nvPr/>
        </p:nvSpPr>
        <p:spPr bwMode="auto">
          <a:xfrm>
            <a:off x="1187450" y="620713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4364" name="Oval 28"/>
          <p:cNvSpPr>
            <a:spLocks noChangeArrowheads="1"/>
          </p:cNvSpPr>
          <p:nvPr/>
        </p:nvSpPr>
        <p:spPr bwMode="auto">
          <a:xfrm>
            <a:off x="3348038" y="3860800"/>
            <a:ext cx="2808287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4365" name="Text Box 29"/>
          <p:cNvSpPr txBox="1">
            <a:spLocks noChangeArrowheads="1"/>
          </p:cNvSpPr>
          <p:nvPr/>
        </p:nvSpPr>
        <p:spPr bwMode="auto">
          <a:xfrm>
            <a:off x="827088" y="5589588"/>
            <a:ext cx="77771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2800">
                <a:latin typeface="標楷體" pitchFamily="65" charset="-120"/>
              </a:rPr>
              <a:t>選擇原因：可以先到高級餐廳享用下午茶並舉辦		二次婚禮，之後至</a:t>
            </a:r>
            <a:r>
              <a:rPr lang="en-US" altLang="zh-TW" sz="2800">
                <a:latin typeface="標楷體" pitchFamily="65" charset="-120"/>
              </a:rPr>
              <a:t>KTV</a:t>
            </a:r>
            <a:r>
              <a:rPr lang="zh-TW" altLang="en-US" sz="2800">
                <a:latin typeface="標楷體" pitchFamily="65" charset="-120"/>
              </a:rPr>
              <a:t>舉辦演唱會。</a:t>
            </a:r>
          </a:p>
        </p:txBody>
      </p:sp>
    </p:spTree>
    <p:extLst>
      <p:ext uri="{BB962C8B-B14F-4D97-AF65-F5344CB8AC3E}">
        <p14:creationId xmlns:p14="http://schemas.microsoft.com/office/powerpoint/2010/main" val="774633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13FDC-8B6D-49B7-8CEC-AB872CE21DAE}" type="slidenum">
              <a:rPr lang="en-US" altLang="zh-TW"/>
              <a:pPr/>
              <a:t>43</a:t>
            </a:fld>
            <a:endParaRPr lang="en-US" altLang="zh-TW"/>
          </a:p>
        </p:txBody>
      </p:sp>
      <p:grpSp>
        <p:nvGrpSpPr>
          <p:cNvPr id="1295362" name="Group 2"/>
          <p:cNvGrpSpPr>
            <a:grpSpLocks noChangeAspect="1"/>
          </p:cNvGrpSpPr>
          <p:nvPr/>
        </p:nvGrpSpPr>
        <p:grpSpPr bwMode="auto">
          <a:xfrm>
            <a:off x="1187450" y="817563"/>
            <a:ext cx="7200900" cy="6040437"/>
            <a:chOff x="2954" y="5380"/>
            <a:chExt cx="4852" cy="4160"/>
          </a:xfrm>
        </p:grpSpPr>
        <p:sp>
          <p:nvSpPr>
            <p:cNvPr id="1295363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5364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5365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5366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5367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5368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5369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5370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5371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5372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5373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5374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5375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5376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5377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295378" name="Text Box 18"/>
          <p:cNvSpPr txBox="1">
            <a:spLocks noChangeArrowheads="1"/>
          </p:cNvSpPr>
          <p:nvPr/>
        </p:nvSpPr>
        <p:spPr bwMode="auto">
          <a:xfrm>
            <a:off x="6011863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時間</a:t>
            </a:r>
          </a:p>
        </p:txBody>
      </p:sp>
      <p:sp>
        <p:nvSpPr>
          <p:cNvPr id="1295379" name="Text Box 19"/>
          <p:cNvSpPr txBox="1">
            <a:spLocks noChangeArrowheads="1"/>
          </p:cNvSpPr>
          <p:nvPr/>
        </p:nvSpPr>
        <p:spPr bwMode="auto">
          <a:xfrm>
            <a:off x="3924300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地點</a:t>
            </a:r>
          </a:p>
        </p:txBody>
      </p:sp>
      <p:sp>
        <p:nvSpPr>
          <p:cNvPr id="1295380" name="Text Box 20"/>
          <p:cNvSpPr txBox="1">
            <a:spLocks noChangeArrowheads="1"/>
          </p:cNvSpPr>
          <p:nvPr/>
        </p:nvSpPr>
        <p:spPr bwMode="auto">
          <a:xfrm>
            <a:off x="1692275" y="2997200"/>
            <a:ext cx="20161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設計</a:t>
            </a:r>
          </a:p>
        </p:txBody>
      </p:sp>
      <p:sp>
        <p:nvSpPr>
          <p:cNvPr id="1295381" name="Text Box 21"/>
          <p:cNvSpPr txBox="1">
            <a:spLocks noChangeArrowheads="1"/>
          </p:cNvSpPr>
          <p:nvPr/>
        </p:nvSpPr>
        <p:spPr bwMode="auto">
          <a:xfrm>
            <a:off x="1908175" y="1700213"/>
            <a:ext cx="17272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節目</a:t>
            </a:r>
          </a:p>
        </p:txBody>
      </p:sp>
      <p:sp>
        <p:nvSpPr>
          <p:cNvPr id="1295382" name="Text Box 22"/>
          <p:cNvSpPr txBox="1">
            <a:spLocks noChangeArrowheads="1"/>
          </p:cNvSpPr>
          <p:nvPr/>
        </p:nvSpPr>
        <p:spPr bwMode="auto">
          <a:xfrm>
            <a:off x="1763713" y="4579938"/>
            <a:ext cx="1944687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餐點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準備</a:t>
            </a:r>
          </a:p>
        </p:txBody>
      </p:sp>
      <p:sp>
        <p:nvSpPr>
          <p:cNvPr id="1295383" name="Text Box 23"/>
          <p:cNvSpPr txBox="1">
            <a:spLocks noChangeArrowheads="1"/>
          </p:cNvSpPr>
          <p:nvPr/>
        </p:nvSpPr>
        <p:spPr bwMode="auto">
          <a:xfrm>
            <a:off x="3851275" y="4868863"/>
            <a:ext cx="18732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禮物</a:t>
            </a:r>
          </a:p>
        </p:txBody>
      </p:sp>
      <p:sp>
        <p:nvSpPr>
          <p:cNvPr id="1295384" name="Text Box 24"/>
          <p:cNvSpPr txBox="1">
            <a:spLocks noChangeArrowheads="1"/>
          </p:cNvSpPr>
          <p:nvPr/>
        </p:nvSpPr>
        <p:spPr bwMode="auto">
          <a:xfrm>
            <a:off x="5867400" y="4579938"/>
            <a:ext cx="1944688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參與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人員</a:t>
            </a:r>
          </a:p>
        </p:txBody>
      </p:sp>
      <p:sp>
        <p:nvSpPr>
          <p:cNvPr id="1295385" name="Text Box 25"/>
          <p:cNvSpPr txBox="1">
            <a:spLocks noChangeArrowheads="1"/>
          </p:cNvSpPr>
          <p:nvPr/>
        </p:nvSpPr>
        <p:spPr bwMode="auto">
          <a:xfrm>
            <a:off x="5867400" y="2997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舉行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方式</a:t>
            </a:r>
          </a:p>
        </p:txBody>
      </p:sp>
      <p:sp>
        <p:nvSpPr>
          <p:cNvPr id="1295386" name="Text Box 26"/>
          <p:cNvSpPr txBox="1">
            <a:spLocks noChangeArrowheads="1"/>
          </p:cNvSpPr>
          <p:nvPr/>
        </p:nvSpPr>
        <p:spPr bwMode="auto">
          <a:xfrm>
            <a:off x="3708400" y="3141663"/>
            <a:ext cx="223361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3200">
                <a:latin typeface="標楷體" pitchFamily="65" charset="-120"/>
              </a:rPr>
              <a:t>生日</a:t>
            </a:r>
            <a:r>
              <a:rPr lang="en-US" altLang="zh-TW" sz="3200">
                <a:latin typeface="標楷體" pitchFamily="65" charset="-120"/>
              </a:rPr>
              <a:t>party</a:t>
            </a:r>
            <a:r>
              <a:rPr lang="zh-TW" altLang="en-US" sz="3200">
                <a:latin typeface="標楷體" pitchFamily="65" charset="-120"/>
              </a:rPr>
              <a:t>舉行</a:t>
            </a:r>
          </a:p>
        </p:txBody>
      </p:sp>
      <p:sp>
        <p:nvSpPr>
          <p:cNvPr id="1295387" name="Oval 27"/>
          <p:cNvSpPr>
            <a:spLocks noChangeArrowheads="1"/>
          </p:cNvSpPr>
          <p:nvPr/>
        </p:nvSpPr>
        <p:spPr bwMode="auto">
          <a:xfrm>
            <a:off x="3419475" y="4652963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5388" name="Text Box 28"/>
          <p:cNvSpPr txBox="1">
            <a:spLocks noChangeArrowheads="1"/>
          </p:cNvSpPr>
          <p:nvPr/>
        </p:nvSpPr>
        <p:spPr bwMode="auto">
          <a:xfrm>
            <a:off x="684213" y="333375"/>
            <a:ext cx="50403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4400" b="1">
                <a:latin typeface="Arial" charset="0"/>
              </a:rPr>
              <a:t>由禮物進行分析</a:t>
            </a:r>
          </a:p>
        </p:txBody>
      </p:sp>
    </p:spTree>
    <p:extLst>
      <p:ext uri="{BB962C8B-B14F-4D97-AF65-F5344CB8AC3E}">
        <p14:creationId xmlns:p14="http://schemas.microsoft.com/office/powerpoint/2010/main" val="7922042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CDF2-4387-4039-87EE-9B330CF163E6}" type="slidenum">
              <a:rPr lang="en-US" altLang="zh-TW"/>
              <a:pPr/>
              <a:t>44</a:t>
            </a:fld>
            <a:endParaRPr lang="en-US" altLang="zh-TW"/>
          </a:p>
        </p:txBody>
      </p:sp>
      <p:grpSp>
        <p:nvGrpSpPr>
          <p:cNvPr id="1296386" name="Group 2"/>
          <p:cNvGrpSpPr>
            <a:grpSpLocks noChangeAspect="1"/>
          </p:cNvGrpSpPr>
          <p:nvPr/>
        </p:nvGrpSpPr>
        <p:grpSpPr bwMode="auto">
          <a:xfrm>
            <a:off x="1187450" y="0"/>
            <a:ext cx="7200900" cy="6040438"/>
            <a:chOff x="2954" y="5380"/>
            <a:chExt cx="4852" cy="4160"/>
          </a:xfrm>
        </p:grpSpPr>
        <p:sp>
          <p:nvSpPr>
            <p:cNvPr id="1296387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6388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6389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6390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6391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6392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6393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6394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6395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6396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6397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6398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6399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6400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6401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</p:grpSp>
      <p:sp>
        <p:nvSpPr>
          <p:cNvPr id="1296402" name="Text Box 18"/>
          <p:cNvSpPr txBox="1">
            <a:spLocks noChangeArrowheads="1"/>
          </p:cNvSpPr>
          <p:nvPr/>
        </p:nvSpPr>
        <p:spPr bwMode="auto">
          <a:xfrm>
            <a:off x="6011863" y="549275"/>
            <a:ext cx="18002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老花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眼鏡 </a:t>
            </a:r>
          </a:p>
        </p:txBody>
      </p:sp>
      <p:sp>
        <p:nvSpPr>
          <p:cNvPr id="1296403" name="Text Box 19"/>
          <p:cNvSpPr txBox="1">
            <a:spLocks noChangeArrowheads="1"/>
          </p:cNvSpPr>
          <p:nvPr/>
        </p:nvSpPr>
        <p:spPr bwMode="auto">
          <a:xfrm>
            <a:off x="3851275" y="549275"/>
            <a:ext cx="18002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旅遊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機票 </a:t>
            </a:r>
          </a:p>
        </p:txBody>
      </p:sp>
      <p:sp>
        <p:nvSpPr>
          <p:cNvPr id="1296404" name="Text Box 20"/>
          <p:cNvSpPr txBox="1">
            <a:spLocks noChangeArrowheads="1"/>
          </p:cNvSpPr>
          <p:nvPr/>
        </p:nvSpPr>
        <p:spPr bwMode="auto">
          <a:xfrm>
            <a:off x="1692275" y="2205038"/>
            <a:ext cx="2016125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黃金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飾品 </a:t>
            </a:r>
          </a:p>
        </p:txBody>
      </p:sp>
      <p:sp>
        <p:nvSpPr>
          <p:cNvPr id="1296405" name="Text Box 21"/>
          <p:cNvSpPr txBox="1">
            <a:spLocks noChangeArrowheads="1"/>
          </p:cNvSpPr>
          <p:nvPr/>
        </p:nvSpPr>
        <p:spPr bwMode="auto">
          <a:xfrm>
            <a:off x="1835150" y="908050"/>
            <a:ext cx="1727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勞力士 </a:t>
            </a:r>
          </a:p>
        </p:txBody>
      </p:sp>
      <p:sp>
        <p:nvSpPr>
          <p:cNvPr id="1296406" name="Text Box 22"/>
          <p:cNvSpPr txBox="1">
            <a:spLocks noChangeArrowheads="1"/>
          </p:cNvSpPr>
          <p:nvPr/>
        </p:nvSpPr>
        <p:spPr bwMode="auto">
          <a:xfrm>
            <a:off x="1763713" y="4076700"/>
            <a:ext cx="19446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代步車 </a:t>
            </a:r>
          </a:p>
        </p:txBody>
      </p:sp>
      <p:sp>
        <p:nvSpPr>
          <p:cNvPr id="1296407" name="Text Box 23"/>
          <p:cNvSpPr txBox="1">
            <a:spLocks noChangeArrowheads="1"/>
          </p:cNvSpPr>
          <p:nvPr/>
        </p:nvSpPr>
        <p:spPr bwMode="auto">
          <a:xfrm>
            <a:off x="3851275" y="2420938"/>
            <a:ext cx="18732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禮物</a:t>
            </a:r>
          </a:p>
        </p:txBody>
      </p:sp>
      <p:sp>
        <p:nvSpPr>
          <p:cNvPr id="1296408" name="Text Box 24"/>
          <p:cNvSpPr txBox="1">
            <a:spLocks noChangeArrowheads="1"/>
          </p:cNvSpPr>
          <p:nvPr/>
        </p:nvSpPr>
        <p:spPr bwMode="auto">
          <a:xfrm>
            <a:off x="5867400" y="3787775"/>
            <a:ext cx="1944688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刮刮樂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、樂透 </a:t>
            </a:r>
          </a:p>
        </p:txBody>
      </p:sp>
      <p:sp>
        <p:nvSpPr>
          <p:cNvPr id="1296409" name="Text Box 25"/>
          <p:cNvSpPr txBox="1">
            <a:spLocks noChangeArrowheads="1"/>
          </p:cNvSpPr>
          <p:nvPr/>
        </p:nvSpPr>
        <p:spPr bwMode="auto">
          <a:xfrm>
            <a:off x="5867400" y="2205038"/>
            <a:ext cx="2017713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空白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支票 </a:t>
            </a:r>
          </a:p>
        </p:txBody>
      </p:sp>
      <p:sp>
        <p:nvSpPr>
          <p:cNvPr id="1296410" name="Text Box 26"/>
          <p:cNvSpPr txBox="1">
            <a:spLocks noChangeArrowheads="1"/>
          </p:cNvSpPr>
          <p:nvPr/>
        </p:nvSpPr>
        <p:spPr bwMode="auto">
          <a:xfrm>
            <a:off x="3779838" y="4149725"/>
            <a:ext cx="20161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現金 </a:t>
            </a:r>
          </a:p>
        </p:txBody>
      </p:sp>
      <p:sp>
        <p:nvSpPr>
          <p:cNvPr id="1296411" name="Oval 27"/>
          <p:cNvSpPr>
            <a:spLocks noChangeArrowheads="1"/>
          </p:cNvSpPr>
          <p:nvPr/>
        </p:nvSpPr>
        <p:spPr bwMode="auto">
          <a:xfrm>
            <a:off x="5435600" y="2276475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6412" name="Text Box 28"/>
          <p:cNvSpPr txBox="1">
            <a:spLocks noChangeArrowheads="1"/>
          </p:cNvSpPr>
          <p:nvPr/>
        </p:nvSpPr>
        <p:spPr bwMode="auto">
          <a:xfrm>
            <a:off x="827088" y="5589588"/>
            <a:ext cx="77771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2800">
                <a:latin typeface="標楷體" pitchFamily="65" charset="-120"/>
              </a:rPr>
              <a:t>選擇原因：由於爺爺物質需求不高，因此送爺爺		大張空白支票。</a:t>
            </a:r>
          </a:p>
        </p:txBody>
      </p:sp>
    </p:spTree>
    <p:extLst>
      <p:ext uri="{BB962C8B-B14F-4D97-AF65-F5344CB8AC3E}">
        <p14:creationId xmlns:p14="http://schemas.microsoft.com/office/powerpoint/2010/main" val="4179804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BE42-D9FC-4D0A-AD00-1B732F2081F4}" type="slidenum">
              <a:rPr lang="en-US" altLang="zh-TW"/>
              <a:pPr/>
              <a:t>45</a:t>
            </a:fld>
            <a:endParaRPr lang="en-US" altLang="zh-TW"/>
          </a:p>
        </p:txBody>
      </p:sp>
      <p:grpSp>
        <p:nvGrpSpPr>
          <p:cNvPr id="1297410" name="Group 2"/>
          <p:cNvGrpSpPr>
            <a:grpSpLocks noChangeAspect="1"/>
          </p:cNvGrpSpPr>
          <p:nvPr/>
        </p:nvGrpSpPr>
        <p:grpSpPr bwMode="auto">
          <a:xfrm>
            <a:off x="1187450" y="817563"/>
            <a:ext cx="7200900" cy="6040437"/>
            <a:chOff x="2954" y="5380"/>
            <a:chExt cx="4852" cy="4160"/>
          </a:xfrm>
        </p:grpSpPr>
        <p:sp>
          <p:nvSpPr>
            <p:cNvPr id="1297411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7412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7413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7414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7415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7416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7417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7418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7419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7420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7421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7422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7423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7424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7425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297426" name="Text Box 18"/>
          <p:cNvSpPr txBox="1">
            <a:spLocks noChangeArrowheads="1"/>
          </p:cNvSpPr>
          <p:nvPr/>
        </p:nvSpPr>
        <p:spPr bwMode="auto">
          <a:xfrm>
            <a:off x="6011863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時間</a:t>
            </a:r>
          </a:p>
        </p:txBody>
      </p:sp>
      <p:sp>
        <p:nvSpPr>
          <p:cNvPr id="1297427" name="Text Box 19"/>
          <p:cNvSpPr txBox="1">
            <a:spLocks noChangeArrowheads="1"/>
          </p:cNvSpPr>
          <p:nvPr/>
        </p:nvSpPr>
        <p:spPr bwMode="auto">
          <a:xfrm>
            <a:off x="3924300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地點</a:t>
            </a:r>
          </a:p>
        </p:txBody>
      </p:sp>
      <p:sp>
        <p:nvSpPr>
          <p:cNvPr id="1297428" name="Text Box 20"/>
          <p:cNvSpPr txBox="1">
            <a:spLocks noChangeArrowheads="1"/>
          </p:cNvSpPr>
          <p:nvPr/>
        </p:nvSpPr>
        <p:spPr bwMode="auto">
          <a:xfrm>
            <a:off x="1692275" y="2997200"/>
            <a:ext cx="20161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設計</a:t>
            </a:r>
          </a:p>
        </p:txBody>
      </p:sp>
      <p:sp>
        <p:nvSpPr>
          <p:cNvPr id="1297429" name="Text Box 21"/>
          <p:cNvSpPr txBox="1">
            <a:spLocks noChangeArrowheads="1"/>
          </p:cNvSpPr>
          <p:nvPr/>
        </p:nvSpPr>
        <p:spPr bwMode="auto">
          <a:xfrm>
            <a:off x="1908175" y="1700213"/>
            <a:ext cx="17272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節目</a:t>
            </a:r>
          </a:p>
        </p:txBody>
      </p:sp>
      <p:sp>
        <p:nvSpPr>
          <p:cNvPr id="1297430" name="Text Box 22"/>
          <p:cNvSpPr txBox="1">
            <a:spLocks noChangeArrowheads="1"/>
          </p:cNvSpPr>
          <p:nvPr/>
        </p:nvSpPr>
        <p:spPr bwMode="auto">
          <a:xfrm>
            <a:off x="1763713" y="4579938"/>
            <a:ext cx="1944687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餐點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準備</a:t>
            </a:r>
          </a:p>
        </p:txBody>
      </p:sp>
      <p:sp>
        <p:nvSpPr>
          <p:cNvPr id="1297431" name="Text Box 23"/>
          <p:cNvSpPr txBox="1">
            <a:spLocks noChangeArrowheads="1"/>
          </p:cNvSpPr>
          <p:nvPr/>
        </p:nvSpPr>
        <p:spPr bwMode="auto">
          <a:xfrm>
            <a:off x="3851275" y="4868863"/>
            <a:ext cx="18732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禮物</a:t>
            </a:r>
          </a:p>
        </p:txBody>
      </p:sp>
      <p:sp>
        <p:nvSpPr>
          <p:cNvPr id="1297432" name="Text Box 24"/>
          <p:cNvSpPr txBox="1">
            <a:spLocks noChangeArrowheads="1"/>
          </p:cNvSpPr>
          <p:nvPr/>
        </p:nvSpPr>
        <p:spPr bwMode="auto">
          <a:xfrm>
            <a:off x="5867400" y="4579938"/>
            <a:ext cx="1944688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參與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人員</a:t>
            </a:r>
          </a:p>
        </p:txBody>
      </p:sp>
      <p:sp>
        <p:nvSpPr>
          <p:cNvPr id="1297433" name="Text Box 25"/>
          <p:cNvSpPr txBox="1">
            <a:spLocks noChangeArrowheads="1"/>
          </p:cNvSpPr>
          <p:nvPr/>
        </p:nvSpPr>
        <p:spPr bwMode="auto">
          <a:xfrm>
            <a:off x="5867400" y="2997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舉行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方式</a:t>
            </a:r>
          </a:p>
        </p:txBody>
      </p:sp>
      <p:sp>
        <p:nvSpPr>
          <p:cNvPr id="1297434" name="Text Box 26"/>
          <p:cNvSpPr txBox="1">
            <a:spLocks noChangeArrowheads="1"/>
          </p:cNvSpPr>
          <p:nvPr/>
        </p:nvSpPr>
        <p:spPr bwMode="auto">
          <a:xfrm>
            <a:off x="3708400" y="3141663"/>
            <a:ext cx="223361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3200">
                <a:latin typeface="標楷體" pitchFamily="65" charset="-120"/>
              </a:rPr>
              <a:t>生日</a:t>
            </a:r>
            <a:r>
              <a:rPr lang="en-US" altLang="zh-TW" sz="3200">
                <a:latin typeface="標楷體" pitchFamily="65" charset="-120"/>
              </a:rPr>
              <a:t>party</a:t>
            </a:r>
            <a:r>
              <a:rPr lang="zh-TW" altLang="en-US" sz="3200">
                <a:latin typeface="標楷體" pitchFamily="65" charset="-120"/>
              </a:rPr>
              <a:t>舉行</a:t>
            </a:r>
          </a:p>
        </p:txBody>
      </p:sp>
      <p:sp>
        <p:nvSpPr>
          <p:cNvPr id="1297435" name="Oval 27"/>
          <p:cNvSpPr>
            <a:spLocks noChangeArrowheads="1"/>
          </p:cNvSpPr>
          <p:nvPr/>
        </p:nvSpPr>
        <p:spPr bwMode="auto">
          <a:xfrm>
            <a:off x="1403350" y="4652963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7436" name="Text Box 28"/>
          <p:cNvSpPr txBox="1">
            <a:spLocks noChangeArrowheads="1"/>
          </p:cNvSpPr>
          <p:nvPr/>
        </p:nvSpPr>
        <p:spPr bwMode="auto">
          <a:xfrm>
            <a:off x="684213" y="333375"/>
            <a:ext cx="56165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4400" b="1">
                <a:latin typeface="Arial" charset="0"/>
              </a:rPr>
              <a:t>由餐點準備進行分析</a:t>
            </a:r>
          </a:p>
        </p:txBody>
      </p:sp>
    </p:spTree>
    <p:extLst>
      <p:ext uri="{BB962C8B-B14F-4D97-AF65-F5344CB8AC3E}">
        <p14:creationId xmlns:p14="http://schemas.microsoft.com/office/powerpoint/2010/main" val="41376013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524B-3B57-4D80-A1AA-91A486A5899B}" type="slidenum">
              <a:rPr lang="en-US" altLang="zh-TW"/>
              <a:pPr/>
              <a:t>46</a:t>
            </a:fld>
            <a:endParaRPr lang="en-US" altLang="zh-TW"/>
          </a:p>
        </p:txBody>
      </p:sp>
      <p:grpSp>
        <p:nvGrpSpPr>
          <p:cNvPr id="1298434" name="Group 2"/>
          <p:cNvGrpSpPr>
            <a:grpSpLocks noChangeAspect="1"/>
          </p:cNvGrpSpPr>
          <p:nvPr/>
        </p:nvGrpSpPr>
        <p:grpSpPr bwMode="auto">
          <a:xfrm>
            <a:off x="1187450" y="0"/>
            <a:ext cx="7200900" cy="6040438"/>
            <a:chOff x="2954" y="5380"/>
            <a:chExt cx="4852" cy="4160"/>
          </a:xfrm>
        </p:grpSpPr>
        <p:sp>
          <p:nvSpPr>
            <p:cNvPr id="1298435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8436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8437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8438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8439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8440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8441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8442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8443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8444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8445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8446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8447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8448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298449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298450" name="Text Box 18"/>
          <p:cNvSpPr txBox="1">
            <a:spLocks noChangeArrowheads="1"/>
          </p:cNvSpPr>
          <p:nvPr/>
        </p:nvSpPr>
        <p:spPr bwMode="auto">
          <a:xfrm>
            <a:off x="6011863" y="908050"/>
            <a:ext cx="18002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外燴</a:t>
            </a:r>
          </a:p>
        </p:txBody>
      </p:sp>
      <p:sp>
        <p:nvSpPr>
          <p:cNvPr id="1298451" name="Text Box 19"/>
          <p:cNvSpPr txBox="1">
            <a:spLocks noChangeArrowheads="1"/>
          </p:cNvSpPr>
          <p:nvPr/>
        </p:nvSpPr>
        <p:spPr bwMode="auto">
          <a:xfrm>
            <a:off x="3851275" y="620713"/>
            <a:ext cx="1800225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各自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準備 </a:t>
            </a:r>
          </a:p>
        </p:txBody>
      </p:sp>
      <p:sp>
        <p:nvSpPr>
          <p:cNvPr id="1298452" name="Text Box 20"/>
          <p:cNvSpPr txBox="1">
            <a:spLocks noChangeArrowheads="1"/>
          </p:cNvSpPr>
          <p:nvPr/>
        </p:nvSpPr>
        <p:spPr bwMode="auto">
          <a:xfrm>
            <a:off x="1692275" y="2565400"/>
            <a:ext cx="20161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自助餐 </a:t>
            </a:r>
          </a:p>
        </p:txBody>
      </p:sp>
      <p:sp>
        <p:nvSpPr>
          <p:cNvPr id="1298453" name="Text Box 21"/>
          <p:cNvSpPr txBox="1">
            <a:spLocks noChangeArrowheads="1"/>
          </p:cNvSpPr>
          <p:nvPr/>
        </p:nvSpPr>
        <p:spPr bwMode="auto">
          <a:xfrm>
            <a:off x="1835150" y="908050"/>
            <a:ext cx="18002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en-US" altLang="zh-TW" sz="4000">
                <a:latin typeface="標楷體" pitchFamily="65" charset="-120"/>
              </a:rPr>
              <a:t>BBQ </a:t>
            </a:r>
          </a:p>
        </p:txBody>
      </p:sp>
      <p:sp>
        <p:nvSpPr>
          <p:cNvPr id="1298454" name="Text Box 22"/>
          <p:cNvSpPr txBox="1">
            <a:spLocks noChangeArrowheads="1"/>
          </p:cNvSpPr>
          <p:nvPr/>
        </p:nvSpPr>
        <p:spPr bwMode="auto">
          <a:xfrm>
            <a:off x="3779838" y="2205038"/>
            <a:ext cx="1944687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餐點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準備</a:t>
            </a:r>
          </a:p>
        </p:txBody>
      </p:sp>
      <p:sp>
        <p:nvSpPr>
          <p:cNvPr id="1298455" name="Text Box 23"/>
          <p:cNvSpPr txBox="1">
            <a:spLocks noChangeArrowheads="1"/>
          </p:cNvSpPr>
          <p:nvPr/>
        </p:nvSpPr>
        <p:spPr bwMode="auto">
          <a:xfrm>
            <a:off x="3851275" y="3860800"/>
            <a:ext cx="1873250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下午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茶點 </a:t>
            </a:r>
          </a:p>
        </p:txBody>
      </p:sp>
      <p:sp>
        <p:nvSpPr>
          <p:cNvPr id="1298456" name="Text Box 24"/>
          <p:cNvSpPr txBox="1">
            <a:spLocks noChangeArrowheads="1"/>
          </p:cNvSpPr>
          <p:nvPr/>
        </p:nvSpPr>
        <p:spPr bwMode="auto">
          <a:xfrm>
            <a:off x="5867400" y="3860800"/>
            <a:ext cx="1944688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海陸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大餐 </a:t>
            </a:r>
          </a:p>
        </p:txBody>
      </p:sp>
      <p:sp>
        <p:nvSpPr>
          <p:cNvPr id="1298457" name="Text Box 25"/>
          <p:cNvSpPr txBox="1">
            <a:spLocks noChangeArrowheads="1"/>
          </p:cNvSpPr>
          <p:nvPr/>
        </p:nvSpPr>
        <p:spPr bwMode="auto">
          <a:xfrm>
            <a:off x="5867400" y="2565400"/>
            <a:ext cx="2017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火鍋 </a:t>
            </a:r>
          </a:p>
        </p:txBody>
      </p:sp>
      <p:sp>
        <p:nvSpPr>
          <p:cNvPr id="1298458" name="Text Box 26"/>
          <p:cNvSpPr txBox="1">
            <a:spLocks noChangeArrowheads="1"/>
          </p:cNvSpPr>
          <p:nvPr/>
        </p:nvSpPr>
        <p:spPr bwMode="auto">
          <a:xfrm>
            <a:off x="1692275" y="4149725"/>
            <a:ext cx="20161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宵夜 </a:t>
            </a:r>
          </a:p>
        </p:txBody>
      </p:sp>
      <p:sp>
        <p:nvSpPr>
          <p:cNvPr id="1298459" name="Oval 27"/>
          <p:cNvSpPr>
            <a:spLocks noChangeArrowheads="1"/>
          </p:cNvSpPr>
          <p:nvPr/>
        </p:nvSpPr>
        <p:spPr bwMode="auto">
          <a:xfrm>
            <a:off x="3348038" y="3932238"/>
            <a:ext cx="2808287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8460" name="Oval 28"/>
          <p:cNvSpPr>
            <a:spLocks noChangeArrowheads="1"/>
          </p:cNvSpPr>
          <p:nvPr/>
        </p:nvSpPr>
        <p:spPr bwMode="auto">
          <a:xfrm>
            <a:off x="1258888" y="2276475"/>
            <a:ext cx="2808287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8461" name="Text Box 29"/>
          <p:cNvSpPr txBox="1">
            <a:spLocks noChangeArrowheads="1"/>
          </p:cNvSpPr>
          <p:nvPr/>
        </p:nvSpPr>
        <p:spPr bwMode="auto">
          <a:xfrm>
            <a:off x="827088" y="5589588"/>
            <a:ext cx="77771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2800">
                <a:latin typeface="標楷體" pitchFamily="65" charset="-120"/>
              </a:rPr>
              <a:t>選擇原因：地點、時間的配合下，可以於高級餐		廳享用下午茶、自助餐。</a:t>
            </a:r>
          </a:p>
        </p:txBody>
      </p:sp>
    </p:spTree>
    <p:extLst>
      <p:ext uri="{BB962C8B-B14F-4D97-AF65-F5344CB8AC3E}">
        <p14:creationId xmlns:p14="http://schemas.microsoft.com/office/powerpoint/2010/main" val="3639429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CFADF-C7DA-4994-9EC3-633EAC66B001}" type="slidenum">
              <a:rPr lang="en-US" altLang="zh-TW"/>
              <a:pPr/>
              <a:t>47</a:t>
            </a:fld>
            <a:endParaRPr lang="en-US" altLang="zh-TW"/>
          </a:p>
        </p:txBody>
      </p:sp>
      <p:grpSp>
        <p:nvGrpSpPr>
          <p:cNvPr id="1299458" name="Group 2"/>
          <p:cNvGrpSpPr>
            <a:grpSpLocks noChangeAspect="1"/>
          </p:cNvGrpSpPr>
          <p:nvPr/>
        </p:nvGrpSpPr>
        <p:grpSpPr bwMode="auto">
          <a:xfrm>
            <a:off x="1187450" y="817563"/>
            <a:ext cx="7200900" cy="6040437"/>
            <a:chOff x="2954" y="5380"/>
            <a:chExt cx="4852" cy="4160"/>
          </a:xfrm>
        </p:grpSpPr>
        <p:sp>
          <p:nvSpPr>
            <p:cNvPr id="1299459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9460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9461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9462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9463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9464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99465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9466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9467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9468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9469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9470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9471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9472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299473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</p:grpSp>
      <p:sp>
        <p:nvSpPr>
          <p:cNvPr id="1299474" name="Text Box 18"/>
          <p:cNvSpPr txBox="1">
            <a:spLocks noChangeArrowheads="1"/>
          </p:cNvSpPr>
          <p:nvPr/>
        </p:nvSpPr>
        <p:spPr bwMode="auto">
          <a:xfrm>
            <a:off x="6011863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時間</a:t>
            </a:r>
          </a:p>
        </p:txBody>
      </p:sp>
      <p:sp>
        <p:nvSpPr>
          <p:cNvPr id="1299475" name="Text Box 19"/>
          <p:cNvSpPr txBox="1">
            <a:spLocks noChangeArrowheads="1"/>
          </p:cNvSpPr>
          <p:nvPr/>
        </p:nvSpPr>
        <p:spPr bwMode="auto">
          <a:xfrm>
            <a:off x="3924300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地點</a:t>
            </a:r>
          </a:p>
        </p:txBody>
      </p:sp>
      <p:sp>
        <p:nvSpPr>
          <p:cNvPr id="1299476" name="Text Box 20"/>
          <p:cNvSpPr txBox="1">
            <a:spLocks noChangeArrowheads="1"/>
          </p:cNvSpPr>
          <p:nvPr/>
        </p:nvSpPr>
        <p:spPr bwMode="auto">
          <a:xfrm>
            <a:off x="1692275" y="2997200"/>
            <a:ext cx="20161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設計</a:t>
            </a:r>
          </a:p>
        </p:txBody>
      </p:sp>
      <p:sp>
        <p:nvSpPr>
          <p:cNvPr id="1299477" name="Text Box 21"/>
          <p:cNvSpPr txBox="1">
            <a:spLocks noChangeArrowheads="1"/>
          </p:cNvSpPr>
          <p:nvPr/>
        </p:nvSpPr>
        <p:spPr bwMode="auto">
          <a:xfrm>
            <a:off x="1908175" y="1700213"/>
            <a:ext cx="17272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節目</a:t>
            </a:r>
          </a:p>
        </p:txBody>
      </p:sp>
      <p:sp>
        <p:nvSpPr>
          <p:cNvPr id="1299478" name="Text Box 22"/>
          <p:cNvSpPr txBox="1">
            <a:spLocks noChangeArrowheads="1"/>
          </p:cNvSpPr>
          <p:nvPr/>
        </p:nvSpPr>
        <p:spPr bwMode="auto">
          <a:xfrm>
            <a:off x="1763713" y="4579938"/>
            <a:ext cx="1944687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餐點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準備</a:t>
            </a:r>
          </a:p>
        </p:txBody>
      </p:sp>
      <p:sp>
        <p:nvSpPr>
          <p:cNvPr id="1299479" name="Text Box 23"/>
          <p:cNvSpPr txBox="1">
            <a:spLocks noChangeArrowheads="1"/>
          </p:cNvSpPr>
          <p:nvPr/>
        </p:nvSpPr>
        <p:spPr bwMode="auto">
          <a:xfrm>
            <a:off x="3851275" y="4868863"/>
            <a:ext cx="18732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禮物</a:t>
            </a:r>
          </a:p>
        </p:txBody>
      </p:sp>
      <p:sp>
        <p:nvSpPr>
          <p:cNvPr id="1299480" name="Text Box 24"/>
          <p:cNvSpPr txBox="1">
            <a:spLocks noChangeArrowheads="1"/>
          </p:cNvSpPr>
          <p:nvPr/>
        </p:nvSpPr>
        <p:spPr bwMode="auto">
          <a:xfrm>
            <a:off x="5867400" y="4579938"/>
            <a:ext cx="1944688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參與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人員</a:t>
            </a:r>
          </a:p>
        </p:txBody>
      </p:sp>
      <p:sp>
        <p:nvSpPr>
          <p:cNvPr id="1299481" name="Text Box 25"/>
          <p:cNvSpPr txBox="1">
            <a:spLocks noChangeArrowheads="1"/>
          </p:cNvSpPr>
          <p:nvPr/>
        </p:nvSpPr>
        <p:spPr bwMode="auto">
          <a:xfrm>
            <a:off x="5867400" y="2997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舉行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方式</a:t>
            </a:r>
          </a:p>
        </p:txBody>
      </p:sp>
      <p:sp>
        <p:nvSpPr>
          <p:cNvPr id="1299482" name="Text Box 26"/>
          <p:cNvSpPr txBox="1">
            <a:spLocks noChangeArrowheads="1"/>
          </p:cNvSpPr>
          <p:nvPr/>
        </p:nvSpPr>
        <p:spPr bwMode="auto">
          <a:xfrm>
            <a:off x="3708400" y="3141663"/>
            <a:ext cx="223361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3200">
                <a:latin typeface="標楷體" pitchFamily="65" charset="-120"/>
              </a:rPr>
              <a:t>生日</a:t>
            </a:r>
            <a:r>
              <a:rPr lang="en-US" altLang="zh-TW" sz="3200">
                <a:latin typeface="標楷體" pitchFamily="65" charset="-120"/>
              </a:rPr>
              <a:t>party</a:t>
            </a:r>
            <a:r>
              <a:rPr lang="zh-TW" altLang="en-US" sz="3200">
                <a:latin typeface="標楷體" pitchFamily="65" charset="-120"/>
              </a:rPr>
              <a:t>舉行</a:t>
            </a:r>
          </a:p>
        </p:txBody>
      </p:sp>
      <p:sp>
        <p:nvSpPr>
          <p:cNvPr id="1299483" name="Oval 27"/>
          <p:cNvSpPr>
            <a:spLocks noChangeArrowheads="1"/>
          </p:cNvSpPr>
          <p:nvPr/>
        </p:nvSpPr>
        <p:spPr bwMode="auto">
          <a:xfrm>
            <a:off x="1331913" y="2997200"/>
            <a:ext cx="2808287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99484" name="Text Box 28"/>
          <p:cNvSpPr txBox="1">
            <a:spLocks noChangeArrowheads="1"/>
          </p:cNvSpPr>
          <p:nvPr/>
        </p:nvSpPr>
        <p:spPr bwMode="auto">
          <a:xfrm>
            <a:off x="684213" y="333375"/>
            <a:ext cx="63357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4400" b="1">
                <a:latin typeface="Arial" charset="0"/>
              </a:rPr>
              <a:t>由邀請函設計進行分析</a:t>
            </a:r>
          </a:p>
        </p:txBody>
      </p:sp>
    </p:spTree>
    <p:extLst>
      <p:ext uri="{BB962C8B-B14F-4D97-AF65-F5344CB8AC3E}">
        <p14:creationId xmlns:p14="http://schemas.microsoft.com/office/powerpoint/2010/main" val="13994338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06E03-C6ED-440E-800A-A166DF9B5628}" type="slidenum">
              <a:rPr lang="en-US" altLang="zh-TW"/>
              <a:pPr/>
              <a:t>48</a:t>
            </a:fld>
            <a:endParaRPr lang="en-US" altLang="zh-TW"/>
          </a:p>
        </p:txBody>
      </p:sp>
      <p:grpSp>
        <p:nvGrpSpPr>
          <p:cNvPr id="1300482" name="Group 2"/>
          <p:cNvGrpSpPr>
            <a:grpSpLocks noChangeAspect="1"/>
          </p:cNvGrpSpPr>
          <p:nvPr/>
        </p:nvGrpSpPr>
        <p:grpSpPr bwMode="auto">
          <a:xfrm>
            <a:off x="1187450" y="0"/>
            <a:ext cx="6737350" cy="5651500"/>
            <a:chOff x="2954" y="5380"/>
            <a:chExt cx="4852" cy="4160"/>
          </a:xfrm>
        </p:grpSpPr>
        <p:sp>
          <p:nvSpPr>
            <p:cNvPr id="1300483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0484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0485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0486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0487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0488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0489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0490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0491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0492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0493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0494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0495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0496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0497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300498" name="Text Box 18"/>
          <p:cNvSpPr txBox="1">
            <a:spLocks noChangeArrowheads="1"/>
          </p:cNvSpPr>
          <p:nvPr/>
        </p:nvSpPr>
        <p:spPr bwMode="auto">
          <a:xfrm>
            <a:off x="5638800" y="533400"/>
            <a:ext cx="18002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電子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 </a:t>
            </a:r>
          </a:p>
        </p:txBody>
      </p:sp>
      <p:sp>
        <p:nvSpPr>
          <p:cNvPr id="1300499" name="Text Box 19"/>
          <p:cNvSpPr txBox="1">
            <a:spLocks noChangeArrowheads="1"/>
          </p:cNvSpPr>
          <p:nvPr/>
        </p:nvSpPr>
        <p:spPr bwMode="auto">
          <a:xfrm>
            <a:off x="3657600" y="533400"/>
            <a:ext cx="18002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市售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 </a:t>
            </a:r>
          </a:p>
        </p:txBody>
      </p:sp>
      <p:sp>
        <p:nvSpPr>
          <p:cNvPr id="1300500" name="Text Box 20"/>
          <p:cNvSpPr txBox="1">
            <a:spLocks noChangeArrowheads="1"/>
          </p:cNvSpPr>
          <p:nvPr/>
        </p:nvSpPr>
        <p:spPr bwMode="auto">
          <a:xfrm>
            <a:off x="3581400" y="2133600"/>
            <a:ext cx="20161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設計</a:t>
            </a:r>
          </a:p>
        </p:txBody>
      </p:sp>
      <p:sp>
        <p:nvSpPr>
          <p:cNvPr id="1300501" name="Text Box 21"/>
          <p:cNvSpPr txBox="1">
            <a:spLocks noChangeArrowheads="1"/>
          </p:cNvSpPr>
          <p:nvPr/>
        </p:nvSpPr>
        <p:spPr bwMode="auto">
          <a:xfrm>
            <a:off x="1676400" y="533400"/>
            <a:ext cx="1727200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en-US" altLang="zh-TW" sz="4000">
                <a:latin typeface="標楷體" pitchFamily="65" charset="-120"/>
              </a:rPr>
              <a:t>Q</a:t>
            </a:r>
            <a:r>
              <a:rPr lang="zh-TW" altLang="en-US" sz="4000">
                <a:latin typeface="標楷體" pitchFamily="65" charset="-120"/>
              </a:rPr>
              <a:t>版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漫畫 </a:t>
            </a:r>
          </a:p>
        </p:txBody>
      </p:sp>
      <p:sp>
        <p:nvSpPr>
          <p:cNvPr id="1300502" name="Text Box 22"/>
          <p:cNvSpPr txBox="1">
            <a:spLocks noChangeArrowheads="1"/>
          </p:cNvSpPr>
          <p:nvPr/>
        </p:nvSpPr>
        <p:spPr bwMode="auto">
          <a:xfrm>
            <a:off x="1524000" y="3505200"/>
            <a:ext cx="2232025" cy="125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3600">
                <a:latin typeface="標楷體" pitchFamily="65" charset="-120"/>
              </a:rPr>
              <a:t>鄉土語言邀請函</a:t>
            </a:r>
            <a:r>
              <a:rPr lang="zh-TW" altLang="en-US" sz="4000">
                <a:latin typeface="標楷體" pitchFamily="65" charset="-120"/>
              </a:rPr>
              <a:t> </a:t>
            </a:r>
          </a:p>
        </p:txBody>
      </p:sp>
      <p:sp>
        <p:nvSpPr>
          <p:cNvPr id="1300503" name="Text Box 23"/>
          <p:cNvSpPr txBox="1">
            <a:spLocks noChangeArrowheads="1"/>
          </p:cNvSpPr>
          <p:nvPr/>
        </p:nvSpPr>
        <p:spPr bwMode="auto">
          <a:xfrm>
            <a:off x="3581400" y="3581400"/>
            <a:ext cx="18732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請廠商設計 </a:t>
            </a:r>
          </a:p>
        </p:txBody>
      </p:sp>
      <p:sp>
        <p:nvSpPr>
          <p:cNvPr id="1300504" name="Text Box 24"/>
          <p:cNvSpPr txBox="1">
            <a:spLocks noChangeArrowheads="1"/>
          </p:cNvSpPr>
          <p:nvPr/>
        </p:nvSpPr>
        <p:spPr bwMode="auto">
          <a:xfrm>
            <a:off x="5715000" y="3810000"/>
            <a:ext cx="19446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明信片 </a:t>
            </a:r>
          </a:p>
        </p:txBody>
      </p:sp>
      <p:sp>
        <p:nvSpPr>
          <p:cNvPr id="1300505" name="Text Box 25"/>
          <p:cNvSpPr txBox="1">
            <a:spLocks noChangeArrowheads="1"/>
          </p:cNvSpPr>
          <p:nvPr/>
        </p:nvSpPr>
        <p:spPr bwMode="auto">
          <a:xfrm>
            <a:off x="5562600" y="1981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照片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 </a:t>
            </a:r>
          </a:p>
        </p:txBody>
      </p:sp>
      <p:sp>
        <p:nvSpPr>
          <p:cNvPr id="1300506" name="Text Box 26"/>
          <p:cNvSpPr txBox="1">
            <a:spLocks noChangeArrowheads="1"/>
          </p:cNvSpPr>
          <p:nvPr/>
        </p:nvSpPr>
        <p:spPr bwMode="auto">
          <a:xfrm>
            <a:off x="1524000" y="2057400"/>
            <a:ext cx="22336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音樂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 </a:t>
            </a:r>
          </a:p>
        </p:txBody>
      </p:sp>
      <p:sp>
        <p:nvSpPr>
          <p:cNvPr id="1300507" name="Oval 27"/>
          <p:cNvSpPr>
            <a:spLocks noChangeArrowheads="1"/>
          </p:cNvSpPr>
          <p:nvPr/>
        </p:nvSpPr>
        <p:spPr bwMode="auto">
          <a:xfrm>
            <a:off x="1219200" y="2057400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00508" name="Oval 28"/>
          <p:cNvSpPr>
            <a:spLocks noChangeArrowheads="1"/>
          </p:cNvSpPr>
          <p:nvPr/>
        </p:nvSpPr>
        <p:spPr bwMode="auto">
          <a:xfrm>
            <a:off x="1143000" y="3581400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00509" name="Oval 29"/>
          <p:cNvSpPr>
            <a:spLocks noChangeArrowheads="1"/>
          </p:cNvSpPr>
          <p:nvPr/>
        </p:nvSpPr>
        <p:spPr bwMode="auto">
          <a:xfrm>
            <a:off x="5257800" y="1981200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00510" name="Text Box 30"/>
          <p:cNvSpPr txBox="1">
            <a:spLocks noChangeArrowheads="1"/>
          </p:cNvSpPr>
          <p:nvPr/>
        </p:nvSpPr>
        <p:spPr bwMode="auto">
          <a:xfrm>
            <a:off x="827088" y="5373688"/>
            <a:ext cx="7777162" cy="124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TW" altLang="en-US" sz="2800">
                <a:latin typeface="標楷體" pitchFamily="65" charset="-120"/>
              </a:rPr>
              <a:t>選擇原因：</a:t>
            </a:r>
            <a:r>
              <a:rPr lang="zh-TW" altLang="en-US" sz="2400">
                <a:latin typeface="標楷體" pitchFamily="65" charset="-120"/>
              </a:rPr>
              <a:t>因為順便舉辦二度婚禮，因此將二度婚紗照 	     作為主要邀請函的樣式，並配上生日快樂歌      和鄉土語言文字，讓大家耳目一新的感覺。</a:t>
            </a:r>
          </a:p>
        </p:txBody>
      </p:sp>
    </p:spTree>
    <p:extLst>
      <p:ext uri="{BB962C8B-B14F-4D97-AF65-F5344CB8AC3E}">
        <p14:creationId xmlns:p14="http://schemas.microsoft.com/office/powerpoint/2010/main" val="12352130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502B8-BD9D-4985-A74A-F1CD3134A56F}" type="slidenum">
              <a:rPr lang="en-US" altLang="zh-TW"/>
              <a:pPr/>
              <a:t>49</a:t>
            </a:fld>
            <a:endParaRPr lang="en-US" altLang="zh-TW"/>
          </a:p>
        </p:txBody>
      </p:sp>
      <p:grpSp>
        <p:nvGrpSpPr>
          <p:cNvPr id="1301506" name="Group 2"/>
          <p:cNvGrpSpPr>
            <a:grpSpLocks noChangeAspect="1"/>
          </p:cNvGrpSpPr>
          <p:nvPr/>
        </p:nvGrpSpPr>
        <p:grpSpPr bwMode="auto">
          <a:xfrm>
            <a:off x="1187450" y="817563"/>
            <a:ext cx="7200900" cy="6040437"/>
            <a:chOff x="2954" y="5380"/>
            <a:chExt cx="4852" cy="4160"/>
          </a:xfrm>
        </p:grpSpPr>
        <p:sp>
          <p:nvSpPr>
            <p:cNvPr id="1301507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1508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1509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1510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1511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1512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1513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301514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301515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301516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301517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301518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301519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301520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  <p:sp>
          <p:nvSpPr>
            <p:cNvPr id="1301521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標楷體" pitchFamily="65" charset="-120"/>
              </a:endParaRPr>
            </a:p>
          </p:txBody>
        </p:sp>
      </p:grpSp>
      <p:sp>
        <p:nvSpPr>
          <p:cNvPr id="1301522" name="Text Box 18"/>
          <p:cNvSpPr txBox="1">
            <a:spLocks noChangeArrowheads="1"/>
          </p:cNvSpPr>
          <p:nvPr/>
        </p:nvSpPr>
        <p:spPr bwMode="auto">
          <a:xfrm>
            <a:off x="6011863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時間</a:t>
            </a:r>
          </a:p>
        </p:txBody>
      </p:sp>
      <p:sp>
        <p:nvSpPr>
          <p:cNvPr id="1301523" name="Text Box 19"/>
          <p:cNvSpPr txBox="1">
            <a:spLocks noChangeArrowheads="1"/>
          </p:cNvSpPr>
          <p:nvPr/>
        </p:nvSpPr>
        <p:spPr bwMode="auto">
          <a:xfrm>
            <a:off x="3924300" y="1700213"/>
            <a:ext cx="180022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地點</a:t>
            </a:r>
          </a:p>
        </p:txBody>
      </p:sp>
      <p:sp>
        <p:nvSpPr>
          <p:cNvPr id="1301524" name="Text Box 20"/>
          <p:cNvSpPr txBox="1">
            <a:spLocks noChangeArrowheads="1"/>
          </p:cNvSpPr>
          <p:nvPr/>
        </p:nvSpPr>
        <p:spPr bwMode="auto">
          <a:xfrm>
            <a:off x="1692275" y="2997200"/>
            <a:ext cx="2016125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邀請函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設計</a:t>
            </a:r>
          </a:p>
        </p:txBody>
      </p:sp>
      <p:sp>
        <p:nvSpPr>
          <p:cNvPr id="1301525" name="Text Box 21"/>
          <p:cNvSpPr txBox="1">
            <a:spLocks noChangeArrowheads="1"/>
          </p:cNvSpPr>
          <p:nvPr/>
        </p:nvSpPr>
        <p:spPr bwMode="auto">
          <a:xfrm>
            <a:off x="1908175" y="1700213"/>
            <a:ext cx="17272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節目</a:t>
            </a:r>
          </a:p>
        </p:txBody>
      </p:sp>
      <p:sp>
        <p:nvSpPr>
          <p:cNvPr id="1301526" name="Text Box 22"/>
          <p:cNvSpPr txBox="1">
            <a:spLocks noChangeArrowheads="1"/>
          </p:cNvSpPr>
          <p:nvPr/>
        </p:nvSpPr>
        <p:spPr bwMode="auto">
          <a:xfrm>
            <a:off x="1763713" y="4579938"/>
            <a:ext cx="1944687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餐點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準備</a:t>
            </a:r>
          </a:p>
        </p:txBody>
      </p:sp>
      <p:sp>
        <p:nvSpPr>
          <p:cNvPr id="1301527" name="Text Box 23"/>
          <p:cNvSpPr txBox="1">
            <a:spLocks noChangeArrowheads="1"/>
          </p:cNvSpPr>
          <p:nvPr/>
        </p:nvSpPr>
        <p:spPr bwMode="auto">
          <a:xfrm>
            <a:off x="3851275" y="4868863"/>
            <a:ext cx="18732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800">
                <a:latin typeface="標楷體" pitchFamily="65" charset="-120"/>
              </a:rPr>
              <a:t>禮物</a:t>
            </a:r>
          </a:p>
        </p:txBody>
      </p:sp>
      <p:sp>
        <p:nvSpPr>
          <p:cNvPr id="1301528" name="Text Box 24"/>
          <p:cNvSpPr txBox="1">
            <a:spLocks noChangeArrowheads="1"/>
          </p:cNvSpPr>
          <p:nvPr/>
        </p:nvSpPr>
        <p:spPr bwMode="auto">
          <a:xfrm>
            <a:off x="5867400" y="4579938"/>
            <a:ext cx="1944688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參與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人員</a:t>
            </a:r>
          </a:p>
        </p:txBody>
      </p:sp>
      <p:sp>
        <p:nvSpPr>
          <p:cNvPr id="1301529" name="Text Box 25"/>
          <p:cNvSpPr txBox="1">
            <a:spLocks noChangeArrowheads="1"/>
          </p:cNvSpPr>
          <p:nvPr/>
        </p:nvSpPr>
        <p:spPr bwMode="auto">
          <a:xfrm>
            <a:off x="5867400" y="2997200"/>
            <a:ext cx="2017713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4000">
                <a:latin typeface="標楷體" pitchFamily="65" charset="-120"/>
              </a:rPr>
              <a:t>舉行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方式</a:t>
            </a:r>
          </a:p>
        </p:txBody>
      </p:sp>
      <p:sp>
        <p:nvSpPr>
          <p:cNvPr id="1301530" name="Text Box 26"/>
          <p:cNvSpPr txBox="1">
            <a:spLocks noChangeArrowheads="1"/>
          </p:cNvSpPr>
          <p:nvPr/>
        </p:nvSpPr>
        <p:spPr bwMode="auto">
          <a:xfrm>
            <a:off x="3708400" y="3141663"/>
            <a:ext cx="223361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TW" altLang="en-US" sz="3200">
                <a:latin typeface="標楷體" pitchFamily="65" charset="-120"/>
              </a:rPr>
              <a:t>生日</a:t>
            </a:r>
            <a:r>
              <a:rPr lang="en-US" altLang="zh-TW" sz="3200">
                <a:latin typeface="標楷體" pitchFamily="65" charset="-120"/>
              </a:rPr>
              <a:t>party</a:t>
            </a:r>
            <a:r>
              <a:rPr lang="zh-TW" altLang="en-US" sz="3200">
                <a:latin typeface="標楷體" pitchFamily="65" charset="-120"/>
              </a:rPr>
              <a:t>舉行</a:t>
            </a:r>
          </a:p>
        </p:txBody>
      </p:sp>
      <p:sp>
        <p:nvSpPr>
          <p:cNvPr id="1301531" name="Oval 27"/>
          <p:cNvSpPr>
            <a:spLocks noChangeArrowheads="1"/>
          </p:cNvSpPr>
          <p:nvPr/>
        </p:nvSpPr>
        <p:spPr bwMode="auto">
          <a:xfrm>
            <a:off x="1258888" y="1412875"/>
            <a:ext cx="2808287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01532" name="Text Box 28"/>
          <p:cNvSpPr txBox="1">
            <a:spLocks noChangeArrowheads="1"/>
          </p:cNvSpPr>
          <p:nvPr/>
        </p:nvSpPr>
        <p:spPr bwMode="auto">
          <a:xfrm>
            <a:off x="684213" y="333375"/>
            <a:ext cx="50403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4400" b="1">
                <a:latin typeface="Arial" charset="0"/>
              </a:rPr>
              <a:t>由節目進行分析</a:t>
            </a:r>
          </a:p>
        </p:txBody>
      </p:sp>
    </p:spTree>
    <p:extLst>
      <p:ext uri="{BB962C8B-B14F-4D97-AF65-F5344CB8AC3E}">
        <p14:creationId xmlns:p14="http://schemas.microsoft.com/office/powerpoint/2010/main" val="17279874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71225-B45D-4079-8148-917724ECD95E}" type="slidenum">
              <a:rPr lang="en-US" altLang="zh-TW"/>
              <a:pPr/>
              <a:t>50</a:t>
            </a:fld>
            <a:endParaRPr lang="en-US" altLang="zh-TW"/>
          </a:p>
        </p:txBody>
      </p:sp>
      <p:grpSp>
        <p:nvGrpSpPr>
          <p:cNvPr id="1302530" name="Group 2"/>
          <p:cNvGrpSpPr>
            <a:grpSpLocks noChangeAspect="1"/>
          </p:cNvGrpSpPr>
          <p:nvPr/>
        </p:nvGrpSpPr>
        <p:grpSpPr bwMode="auto">
          <a:xfrm>
            <a:off x="1187450" y="0"/>
            <a:ext cx="7200900" cy="6040438"/>
            <a:chOff x="2954" y="5380"/>
            <a:chExt cx="4852" cy="4160"/>
          </a:xfrm>
        </p:grpSpPr>
        <p:sp>
          <p:nvSpPr>
            <p:cNvPr id="1302531" name="AutoShape 3"/>
            <p:cNvSpPr>
              <a:spLocks noChangeAspect="1" noChangeArrowheads="1"/>
            </p:cNvSpPr>
            <p:nvPr/>
          </p:nvSpPr>
          <p:spPr bwMode="auto">
            <a:xfrm>
              <a:off x="2954" y="5380"/>
              <a:ext cx="4852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2532" name="Rectangle 4"/>
            <p:cNvSpPr>
              <a:spLocks noChangeArrowheads="1"/>
            </p:cNvSpPr>
            <p:nvPr/>
          </p:nvSpPr>
          <p:spPr bwMode="auto">
            <a:xfrm>
              <a:off x="3267" y="5700"/>
              <a:ext cx="4226" cy="33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2533" name="Line 5"/>
            <p:cNvSpPr>
              <a:spLocks noChangeShapeType="1"/>
            </p:cNvSpPr>
            <p:nvPr/>
          </p:nvSpPr>
          <p:spPr bwMode="auto">
            <a:xfrm>
              <a:off x="3267" y="6820"/>
              <a:ext cx="42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2534" name="Line 6"/>
            <p:cNvSpPr>
              <a:spLocks noChangeShapeType="1"/>
            </p:cNvSpPr>
            <p:nvPr/>
          </p:nvSpPr>
          <p:spPr bwMode="auto">
            <a:xfrm>
              <a:off x="3267" y="7940"/>
              <a:ext cx="42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2535" name="Line 7"/>
            <p:cNvSpPr>
              <a:spLocks noChangeShapeType="1"/>
            </p:cNvSpPr>
            <p:nvPr/>
          </p:nvSpPr>
          <p:spPr bwMode="auto">
            <a:xfrm>
              <a:off x="4675" y="5700"/>
              <a:ext cx="0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2536" name="Line 8"/>
            <p:cNvSpPr>
              <a:spLocks noChangeShapeType="1"/>
            </p:cNvSpPr>
            <p:nvPr/>
          </p:nvSpPr>
          <p:spPr bwMode="auto">
            <a:xfrm>
              <a:off x="6084" y="5700"/>
              <a:ext cx="1" cy="3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2537" name="Text Box 9"/>
            <p:cNvSpPr txBox="1">
              <a:spLocks noChangeArrowheads="1"/>
            </p:cNvSpPr>
            <p:nvPr/>
          </p:nvSpPr>
          <p:spPr bwMode="auto">
            <a:xfrm>
              <a:off x="3423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2538" name="Text Box 10"/>
            <p:cNvSpPr txBox="1">
              <a:spLocks noChangeArrowheads="1"/>
            </p:cNvSpPr>
            <p:nvPr/>
          </p:nvSpPr>
          <p:spPr bwMode="auto">
            <a:xfrm>
              <a:off x="4832" y="6020"/>
              <a:ext cx="109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2539" name="Text Box 11"/>
            <p:cNvSpPr txBox="1">
              <a:spLocks noChangeArrowheads="1"/>
            </p:cNvSpPr>
            <p:nvPr/>
          </p:nvSpPr>
          <p:spPr bwMode="auto">
            <a:xfrm>
              <a:off x="6240" y="6020"/>
              <a:ext cx="10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2540" name="Text Box 12"/>
            <p:cNvSpPr txBox="1">
              <a:spLocks noChangeArrowheads="1"/>
            </p:cNvSpPr>
            <p:nvPr/>
          </p:nvSpPr>
          <p:spPr bwMode="auto">
            <a:xfrm>
              <a:off x="6240" y="7140"/>
              <a:ext cx="109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2541" name="Text Box 13"/>
            <p:cNvSpPr txBox="1">
              <a:spLocks noChangeArrowheads="1"/>
            </p:cNvSpPr>
            <p:nvPr/>
          </p:nvSpPr>
          <p:spPr bwMode="auto">
            <a:xfrm>
              <a:off x="6240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2542" name="Text Box 14"/>
            <p:cNvSpPr txBox="1">
              <a:spLocks noChangeArrowheads="1"/>
            </p:cNvSpPr>
            <p:nvPr/>
          </p:nvSpPr>
          <p:spPr bwMode="auto">
            <a:xfrm>
              <a:off x="4832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2543" name="Text Box 15"/>
            <p:cNvSpPr txBox="1">
              <a:spLocks noChangeArrowheads="1"/>
            </p:cNvSpPr>
            <p:nvPr/>
          </p:nvSpPr>
          <p:spPr bwMode="auto">
            <a:xfrm>
              <a:off x="3423" y="810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2544" name="Text Box 16"/>
            <p:cNvSpPr txBox="1">
              <a:spLocks noChangeArrowheads="1"/>
            </p:cNvSpPr>
            <p:nvPr/>
          </p:nvSpPr>
          <p:spPr bwMode="auto">
            <a:xfrm>
              <a:off x="3423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  <p:sp>
          <p:nvSpPr>
            <p:cNvPr id="1302545" name="Text Box 17"/>
            <p:cNvSpPr txBox="1">
              <a:spLocks noChangeArrowheads="1"/>
            </p:cNvSpPr>
            <p:nvPr/>
          </p:nvSpPr>
          <p:spPr bwMode="auto">
            <a:xfrm>
              <a:off x="4832" y="7140"/>
              <a:ext cx="109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zh-TW" b="1">
                <a:latin typeface="Arial" charset="0"/>
                <a:ea typeface="新細明體" pitchFamily="18" charset="-120"/>
              </a:endParaRPr>
            </a:p>
          </p:txBody>
        </p:sp>
      </p:grpSp>
      <p:sp>
        <p:nvSpPr>
          <p:cNvPr id="1302546" name="Text Box 18"/>
          <p:cNvSpPr txBox="1">
            <a:spLocks noChangeArrowheads="1"/>
          </p:cNvSpPr>
          <p:nvPr/>
        </p:nvSpPr>
        <p:spPr bwMode="auto">
          <a:xfrm>
            <a:off x="5938838" y="620713"/>
            <a:ext cx="1800225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魔術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表演</a:t>
            </a:r>
          </a:p>
        </p:txBody>
      </p:sp>
      <p:sp>
        <p:nvSpPr>
          <p:cNvPr id="1302547" name="Text Box 19"/>
          <p:cNvSpPr txBox="1">
            <a:spLocks noChangeArrowheads="1"/>
          </p:cNvSpPr>
          <p:nvPr/>
        </p:nvSpPr>
        <p:spPr bwMode="auto">
          <a:xfrm>
            <a:off x="3779838" y="763588"/>
            <a:ext cx="2160587" cy="96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2800">
                <a:latin typeface="標楷體" pitchFamily="65" charset="-120"/>
              </a:rPr>
              <a:t>婚禮進行</a:t>
            </a:r>
          </a:p>
          <a:p>
            <a:pPr algn="ctr">
              <a:spcBef>
                <a:spcPct val="5000"/>
              </a:spcBef>
            </a:pPr>
            <a:r>
              <a:rPr lang="zh-TW" altLang="en-US" sz="2800">
                <a:latin typeface="標楷體" pitchFamily="65" charset="-120"/>
              </a:rPr>
              <a:t>與慶生</a:t>
            </a:r>
            <a:endParaRPr lang="zh-TW" altLang="en-US" sz="4000">
              <a:latin typeface="標楷體" pitchFamily="65" charset="-120"/>
            </a:endParaRPr>
          </a:p>
        </p:txBody>
      </p:sp>
      <p:sp>
        <p:nvSpPr>
          <p:cNvPr id="1302548" name="Text Box 20"/>
          <p:cNvSpPr txBox="1">
            <a:spLocks noChangeArrowheads="1"/>
          </p:cNvSpPr>
          <p:nvPr/>
        </p:nvSpPr>
        <p:spPr bwMode="auto">
          <a:xfrm>
            <a:off x="1692275" y="2636838"/>
            <a:ext cx="20161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摸彩 </a:t>
            </a:r>
          </a:p>
        </p:txBody>
      </p:sp>
      <p:sp>
        <p:nvSpPr>
          <p:cNvPr id="1302549" name="Text Box 21"/>
          <p:cNvSpPr txBox="1">
            <a:spLocks noChangeArrowheads="1"/>
          </p:cNvSpPr>
          <p:nvPr/>
        </p:nvSpPr>
        <p:spPr bwMode="auto">
          <a:xfrm>
            <a:off x="1835150" y="620713"/>
            <a:ext cx="1727200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餘興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遊戲 </a:t>
            </a:r>
          </a:p>
        </p:txBody>
      </p:sp>
      <p:sp>
        <p:nvSpPr>
          <p:cNvPr id="1302550" name="Text Box 22"/>
          <p:cNvSpPr txBox="1">
            <a:spLocks noChangeArrowheads="1"/>
          </p:cNvSpPr>
          <p:nvPr/>
        </p:nvSpPr>
        <p:spPr bwMode="auto">
          <a:xfrm>
            <a:off x="1692275" y="3932238"/>
            <a:ext cx="19446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子孫才藝表演 </a:t>
            </a:r>
          </a:p>
        </p:txBody>
      </p:sp>
      <p:sp>
        <p:nvSpPr>
          <p:cNvPr id="1302551" name="Text Box 23"/>
          <p:cNvSpPr txBox="1">
            <a:spLocks noChangeArrowheads="1"/>
          </p:cNvSpPr>
          <p:nvPr/>
        </p:nvSpPr>
        <p:spPr bwMode="auto">
          <a:xfrm>
            <a:off x="3779838" y="3932238"/>
            <a:ext cx="18732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講笑話比賽 </a:t>
            </a:r>
          </a:p>
        </p:txBody>
      </p:sp>
      <p:sp>
        <p:nvSpPr>
          <p:cNvPr id="1302552" name="Text Box 24"/>
          <p:cNvSpPr txBox="1">
            <a:spLocks noChangeArrowheads="1"/>
          </p:cNvSpPr>
          <p:nvPr/>
        </p:nvSpPr>
        <p:spPr bwMode="auto">
          <a:xfrm>
            <a:off x="5867400" y="3932238"/>
            <a:ext cx="1944688" cy="134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歌唱</a:t>
            </a:r>
          </a:p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比賽 </a:t>
            </a:r>
          </a:p>
        </p:txBody>
      </p:sp>
      <p:sp>
        <p:nvSpPr>
          <p:cNvPr id="1302553" name="Text Box 25"/>
          <p:cNvSpPr txBox="1">
            <a:spLocks noChangeArrowheads="1"/>
          </p:cNvSpPr>
          <p:nvPr/>
        </p:nvSpPr>
        <p:spPr bwMode="auto">
          <a:xfrm>
            <a:off x="5867400" y="2636838"/>
            <a:ext cx="2017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鋼管秀 </a:t>
            </a:r>
          </a:p>
        </p:txBody>
      </p:sp>
      <p:sp>
        <p:nvSpPr>
          <p:cNvPr id="1302554" name="Text Box 26"/>
          <p:cNvSpPr txBox="1">
            <a:spLocks noChangeArrowheads="1"/>
          </p:cNvSpPr>
          <p:nvPr/>
        </p:nvSpPr>
        <p:spPr bwMode="auto">
          <a:xfrm>
            <a:off x="3708400" y="2636838"/>
            <a:ext cx="22336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zh-TW" altLang="en-US" sz="4000">
                <a:latin typeface="標楷體" pitchFamily="65" charset="-120"/>
              </a:rPr>
              <a:t>節目</a:t>
            </a:r>
          </a:p>
        </p:txBody>
      </p:sp>
      <p:sp>
        <p:nvSpPr>
          <p:cNvPr id="1302555" name="Oval 27"/>
          <p:cNvSpPr>
            <a:spLocks noChangeArrowheads="1"/>
          </p:cNvSpPr>
          <p:nvPr/>
        </p:nvSpPr>
        <p:spPr bwMode="auto">
          <a:xfrm>
            <a:off x="1258888" y="2420938"/>
            <a:ext cx="2808287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02556" name="Oval 28"/>
          <p:cNvSpPr>
            <a:spLocks noChangeArrowheads="1"/>
          </p:cNvSpPr>
          <p:nvPr/>
        </p:nvSpPr>
        <p:spPr bwMode="auto">
          <a:xfrm>
            <a:off x="3492500" y="620713"/>
            <a:ext cx="2808288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02557" name="Oval 29"/>
          <p:cNvSpPr>
            <a:spLocks noChangeArrowheads="1"/>
          </p:cNvSpPr>
          <p:nvPr/>
        </p:nvSpPr>
        <p:spPr bwMode="auto">
          <a:xfrm>
            <a:off x="5580063" y="4003675"/>
            <a:ext cx="2808287" cy="1295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02558" name="Text Box 30"/>
          <p:cNvSpPr txBox="1">
            <a:spLocks noChangeArrowheads="1"/>
          </p:cNvSpPr>
          <p:nvPr/>
        </p:nvSpPr>
        <p:spPr bwMode="auto">
          <a:xfrm>
            <a:off x="900113" y="5484813"/>
            <a:ext cx="777716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TW" altLang="en-US" sz="2400">
                <a:latin typeface="標楷體" pitchFamily="65" charset="-120"/>
              </a:rPr>
              <a:t>選擇原因：婚禮和生日可一同進行，在之後舉辦歌唱大	     賽並針對有上台表演的小孩舉行摸彩活動，   獲得冠軍的人可得到爺爺準備之精緻獎品。</a:t>
            </a:r>
          </a:p>
        </p:txBody>
      </p:sp>
    </p:spTree>
    <p:extLst>
      <p:ext uri="{BB962C8B-B14F-4D97-AF65-F5344CB8AC3E}">
        <p14:creationId xmlns:p14="http://schemas.microsoft.com/office/powerpoint/2010/main" val="18334858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554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052513"/>
            <a:ext cx="8229600" cy="50736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TW">
                <a:latin typeface="標楷體" pitchFamily="65" charset="-120"/>
                <a:ea typeface="標楷體" pitchFamily="65" charset="-120"/>
              </a:rPr>
              <a:t>	</a:t>
            </a:r>
            <a:r>
              <a:rPr lang="zh-TW" altLang="en-US" sz="4000" b="1">
                <a:latin typeface="標楷體" pitchFamily="65" charset="-120"/>
                <a:ea typeface="標楷體" pitchFamily="65" charset="-120"/>
              </a:rPr>
              <a:t>由曼陀羅所得的結果如下：</a:t>
            </a:r>
          </a:p>
          <a:p>
            <a:pPr>
              <a:buFont typeface="Wingdings" pitchFamily="2" charset="2"/>
              <a:buNone/>
            </a:pPr>
            <a:endParaRPr lang="en-US" altLang="zh-TW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CA20-97DD-49EA-B1CD-D710FA059A1A}" type="slidenum">
              <a:rPr lang="en-US" altLang="zh-TW"/>
              <a:pPr/>
              <a:t>51</a:t>
            </a:fld>
            <a:endParaRPr lang="en-US" altLang="zh-TW"/>
          </a:p>
        </p:txBody>
      </p:sp>
      <p:sp>
        <p:nvSpPr>
          <p:cNvPr id="1303555" name="Rectangle 3"/>
          <p:cNvSpPr>
            <a:spLocks noChangeArrowheads="1"/>
          </p:cNvSpPr>
          <p:nvPr/>
        </p:nvSpPr>
        <p:spPr bwMode="auto">
          <a:xfrm>
            <a:off x="1331913" y="1916113"/>
            <a:ext cx="6335712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TW" altLang="en-US" sz="3200">
                <a:latin typeface="標楷體" pitchFamily="65" charset="-120"/>
              </a:rPr>
              <a:t>時間：星期六下午兩點開始</a:t>
            </a:r>
          </a:p>
          <a:p>
            <a:r>
              <a:rPr lang="zh-TW" altLang="en-US" sz="3200">
                <a:latin typeface="標楷體" pitchFamily="65" charset="-120"/>
              </a:rPr>
              <a:t>地點：高級餐廳、</a:t>
            </a:r>
            <a:r>
              <a:rPr lang="en-US" altLang="zh-TW" sz="3200">
                <a:latin typeface="標楷體" pitchFamily="65" charset="-120"/>
              </a:rPr>
              <a:t>KTV</a:t>
            </a:r>
          </a:p>
          <a:p>
            <a:r>
              <a:rPr lang="zh-TW" altLang="en-US" sz="3200">
                <a:latin typeface="標楷體" pitchFamily="65" charset="-120"/>
              </a:rPr>
              <a:t>舉行方式：二度婚禮、小型演唱會</a:t>
            </a:r>
          </a:p>
          <a:p>
            <a:r>
              <a:rPr lang="zh-TW" altLang="en-US" sz="3200">
                <a:latin typeface="標楷體" pitchFamily="65" charset="-120"/>
              </a:rPr>
              <a:t>禮物：空白支票</a:t>
            </a:r>
          </a:p>
          <a:p>
            <a:r>
              <a:rPr lang="zh-TW" altLang="en-US" sz="3200">
                <a:latin typeface="標楷體" pitchFamily="65" charset="-120"/>
              </a:rPr>
              <a:t>餐點準備：下午茶點、自助餐</a:t>
            </a:r>
          </a:p>
          <a:p>
            <a:r>
              <a:rPr lang="zh-TW" altLang="en-US" sz="3200">
                <a:latin typeface="標楷體" pitchFamily="65" charset="-120"/>
              </a:rPr>
              <a:t>邀請函設計：照片</a:t>
            </a:r>
            <a:r>
              <a:rPr lang="en-US" altLang="zh-TW" sz="3200">
                <a:latin typeface="標楷體" pitchFamily="65" charset="-120"/>
              </a:rPr>
              <a:t>+</a:t>
            </a:r>
            <a:r>
              <a:rPr lang="zh-TW" altLang="en-US" sz="3200">
                <a:latin typeface="標楷體" pitchFamily="65" charset="-120"/>
              </a:rPr>
              <a:t>音樂</a:t>
            </a:r>
            <a:r>
              <a:rPr lang="en-US" altLang="zh-TW" sz="3200">
                <a:latin typeface="標楷體" pitchFamily="65" charset="-120"/>
              </a:rPr>
              <a:t>+</a:t>
            </a:r>
            <a:r>
              <a:rPr lang="zh-TW" altLang="en-US" sz="3200">
                <a:latin typeface="標楷體" pitchFamily="65" charset="-120"/>
              </a:rPr>
              <a:t>鄉土</a:t>
            </a:r>
          </a:p>
          <a:p>
            <a:r>
              <a:rPr lang="zh-TW" altLang="en-US" sz="3200">
                <a:latin typeface="標楷體" pitchFamily="65" charset="-120"/>
              </a:rPr>
              <a:t>節目內容：歌唱比賽、婚禮進行</a:t>
            </a:r>
          </a:p>
          <a:p>
            <a:r>
              <a:rPr lang="zh-TW" altLang="en-US" sz="3200">
                <a:latin typeface="標楷體" pitchFamily="65" charset="-120"/>
              </a:rPr>
              <a:t>          與慶生、摸彩</a:t>
            </a:r>
          </a:p>
        </p:txBody>
      </p:sp>
    </p:spTree>
    <p:extLst>
      <p:ext uri="{BB962C8B-B14F-4D97-AF65-F5344CB8AC3E}">
        <p14:creationId xmlns:p14="http://schemas.microsoft.com/office/powerpoint/2010/main" val="42899891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創新策略思考的原則與條件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創意原則：</a:t>
            </a:r>
          </a:p>
          <a:p>
            <a:r>
              <a:rPr lang="en-US" altLang="zh-TW" dirty="0"/>
              <a:t>1.</a:t>
            </a:r>
            <a:r>
              <a:rPr lang="zh-TW" altLang="en-US" dirty="0"/>
              <a:t>邏輯，是創新思考中最重要的工具。</a:t>
            </a:r>
            <a:r>
              <a:rPr lang="en-US" altLang="zh-TW" dirty="0"/>
              <a:t>(</a:t>
            </a:r>
            <a:r>
              <a:rPr lang="zh-TW" altLang="en-US" dirty="0"/>
              <a:t>邏輯推理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評估，需思考與計算創意的價值</a:t>
            </a:r>
            <a:r>
              <a:rPr lang="en-US" altLang="zh-TW" dirty="0"/>
              <a:t>→</a:t>
            </a:r>
            <a:r>
              <a:rPr lang="zh-TW" altLang="en-US" dirty="0"/>
              <a:t>過去、現在、未來</a:t>
            </a:r>
          </a:p>
          <a:p>
            <a:r>
              <a:rPr lang="en-US" altLang="zh-TW" dirty="0"/>
              <a:t>3.</a:t>
            </a:r>
            <a:r>
              <a:rPr lang="zh-TW" altLang="en-US" dirty="0"/>
              <a:t>策略，找出思考路徑，並且能敘述講出合理的故事。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順序：從既定的其他答案→思考應用過程→找出更合理的答案</a:t>
            </a:r>
          </a:p>
          <a:p>
            <a:r>
              <a:rPr lang="en-US" altLang="zh-TW" dirty="0"/>
              <a:t>5.</a:t>
            </a:r>
            <a:r>
              <a:rPr lang="zh-TW" altLang="en-US" dirty="0"/>
              <a:t>成本：思考最核心的問題本質，而非思考細節。</a:t>
            </a:r>
          </a:p>
          <a:p>
            <a:r>
              <a:rPr lang="en-US" altLang="zh-TW" dirty="0"/>
              <a:t>6.</a:t>
            </a:r>
            <a:r>
              <a:rPr lang="zh-TW" altLang="en-US" dirty="0"/>
              <a:t>原則：執行要認真負責，而採用的方法要投機偷懶。</a:t>
            </a:r>
            <a:endParaRPr lang="en-US" altLang="zh-TW" dirty="0"/>
          </a:p>
          <a:p>
            <a:r>
              <a:rPr lang="en-US" altLang="zh-TW" dirty="0"/>
              <a:t>7.</a:t>
            </a:r>
            <a:r>
              <a:rPr lang="zh-TW" altLang="en-US" dirty="0"/>
              <a:t>條件：擁有龐大的背景知識很重要 </a:t>
            </a:r>
            <a:r>
              <a:rPr lang="en-US" altLang="zh-TW" dirty="0"/>
              <a:t>(</a:t>
            </a:r>
            <a:r>
              <a:rPr lang="zh-TW" altLang="en-US" dirty="0"/>
              <a:t>要建構自己的知識資料庫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74736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8444EC-9103-43FA-B7DD-C2998123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分享結束 謝謝聆聽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0BB5E2-45EB-4ADE-87AC-3A68DFD4E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白乃遠 老師</a:t>
            </a:r>
            <a:endParaRPr lang="en-US" altLang="zh-TW" dirty="0"/>
          </a:p>
          <a:p>
            <a:r>
              <a:rPr lang="zh-TW" altLang="en-US" dirty="0"/>
              <a:t>國立台灣科技大學</a:t>
            </a:r>
            <a:r>
              <a:rPr lang="en-US" altLang="zh-TW" dirty="0"/>
              <a:t>/</a:t>
            </a:r>
            <a:r>
              <a:rPr lang="zh-TW" altLang="en-US" dirty="0"/>
              <a:t>設計研究所</a:t>
            </a:r>
            <a:r>
              <a:rPr lang="en-US" altLang="zh-TW" dirty="0"/>
              <a:t>/</a:t>
            </a:r>
            <a:r>
              <a:rPr lang="zh-TW" altLang="en-US" dirty="0"/>
              <a:t>博士後研究</a:t>
            </a:r>
            <a:endParaRPr lang="en-US" altLang="zh-TW" dirty="0"/>
          </a:p>
          <a:p>
            <a:r>
              <a:rPr lang="zh-TW" altLang="en-US" dirty="0"/>
              <a:t>國立雲林科技大學</a:t>
            </a:r>
            <a:r>
              <a:rPr lang="en-US" altLang="zh-TW" dirty="0"/>
              <a:t>/</a:t>
            </a:r>
            <a:r>
              <a:rPr lang="zh-TW" altLang="en-US" dirty="0"/>
              <a:t>企業管理系</a:t>
            </a:r>
            <a:r>
              <a:rPr lang="en-US" altLang="zh-TW" dirty="0"/>
              <a:t>/</a:t>
            </a:r>
            <a:r>
              <a:rPr lang="zh-TW" altLang="en-US" dirty="0"/>
              <a:t>科技管理組</a:t>
            </a:r>
            <a:r>
              <a:rPr lang="en-US" altLang="zh-TW" dirty="0"/>
              <a:t>/</a:t>
            </a:r>
            <a:r>
              <a:rPr lang="zh-TW" altLang="en-US" dirty="0"/>
              <a:t>博士</a:t>
            </a:r>
            <a:endParaRPr lang="en-US" altLang="zh-TW" dirty="0"/>
          </a:p>
          <a:p>
            <a:r>
              <a:rPr lang="zh-TW" altLang="en-US" dirty="0"/>
              <a:t>國立交通大學</a:t>
            </a:r>
            <a:r>
              <a:rPr lang="en-US" altLang="zh-TW" dirty="0"/>
              <a:t>/</a:t>
            </a:r>
            <a:r>
              <a:rPr lang="zh-TW" altLang="en-US" dirty="0"/>
              <a:t>應用技術研究所</a:t>
            </a:r>
            <a:r>
              <a:rPr lang="en-US" altLang="zh-TW" dirty="0"/>
              <a:t>/</a:t>
            </a:r>
            <a:r>
              <a:rPr lang="zh-TW" altLang="en-US" dirty="0"/>
              <a:t>碩士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現職</a:t>
            </a:r>
            <a:endParaRPr lang="en-US" altLang="zh-TW" dirty="0"/>
          </a:p>
          <a:p>
            <a:r>
              <a:rPr lang="zh-TW" altLang="en-US" dirty="0"/>
              <a:t>國立雲林科技大學</a:t>
            </a:r>
            <a:r>
              <a:rPr lang="en-US" altLang="zh-TW" dirty="0"/>
              <a:t>/</a:t>
            </a:r>
            <a:r>
              <a:rPr lang="zh-TW" altLang="en-US" dirty="0"/>
              <a:t>數位媒體設計系</a:t>
            </a:r>
            <a:r>
              <a:rPr lang="en-US" altLang="zh-TW" dirty="0"/>
              <a:t>/</a:t>
            </a:r>
            <a:r>
              <a:rPr lang="zh-TW" altLang="en-US" dirty="0"/>
              <a:t>助理教授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4588602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多面向</Template>
  <TotalTime>541</TotalTime>
  <Words>3791</Words>
  <Application>Microsoft Office PowerPoint</Application>
  <PresentationFormat>如螢幕大小 (4:3)</PresentationFormat>
  <Paragraphs>628</Paragraphs>
  <Slides>53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62" baseType="lpstr">
      <vt:lpstr>標楷體</vt:lpstr>
      <vt:lpstr>Arial</vt:lpstr>
      <vt:lpstr>Calibri</vt:lpstr>
      <vt:lpstr>Garamond</vt:lpstr>
      <vt:lpstr>Times New Roman</vt:lpstr>
      <vt:lpstr>Trebuchet MS</vt:lpstr>
      <vt:lpstr>Wingdings</vt:lpstr>
      <vt:lpstr>Wingdings 3</vt:lpstr>
      <vt:lpstr>多面向</vt:lpstr>
      <vt:lpstr>創新策略基本力 快速創意矩陣思考力</vt:lpstr>
      <vt:lpstr>PowerPoint 簡報</vt:lpstr>
      <vt:lpstr>創新策略思考 思考其實具有一定的邏輯流程</vt:lpstr>
      <vt:lpstr>最有可能被撿走的作品就是： 什麼都不畫，只在圖畫紙上貼上一張仟元鈔票。</vt:lpstr>
      <vt:lpstr>創新策略矩陣思考的前提</vt:lpstr>
      <vt:lpstr>創意矩陣思考力 一、快速聯想法</vt:lpstr>
      <vt:lpstr>岳飛—會讓你想到什麼?</vt:lpstr>
      <vt:lpstr>最有趣答案</vt:lpstr>
      <vt:lpstr>最有趣答案 通常都是由最多可能的答案中找出來的。</vt:lpstr>
      <vt:lpstr>快速創意思考練習： 筷子除了吃飯還能做什麼？</vt:lpstr>
      <vt:lpstr>人類的基本思考模式： 1維思考，想一個算一個。 這樣比較簡單，但是會越來越難想。</vt:lpstr>
      <vt:lpstr>創意矩陣思考力訓練- 讓創意點子從1維轉成2維</vt:lpstr>
      <vt:lpstr>創意矩陣分析法-把加法的思考改為乘法的思考</vt:lpstr>
      <vt:lpstr>如何讓自己不會遲到？ 或者重新問一個新問題： 鬧鐘可以如何叫人起床？</vt:lpstr>
      <vt:lpstr>再重新問一個問題： 如何設計一個有趣且容易叫人起床的鬧鐘</vt:lpstr>
      <vt:lpstr>回到我們剛剛的問題 筷子除了吃飯以外還能做什麼？ 從創意矩陣中進行分析找到更多可能</vt:lpstr>
      <vt:lpstr>筷子的應用(一)</vt:lpstr>
      <vt:lpstr>筷子的應用(二)</vt:lpstr>
      <vt:lpstr>創意矩陣應用工具-概念矩陣 改善 YouBike 的體驗及提升每日的周轉率 </vt:lpstr>
      <vt:lpstr>創意矩陣應用工具-顧客旅程地圖 改善顧客歸還YouBike時無車位的體驗</vt:lpstr>
      <vt:lpstr>PowerPoint 簡報</vt:lpstr>
      <vt:lpstr>PowerPoint 簡報</vt:lpstr>
      <vt:lpstr>PowerPoint 簡報</vt:lpstr>
      <vt:lpstr>創意矩陣思考的應用方法 二、重點抓取法</vt:lpstr>
      <vt:lpstr>重點抓取法 提問：怎樣才能更高？</vt:lpstr>
      <vt:lpstr>重點抓取法 一個簡單但有趣的範例： 很難處理的歷史命題任務</vt:lpstr>
      <vt:lpstr>PowerPoint 簡報</vt:lpstr>
      <vt:lpstr>PowerPoint 簡報</vt:lpstr>
      <vt:lpstr>PowerPoint 簡報</vt:lpstr>
      <vt:lpstr>變形創意矩陣的延伸方法： 創造性問題解決CPS Creative Problem Solving</vt:lpstr>
      <vt:lpstr>三、曼陀羅Memo思考技法的教學</vt:lpstr>
      <vt:lpstr>PowerPoint 簡報</vt:lpstr>
      <vt:lpstr>PowerPoint 簡報</vt:lpstr>
      <vt:lpstr>前言 </vt:lpstr>
      <vt:lpstr>動機(重要且緊急的事件)</vt:lpstr>
      <vt:lpstr>（一）曼陀羅法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創新策略思考的原則與條件</vt:lpstr>
      <vt:lpstr>分享結束 謝謝聆聽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創意的方法</dc:title>
  <dc:creator>Billy</dc:creator>
  <cp:lastModifiedBy>乃遠 白</cp:lastModifiedBy>
  <cp:revision>24</cp:revision>
  <dcterms:created xsi:type="dcterms:W3CDTF">2013-07-14T13:41:13Z</dcterms:created>
  <dcterms:modified xsi:type="dcterms:W3CDTF">2024-04-18T22:59:54Z</dcterms:modified>
</cp:coreProperties>
</file>