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1" r:id="rId1"/>
  </p:sldMasterIdLst>
  <p:notesMasterIdLst>
    <p:notesMasterId r:id="rId19"/>
  </p:notesMasterIdLst>
  <p:sldIdLst>
    <p:sldId id="427" r:id="rId2"/>
    <p:sldId id="428" r:id="rId3"/>
    <p:sldId id="429" r:id="rId4"/>
    <p:sldId id="430" r:id="rId5"/>
    <p:sldId id="431" r:id="rId6"/>
    <p:sldId id="432" r:id="rId7"/>
    <p:sldId id="433" r:id="rId8"/>
    <p:sldId id="434" r:id="rId9"/>
    <p:sldId id="435" r:id="rId10"/>
    <p:sldId id="436" r:id="rId11"/>
    <p:sldId id="437" r:id="rId12"/>
    <p:sldId id="438" r:id="rId13"/>
    <p:sldId id="464" r:id="rId14"/>
    <p:sldId id="465" r:id="rId15"/>
    <p:sldId id="466" r:id="rId16"/>
    <p:sldId id="467" r:id="rId17"/>
    <p:sldId id="4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0BCC6-EE4F-4EA0-9A81-58D8AE478F2F}" type="datetimeFigureOut">
              <a:rPr lang="zh-TW" altLang="en-US" smtClean="0"/>
              <a:t>2022/11/4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16B4BD-C72F-4CD9-93F5-7C8D593C2DE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446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A033194-052E-4CE9-885F-A340CE8D4AE7}" type="datetimeFigureOut">
              <a:rPr lang="zh-TW" altLang="en-US" smtClean="0"/>
              <a:t>2022/11/4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81BD-71D4-4777-B01F-9A367A1995D1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988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3194-052E-4CE9-885F-A340CE8D4AE7}" type="datetimeFigureOut">
              <a:rPr lang="zh-TW" altLang="en-US" smtClean="0"/>
              <a:t>2022/11/4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81BD-71D4-4777-B01F-9A367A1995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41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3194-052E-4CE9-885F-A340CE8D4AE7}" type="datetimeFigureOut">
              <a:rPr lang="zh-TW" altLang="en-US" smtClean="0"/>
              <a:t>2022/11/4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81BD-71D4-4777-B01F-9A367A1995D1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70599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3194-052E-4CE9-885F-A340CE8D4AE7}" type="datetimeFigureOut">
              <a:rPr lang="zh-TW" altLang="en-US" smtClean="0"/>
              <a:t>2022/11/4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81BD-71D4-4777-B01F-9A367A1995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7274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3194-052E-4CE9-885F-A340CE8D4AE7}" type="datetimeFigureOut">
              <a:rPr lang="zh-TW" altLang="en-US" smtClean="0"/>
              <a:t>2022/11/4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81BD-71D4-4777-B01F-9A367A1995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6245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3194-052E-4CE9-885F-A340CE8D4AE7}" type="datetimeFigureOut">
              <a:rPr lang="zh-TW" altLang="en-US" smtClean="0"/>
              <a:t>2022/11/4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81BD-71D4-4777-B01F-9A367A1995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6283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3194-052E-4CE9-885F-A340CE8D4AE7}" type="datetimeFigureOut">
              <a:rPr lang="zh-TW" altLang="en-US" smtClean="0"/>
              <a:t>2022/11/4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81BD-71D4-4777-B01F-9A367A1995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258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3194-052E-4CE9-885F-A340CE8D4AE7}" type="datetimeFigureOut">
              <a:rPr lang="zh-TW" altLang="en-US" smtClean="0"/>
              <a:t>2022/11/4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81BD-71D4-4777-B01F-9A367A1995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248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3194-052E-4CE9-885F-A340CE8D4AE7}" type="datetimeFigureOut">
              <a:rPr lang="zh-TW" altLang="en-US" smtClean="0"/>
              <a:t>2022/11/4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81BD-71D4-4777-B01F-9A367A1995D1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361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3194-052E-4CE9-885F-A340CE8D4AE7}" type="datetimeFigureOut">
              <a:rPr lang="zh-TW" altLang="en-US" smtClean="0"/>
              <a:t>2022/11/4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81BD-71D4-4777-B01F-9A367A1995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5630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33194-052E-4CE9-885F-A340CE8D4AE7}" type="datetimeFigureOut">
              <a:rPr lang="zh-TW" altLang="en-US" smtClean="0"/>
              <a:t>2022/11/4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C81BD-71D4-4777-B01F-9A367A1995D1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257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A033194-052E-4CE9-885F-A340CE8D4AE7}" type="datetimeFigureOut">
              <a:rPr lang="zh-TW" altLang="en-US" smtClean="0"/>
              <a:t>2022/11/4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83C81BD-71D4-4777-B01F-9A367A1995D1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37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zh/photo/1187836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zh.wikipedia.org/zh-hk/%E9%93%85%E7%AC%94" TargetMode="Externa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99A991-99CE-47D0-BAE3-B22ED62B4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1" y="4959351"/>
            <a:ext cx="7581900" cy="1463675"/>
          </a:xfrm>
        </p:spPr>
        <p:txBody>
          <a:bodyPr/>
          <a:lstStyle/>
          <a:p>
            <a:pPr>
              <a:defRPr/>
            </a:pP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創新</a:t>
            </a:r>
            <a:r>
              <a:rPr lang="zh-TW" altLang="en-US" dirty="0"/>
              <a:t>策略</a:t>
            </a:r>
            <a:br>
              <a:rPr lang="en-US" altLang="zh-TW" dirty="0"/>
            </a:br>
            <a:r>
              <a:rPr lang="zh-TW" altLang="en-US" dirty="0"/>
              <a:t>七大思維模式介紹</a:t>
            </a:r>
            <a:endParaRPr lang="zh-TW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4F384FF-5094-45E7-870B-588C05DFA9E7}"/>
              </a:ext>
            </a:extLst>
          </p:cNvPr>
          <p:cNvSpPr txBox="1"/>
          <p:nvPr/>
        </p:nvSpPr>
        <p:spPr>
          <a:xfrm>
            <a:off x="8800122" y="5153181"/>
            <a:ext cx="33918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白乃遠 老師</a:t>
            </a:r>
            <a:endParaRPr lang="en-US" altLang="zh-TW" b="1" dirty="0"/>
          </a:p>
          <a:p>
            <a:r>
              <a:rPr lang="en-US" altLang="zh-TW" b="1" dirty="0"/>
              <a:t>Line</a:t>
            </a:r>
            <a:r>
              <a:rPr lang="zh-TW" altLang="en-US" b="1" dirty="0"/>
              <a:t>：</a:t>
            </a:r>
            <a:r>
              <a:rPr lang="en-US" altLang="zh-TW" b="1" dirty="0" err="1"/>
              <a:t>billy_pai</a:t>
            </a:r>
            <a:endParaRPr lang="en-US" altLang="zh-TW" b="1" dirty="0"/>
          </a:p>
          <a:p>
            <a:r>
              <a:rPr lang="en-US" altLang="zh-TW" b="1" dirty="0"/>
              <a:t>Facebook</a:t>
            </a:r>
            <a:r>
              <a:rPr lang="zh-TW" altLang="en-US" b="1" dirty="0"/>
              <a:t>：</a:t>
            </a:r>
            <a:r>
              <a:rPr lang="en-US" altLang="zh-TW" b="1" dirty="0"/>
              <a:t>Pai Xiao Pai</a:t>
            </a:r>
          </a:p>
          <a:p>
            <a:r>
              <a:rPr lang="en-US" altLang="zh-TW" b="1" dirty="0"/>
              <a:t>Mail</a:t>
            </a:r>
            <a:r>
              <a:rPr lang="zh-TW" altLang="en-US" b="1" dirty="0"/>
              <a:t>：</a:t>
            </a:r>
            <a:r>
              <a:rPr lang="en-US" altLang="zh-TW" b="1" dirty="0"/>
              <a:t>billy_pai@hotmail.com</a:t>
            </a:r>
            <a:endParaRPr lang="zh-TW" alt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0D0D5F-7FC5-4D31-A046-4C47EE707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181455"/>
            <a:ext cx="9720072" cy="1599844"/>
          </a:xfrm>
        </p:spPr>
        <p:txBody>
          <a:bodyPr>
            <a:normAutofit/>
          </a:bodyPr>
          <a:lstStyle/>
          <a:p>
            <a:pPr algn="ctr">
              <a:lnSpc>
                <a:spcPct val="130000"/>
              </a:lnSpc>
              <a:defRPr/>
            </a:pPr>
            <a:r>
              <a:rPr lang="zh-TW" altLang="en-US" sz="4800" b="1" dirty="0"/>
              <a:t>創新策略需具備的七大思維模式</a:t>
            </a:r>
            <a:br>
              <a:rPr lang="en-US" altLang="zh-TW" dirty="0"/>
            </a:br>
            <a:r>
              <a:rPr lang="en-US" altLang="zh-TW" sz="2400" dirty="0">
                <a:solidFill>
                  <a:srgbClr val="FF0000"/>
                </a:solidFill>
              </a:rPr>
              <a:t>(</a:t>
            </a:r>
            <a:r>
              <a:rPr lang="zh-TW" altLang="en-US" sz="2400" dirty="0">
                <a:solidFill>
                  <a:srgbClr val="FF0000"/>
                </a:solidFill>
              </a:rPr>
              <a:t>使用問題模式體現創新思考應具備的模式重點</a:t>
            </a:r>
            <a:r>
              <a:rPr lang="en-US" altLang="zh-TW" sz="2400" dirty="0">
                <a:solidFill>
                  <a:srgbClr val="FF0000"/>
                </a:solidFill>
              </a:rPr>
              <a:t>)</a:t>
            </a:r>
            <a:endParaRPr lang="zh-TW" altLang="en-US" sz="2800" dirty="0">
              <a:solidFill>
                <a:srgbClr val="FF0000"/>
              </a:solidFill>
            </a:endParaRPr>
          </a:p>
        </p:txBody>
      </p:sp>
      <p:sp>
        <p:nvSpPr>
          <p:cNvPr id="8195" name="內容版面配置區 2">
            <a:extLst>
              <a:ext uri="{FF2B5EF4-FFF2-40B4-BE49-F238E27FC236}">
                <a16:creationId xmlns:a16="http://schemas.microsoft.com/office/drawing/2014/main" id="{D368DE35-DD83-40FC-A6C3-1068A4239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053" y="2309806"/>
            <a:ext cx="9931894" cy="4077050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01.</a:t>
            </a:r>
            <a:r>
              <a:rPr lang="zh-TW" altLang="en-US" sz="3200" b="1" dirty="0">
                <a:highlight>
                  <a:srgbClr val="FFFF00"/>
                </a:highlight>
              </a:rPr>
              <a:t>理</a:t>
            </a:r>
            <a:r>
              <a:rPr lang="en-US" altLang="zh-TW" sz="2400" b="1" dirty="0"/>
              <a:t>-(</a:t>
            </a:r>
            <a:r>
              <a:rPr lang="zh-TW" altLang="en-US" sz="2400" b="1" dirty="0"/>
              <a:t>合理</a:t>
            </a:r>
            <a:r>
              <a:rPr lang="en-US" altLang="zh-TW" sz="2400" b="1" dirty="0"/>
              <a:t>)</a:t>
            </a:r>
            <a:r>
              <a:rPr lang="zh-TW" altLang="en-US" dirty="0"/>
              <a:t>最</a:t>
            </a:r>
            <a:r>
              <a:rPr lang="zh-TW" altLang="en-US" b="1" u="sng" dirty="0"/>
              <a:t>合理</a:t>
            </a:r>
            <a:r>
              <a:rPr lang="zh-TW" altLang="en-US" dirty="0"/>
              <a:t>的解決方案 </a:t>
            </a:r>
            <a:r>
              <a:rPr lang="en-US" altLang="zh-TW" dirty="0"/>
              <a:t>(</a:t>
            </a:r>
            <a:r>
              <a:rPr lang="zh-TW" altLang="en-US" b="1" dirty="0">
                <a:solidFill>
                  <a:srgbClr val="C00000"/>
                </a:solidFill>
              </a:rPr>
              <a:t>綜合利益最大化的解決方案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02.</a:t>
            </a:r>
            <a:r>
              <a:rPr lang="zh-TW" altLang="en-US" sz="3200" b="1" dirty="0">
                <a:highlight>
                  <a:srgbClr val="FFFF00"/>
                </a:highlight>
              </a:rPr>
              <a:t>問</a:t>
            </a:r>
            <a:r>
              <a:rPr lang="en-US" altLang="zh-TW" sz="2400" b="1" dirty="0"/>
              <a:t>-(</a:t>
            </a:r>
            <a:r>
              <a:rPr lang="zh-TW" altLang="en-US" sz="2400" b="1" dirty="0"/>
              <a:t>善問</a:t>
            </a:r>
            <a:r>
              <a:rPr lang="en-US" altLang="zh-TW" sz="2400" b="1" dirty="0"/>
              <a:t>)</a:t>
            </a:r>
            <a:r>
              <a:rPr lang="zh-TW" altLang="en-US" dirty="0"/>
              <a:t>從複雜的資訊中，找出核心關鍵的</a:t>
            </a:r>
            <a:r>
              <a:rPr lang="zh-TW" altLang="en-US" b="1" u="sng" dirty="0"/>
              <a:t>問題</a:t>
            </a:r>
            <a:r>
              <a:rPr lang="en-US" altLang="zh-TW" dirty="0"/>
              <a:t>(</a:t>
            </a:r>
            <a:r>
              <a:rPr lang="zh-TW" altLang="en-US" b="1" dirty="0">
                <a:solidFill>
                  <a:srgbClr val="C00000"/>
                </a:solidFill>
              </a:rPr>
              <a:t>思考問題的本質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03.</a:t>
            </a:r>
            <a:r>
              <a:rPr lang="zh-TW" altLang="en-US" sz="3200" b="1" dirty="0">
                <a:highlight>
                  <a:srgbClr val="FFFF00"/>
                </a:highlight>
              </a:rPr>
              <a:t>發</a:t>
            </a:r>
            <a:r>
              <a:rPr lang="en-US" altLang="zh-TW" sz="2400" b="1" dirty="0"/>
              <a:t>-(</a:t>
            </a:r>
            <a:r>
              <a:rPr lang="zh-TW" altLang="en-US" sz="2400" b="1" dirty="0"/>
              <a:t>發散</a:t>
            </a:r>
            <a:r>
              <a:rPr lang="en-US" altLang="zh-TW" sz="2400" b="1" dirty="0"/>
              <a:t>)</a:t>
            </a:r>
            <a:r>
              <a:rPr lang="zh-TW" altLang="en-US" dirty="0"/>
              <a:t>突破框架，</a:t>
            </a:r>
            <a:r>
              <a:rPr lang="zh-TW" altLang="en-US" b="1" u="sng" dirty="0"/>
              <a:t>發散</a:t>
            </a:r>
            <a:r>
              <a:rPr lang="zh-TW" altLang="en-US" dirty="0"/>
              <a:t>思考更多種可能 </a:t>
            </a:r>
            <a:r>
              <a:rPr lang="en-US" altLang="zh-TW" dirty="0"/>
              <a:t>(</a:t>
            </a:r>
            <a:r>
              <a:rPr lang="zh-TW" altLang="en-US" b="1" dirty="0">
                <a:solidFill>
                  <a:srgbClr val="C00000"/>
                </a:solidFill>
              </a:rPr>
              <a:t>創意的本質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04.</a:t>
            </a:r>
            <a:r>
              <a:rPr lang="zh-TW" altLang="en-US" sz="3200" b="1" dirty="0">
                <a:highlight>
                  <a:srgbClr val="FFFF00"/>
                </a:highlight>
              </a:rPr>
              <a:t>收</a:t>
            </a:r>
            <a:r>
              <a:rPr lang="en-US" altLang="zh-TW" sz="2400" b="1" dirty="0"/>
              <a:t>-(</a:t>
            </a:r>
            <a:r>
              <a:rPr lang="zh-TW" altLang="en-US" sz="2400" b="1" dirty="0"/>
              <a:t>收斂</a:t>
            </a:r>
            <a:r>
              <a:rPr lang="en-US" altLang="zh-TW" sz="2400" b="1" dirty="0"/>
              <a:t>)</a:t>
            </a:r>
            <a:r>
              <a:rPr lang="zh-TW" altLang="en-US" dirty="0"/>
              <a:t>跳脫刻板印象，邏輯理性與推理想像的</a:t>
            </a:r>
            <a:r>
              <a:rPr lang="zh-TW" altLang="en-US" b="1" u="sng" dirty="0"/>
              <a:t>收歛</a:t>
            </a:r>
            <a:r>
              <a:rPr lang="zh-TW" altLang="en-US" dirty="0"/>
              <a:t>整合 </a:t>
            </a:r>
            <a:r>
              <a:rPr lang="en-US" altLang="zh-TW" dirty="0"/>
              <a:t>(</a:t>
            </a:r>
            <a:r>
              <a:rPr lang="zh-TW" altLang="en-US" b="1" dirty="0">
                <a:solidFill>
                  <a:srgbClr val="C00000"/>
                </a:solidFill>
              </a:rPr>
              <a:t>設計發想流程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05.</a:t>
            </a:r>
            <a:r>
              <a:rPr lang="zh-TW" altLang="en-US" sz="3200" b="1" dirty="0">
                <a:highlight>
                  <a:srgbClr val="FFFF00"/>
                </a:highlight>
              </a:rPr>
              <a:t>細</a:t>
            </a:r>
            <a:r>
              <a:rPr lang="en-US" altLang="zh-TW" sz="2400" b="1" dirty="0"/>
              <a:t>-(</a:t>
            </a:r>
            <a:r>
              <a:rPr lang="zh-TW" altLang="en-US" sz="2400" b="1" dirty="0"/>
              <a:t>細察</a:t>
            </a:r>
            <a:r>
              <a:rPr lang="en-US" altLang="zh-TW" sz="2400" b="1" dirty="0"/>
              <a:t>)</a:t>
            </a:r>
            <a:r>
              <a:rPr lang="zh-TW" altLang="en-US" dirty="0"/>
              <a:t>細心的思維，</a:t>
            </a:r>
            <a:r>
              <a:rPr lang="zh-TW" altLang="en-US" b="1" u="sng" dirty="0"/>
              <a:t>細節觀察</a:t>
            </a:r>
            <a:r>
              <a:rPr lang="zh-TW" altLang="en-US" dirty="0"/>
              <a:t>才是決勝的關鍵 </a:t>
            </a:r>
            <a:r>
              <a:rPr lang="en-US" altLang="zh-TW" dirty="0"/>
              <a:t>(</a:t>
            </a:r>
            <a:r>
              <a:rPr lang="zh-TW" altLang="en-US" b="1" dirty="0">
                <a:solidFill>
                  <a:srgbClr val="C00000"/>
                </a:solidFill>
              </a:rPr>
              <a:t>設計執行的態度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06.</a:t>
            </a:r>
            <a:r>
              <a:rPr lang="zh-TW" altLang="en-US" sz="3200" b="1" dirty="0">
                <a:highlight>
                  <a:srgbClr val="FFFF00"/>
                </a:highlight>
              </a:rPr>
              <a:t>洞</a:t>
            </a:r>
            <a:r>
              <a:rPr lang="en-US" altLang="zh-TW" sz="2400" b="1" dirty="0"/>
              <a:t>-(</a:t>
            </a:r>
            <a:r>
              <a:rPr lang="zh-TW" altLang="en-US" sz="2400" b="1" dirty="0"/>
              <a:t>洞見</a:t>
            </a:r>
            <a:r>
              <a:rPr lang="en-US" altLang="zh-TW" sz="2400" b="1" dirty="0"/>
              <a:t>)</a:t>
            </a:r>
            <a:r>
              <a:rPr lang="zh-TW" altLang="en-US" dirty="0"/>
              <a:t>提出自己的</a:t>
            </a:r>
            <a:r>
              <a:rPr lang="zh-TW" altLang="en-US" b="1" u="sng" dirty="0"/>
              <a:t>洞見</a:t>
            </a:r>
            <a:r>
              <a:rPr lang="zh-TW" altLang="en-US" dirty="0"/>
              <a:t>觀點</a:t>
            </a:r>
            <a:r>
              <a:rPr lang="en-US" altLang="zh-TW" dirty="0"/>
              <a:t>-</a:t>
            </a:r>
            <a:r>
              <a:rPr lang="zh-TW" altLang="en-US" dirty="0"/>
              <a:t>關聯度分析</a:t>
            </a:r>
            <a:r>
              <a:rPr lang="en-US" altLang="zh-TW" dirty="0"/>
              <a:t>(</a:t>
            </a:r>
            <a:r>
              <a:rPr lang="zh-TW" altLang="en-US" b="1" dirty="0">
                <a:solidFill>
                  <a:srgbClr val="C00000"/>
                </a:solidFill>
              </a:rPr>
              <a:t>創造美好的意義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07.</a:t>
            </a:r>
            <a:r>
              <a:rPr lang="zh-TW" altLang="en-US" sz="3200" b="1" dirty="0">
                <a:highlight>
                  <a:srgbClr val="FFFF00"/>
                </a:highlight>
              </a:rPr>
              <a:t>真</a:t>
            </a:r>
            <a:r>
              <a:rPr lang="en-US" altLang="zh-TW" sz="2400" b="1" dirty="0"/>
              <a:t>-(</a:t>
            </a:r>
            <a:r>
              <a:rPr lang="zh-TW" altLang="en-US" sz="2400" b="1" dirty="0"/>
              <a:t>真實</a:t>
            </a:r>
            <a:r>
              <a:rPr lang="en-US" altLang="zh-TW" sz="2400" b="1" dirty="0"/>
              <a:t>)</a:t>
            </a:r>
            <a:r>
              <a:rPr lang="zh-TW" altLang="en-US" dirty="0"/>
              <a:t>找到表象內的</a:t>
            </a:r>
            <a:r>
              <a:rPr lang="zh-TW" altLang="en-US" b="1" u="sng" dirty="0"/>
              <a:t>真實</a:t>
            </a:r>
            <a:r>
              <a:rPr lang="en-US" altLang="zh-TW" dirty="0"/>
              <a:t>-</a:t>
            </a:r>
            <a:r>
              <a:rPr lang="zh-TW" altLang="en-US" dirty="0"/>
              <a:t>抽象思維訓練</a:t>
            </a:r>
            <a:r>
              <a:rPr lang="en-US" altLang="zh-TW" dirty="0"/>
              <a:t>(</a:t>
            </a:r>
            <a:r>
              <a:rPr lang="zh-TW" altLang="en-US" b="1" dirty="0">
                <a:solidFill>
                  <a:srgbClr val="C00000"/>
                </a:solidFill>
              </a:rPr>
              <a:t>看到事物的本質</a:t>
            </a:r>
            <a:r>
              <a:rPr lang="en-US" altLang="zh-TW" dirty="0"/>
              <a:t>)</a:t>
            </a:r>
          </a:p>
          <a:p>
            <a:pPr marL="0" indent="0">
              <a:buNone/>
            </a:pPr>
            <a:endParaRPr lang="en-US" altLang="zh-TW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D315BD-ADF4-434D-BDFE-180EED139335}"/>
              </a:ext>
            </a:extLst>
          </p:cNvPr>
          <p:cNvSpPr/>
          <p:nvPr/>
        </p:nvSpPr>
        <p:spPr>
          <a:xfrm>
            <a:off x="2495495" y="1781299"/>
            <a:ext cx="72010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>
                <a:solidFill>
                  <a:schemeClr val="bg1"/>
                </a:solidFill>
                <a:highlight>
                  <a:srgbClr val="800000"/>
                </a:highlight>
              </a:rPr>
              <a:t>小白老師從事設計</a:t>
            </a:r>
            <a:r>
              <a:rPr lang="en-US" altLang="zh-TW" sz="2000" b="1" dirty="0">
                <a:solidFill>
                  <a:schemeClr val="bg1"/>
                </a:solidFill>
                <a:highlight>
                  <a:srgbClr val="800000"/>
                </a:highlight>
              </a:rPr>
              <a:t>/</a:t>
            </a:r>
            <a:r>
              <a:rPr lang="zh-TW" altLang="en-US" sz="2000" b="1" dirty="0">
                <a:solidFill>
                  <a:schemeClr val="bg1"/>
                </a:solidFill>
                <a:highlight>
                  <a:srgbClr val="800000"/>
                </a:highlight>
              </a:rPr>
              <a:t>廣告</a:t>
            </a:r>
            <a:r>
              <a:rPr lang="en-US" altLang="zh-TW" sz="2000" b="1" dirty="0">
                <a:solidFill>
                  <a:schemeClr val="bg1"/>
                </a:solidFill>
                <a:highlight>
                  <a:srgbClr val="800000"/>
                </a:highlight>
              </a:rPr>
              <a:t>/</a:t>
            </a:r>
            <a:r>
              <a:rPr lang="zh-TW" altLang="en-US" sz="2000" b="1" dirty="0">
                <a:solidFill>
                  <a:schemeClr val="bg1"/>
                </a:solidFill>
                <a:highlight>
                  <a:srgbClr val="800000"/>
                </a:highlight>
              </a:rPr>
              <a:t>行銷企劃</a:t>
            </a:r>
            <a:r>
              <a:rPr lang="en-US" altLang="zh-TW" sz="2000" b="1" dirty="0">
                <a:solidFill>
                  <a:schemeClr val="bg1"/>
                </a:solidFill>
                <a:highlight>
                  <a:srgbClr val="800000"/>
                </a:highlight>
              </a:rPr>
              <a:t>/</a:t>
            </a:r>
            <a:r>
              <a:rPr lang="zh-TW" altLang="en-US" sz="2000" b="1" dirty="0">
                <a:solidFill>
                  <a:schemeClr val="bg1"/>
                </a:solidFill>
                <a:highlight>
                  <a:srgbClr val="800000"/>
                </a:highlight>
              </a:rPr>
              <a:t>創意產業</a:t>
            </a:r>
            <a:r>
              <a:rPr lang="en-US" altLang="zh-TW" sz="2000" b="1" dirty="0">
                <a:solidFill>
                  <a:schemeClr val="bg1"/>
                </a:solidFill>
                <a:highlight>
                  <a:srgbClr val="800000"/>
                </a:highlight>
              </a:rPr>
              <a:t>18</a:t>
            </a:r>
            <a:r>
              <a:rPr lang="zh-TW" altLang="en-US" sz="2000" b="1" dirty="0">
                <a:solidFill>
                  <a:schemeClr val="bg1"/>
                </a:solidFill>
                <a:highlight>
                  <a:srgbClr val="800000"/>
                </a:highlight>
              </a:rPr>
              <a:t>年的七字心法</a:t>
            </a:r>
            <a:r>
              <a:rPr lang="en-US" altLang="zh-TW" sz="2000" b="1" dirty="0">
                <a:solidFill>
                  <a:schemeClr val="bg1"/>
                </a:solidFill>
                <a:highlight>
                  <a:srgbClr val="800000"/>
                </a:highlight>
              </a:rPr>
              <a:t>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CD88CB-5774-468B-9F8A-18888D6C9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01.</a:t>
            </a:r>
            <a:r>
              <a:rPr lang="zh-TW" altLang="en-US" sz="6700" b="1" dirty="0">
                <a:highlight>
                  <a:srgbClr val="FFFF00"/>
                </a:highlight>
              </a:rPr>
              <a:t>理</a:t>
            </a:r>
            <a:r>
              <a:rPr lang="en-US" altLang="zh-TW" sz="6700" b="1" dirty="0">
                <a:highlight>
                  <a:srgbClr val="FFFF00"/>
                </a:highlight>
              </a:rPr>
              <a:t>-</a:t>
            </a:r>
            <a:r>
              <a:rPr lang="zh-TW" altLang="en-US" b="1" dirty="0"/>
              <a:t>思考</a:t>
            </a:r>
            <a:r>
              <a:rPr lang="zh-TW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最合理的解決方案</a:t>
            </a:r>
            <a:b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zh-TW" altLang="en-US" b="1" dirty="0">
                <a:solidFill>
                  <a:srgbClr val="C00000"/>
                </a:solidFill>
              </a:rPr>
              <a:t>大公司面試題</a:t>
            </a:r>
            <a:r>
              <a:rPr lang="en-US" altLang="zh-TW" b="1" dirty="0">
                <a:solidFill>
                  <a:srgbClr val="C00000"/>
                </a:solidFill>
              </a:rPr>
              <a:t>-</a:t>
            </a:r>
            <a:r>
              <a:rPr lang="zh-TW" altLang="en-US" b="1" dirty="0">
                <a:solidFill>
                  <a:srgbClr val="C00000"/>
                </a:solidFill>
              </a:rPr>
              <a:t>問</a:t>
            </a:r>
          </a:p>
        </p:txBody>
      </p:sp>
      <p:sp>
        <p:nvSpPr>
          <p:cNvPr id="9219" name="內容版面配置區 2">
            <a:extLst>
              <a:ext uri="{FF2B5EF4-FFF2-40B4-BE49-F238E27FC236}">
                <a16:creationId xmlns:a16="http://schemas.microsoft.com/office/drawing/2014/main" id="{EC4494C0-FE17-4104-81BC-5368BF5C9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/>
              <a:t>在一個暴風雨的晚上，你開著一輛車，經過了一個車站</a:t>
            </a:r>
            <a:endParaRPr lang="en-US" altLang="zh-TW"/>
          </a:p>
          <a:p>
            <a:pPr eaLnBrk="1" hangingPunct="1"/>
            <a:r>
              <a:rPr lang="zh-TW" altLang="en-US"/>
              <a:t>有三個人正在等公車：</a:t>
            </a:r>
            <a:endParaRPr lang="en-US" altLang="zh-TW"/>
          </a:p>
          <a:p>
            <a:pPr eaLnBrk="1" hangingPunct="1"/>
            <a:r>
              <a:rPr lang="en-US" altLang="zh-TW"/>
              <a:t>     1.</a:t>
            </a:r>
            <a:r>
              <a:rPr lang="zh-TW" altLang="en-US"/>
              <a:t>快要死掉的老人</a:t>
            </a:r>
            <a:endParaRPr lang="en-US" altLang="zh-TW"/>
          </a:p>
          <a:p>
            <a:pPr eaLnBrk="1" hangingPunct="1"/>
            <a:r>
              <a:rPr lang="en-US" altLang="zh-TW"/>
              <a:t>     2.</a:t>
            </a:r>
            <a:r>
              <a:rPr lang="zh-TW" altLang="en-US"/>
              <a:t>一個曾經救過你命的醫生</a:t>
            </a:r>
            <a:endParaRPr lang="en-US" altLang="zh-TW"/>
          </a:p>
          <a:p>
            <a:pPr eaLnBrk="1" hangingPunct="1"/>
            <a:r>
              <a:rPr lang="en-US" altLang="zh-TW"/>
              <a:t>     3.</a:t>
            </a:r>
            <a:r>
              <a:rPr lang="zh-TW" altLang="en-US"/>
              <a:t>一個你做夢都想要和他結婚的真命天子</a:t>
            </a:r>
            <a:r>
              <a:rPr lang="en-US" altLang="zh-TW"/>
              <a:t>(</a:t>
            </a:r>
            <a:r>
              <a:rPr lang="zh-TW" altLang="en-US"/>
              <a:t>女</a:t>
            </a:r>
            <a:r>
              <a:rPr lang="en-US" altLang="zh-TW"/>
              <a:t>)</a:t>
            </a:r>
          </a:p>
          <a:p>
            <a:pPr eaLnBrk="1" hangingPunct="1"/>
            <a:r>
              <a:rPr lang="zh-TW" altLang="en-US"/>
              <a:t>但你的車只能載一個人，你會如何做選擇？</a:t>
            </a:r>
            <a:endParaRPr lang="en-US" altLang="zh-TW"/>
          </a:p>
          <a:p>
            <a:pPr eaLnBrk="1" hangingPunct="1"/>
            <a:r>
              <a:rPr lang="zh-TW" altLang="en-US"/>
              <a:t>請說明你的理由</a:t>
            </a:r>
            <a:endParaRPr lang="en-US" alt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FB4031-E8F3-41D0-9216-624B79C3B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大公司面試題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答</a:t>
            </a:r>
          </a:p>
        </p:txBody>
      </p:sp>
      <p:sp>
        <p:nvSpPr>
          <p:cNvPr id="10243" name="內容版面配置區 2">
            <a:extLst>
              <a:ext uri="{FF2B5EF4-FFF2-40B4-BE49-F238E27FC236}">
                <a16:creationId xmlns:a16="http://schemas.microsoft.com/office/drawing/2014/main" id="{604DD3D2-FA0A-4C06-9420-7ECF1B254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sz="2800"/>
              <a:t>在</a:t>
            </a:r>
            <a:r>
              <a:rPr lang="en-US" altLang="zh-TW" sz="2800"/>
              <a:t>200</a:t>
            </a:r>
            <a:r>
              <a:rPr lang="zh-TW" altLang="en-US" sz="2800"/>
              <a:t>個應徵者中，只有一個人被錄取了，他只說了以下的話：</a:t>
            </a:r>
            <a:endParaRPr lang="en-US" altLang="zh-TW" sz="2800"/>
          </a:p>
          <a:p>
            <a:pPr eaLnBrk="1" hangingPunct="1"/>
            <a:endParaRPr lang="en-US" altLang="zh-TW" sz="2800"/>
          </a:p>
          <a:p>
            <a:pPr eaLnBrk="1" hangingPunct="1"/>
            <a:r>
              <a:rPr lang="zh-TW" altLang="en-US" sz="2800">
                <a:solidFill>
                  <a:srgbClr val="FF0000"/>
                </a:solidFill>
              </a:rPr>
              <a:t>給醫生車鑰匙，讓他帶著老人去醫院，我則留下來陪我的夢中情人一起等公車。</a:t>
            </a:r>
            <a:endParaRPr lang="en-US" altLang="zh-TW" sz="2800">
              <a:solidFill>
                <a:srgbClr val="FF0000"/>
              </a:solidFill>
            </a:endParaRPr>
          </a:p>
          <a:p>
            <a:pPr eaLnBrk="1" hangingPunct="1"/>
            <a:endParaRPr lang="en-US" altLang="zh-TW" sz="2800">
              <a:solidFill>
                <a:srgbClr val="FF0000"/>
              </a:solidFill>
            </a:endParaRPr>
          </a:p>
          <a:p>
            <a:pPr eaLnBrk="1" hangingPunct="1"/>
            <a:r>
              <a:rPr lang="zh-TW" altLang="en-US" sz="2800">
                <a:solidFill>
                  <a:srgbClr val="FF0000"/>
                </a:solidFill>
              </a:rPr>
              <a:t>找到了一種所有人都贏的方法！</a:t>
            </a:r>
            <a:endParaRPr lang="en-US" altLang="zh-TW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B2ACF6-19A9-465F-A795-C77D7D88D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02.</a:t>
            </a:r>
            <a:r>
              <a:rPr lang="zh-TW" altLang="en-US" sz="67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問</a:t>
            </a:r>
            <a:r>
              <a:rPr lang="en-US" altLang="zh-TW" sz="67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-</a:t>
            </a:r>
            <a:r>
              <a:rPr lang="zh-TW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找到核心的關鍵問題</a:t>
            </a:r>
            <a:b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zh-TW" altLang="en-US" b="1" dirty="0">
                <a:solidFill>
                  <a:srgbClr val="C00000"/>
                </a:solidFill>
              </a:rPr>
              <a:t>折損計算題</a:t>
            </a:r>
            <a:r>
              <a:rPr lang="en-US" altLang="zh-TW" b="1" dirty="0">
                <a:solidFill>
                  <a:srgbClr val="C00000"/>
                </a:solidFill>
              </a:rPr>
              <a:t>-</a:t>
            </a:r>
            <a:r>
              <a:rPr lang="zh-TW" altLang="en-US" b="1" dirty="0">
                <a:solidFill>
                  <a:srgbClr val="C00000"/>
                </a:solidFill>
              </a:rPr>
              <a:t>問</a:t>
            </a:r>
          </a:p>
        </p:txBody>
      </p:sp>
      <p:sp>
        <p:nvSpPr>
          <p:cNvPr id="11267" name="內容版面配置區 2">
            <a:extLst>
              <a:ext uri="{FF2B5EF4-FFF2-40B4-BE49-F238E27FC236}">
                <a16:creationId xmlns:a16="http://schemas.microsoft.com/office/drawing/2014/main" id="{42D8F35F-929D-4067-AA8E-DC763DFBE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2351" y="2286001"/>
            <a:ext cx="7839075" cy="4022725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zh-TW" altLang="en-US" b="1" dirty="0"/>
              <a:t>一天有個年輕人來到王老闆的店裡買了一件禮物</a:t>
            </a:r>
            <a:br>
              <a:rPr lang="zh-TW" altLang="en-US" b="1" dirty="0"/>
            </a:br>
            <a:br>
              <a:rPr lang="zh-TW" altLang="en-US" b="1" dirty="0"/>
            </a:br>
            <a:r>
              <a:rPr lang="zh-TW" altLang="en-US" b="1" dirty="0"/>
              <a:t>這件禮物成本是</a:t>
            </a:r>
            <a:r>
              <a:rPr lang="en-US" altLang="zh-TW" b="1" dirty="0"/>
              <a:t>18</a:t>
            </a:r>
            <a:r>
              <a:rPr lang="zh-TW" altLang="en-US" b="1" dirty="0"/>
              <a:t>元，標價是</a:t>
            </a:r>
            <a:r>
              <a:rPr lang="en-US" altLang="zh-TW" b="1" dirty="0"/>
              <a:t>21</a:t>
            </a:r>
            <a:r>
              <a:rPr lang="zh-TW" altLang="en-US" b="1" dirty="0"/>
              <a:t>元。</a:t>
            </a:r>
            <a:br>
              <a:rPr lang="zh-TW" altLang="en-US" b="1" dirty="0"/>
            </a:br>
            <a:br>
              <a:rPr lang="zh-TW" altLang="en-US" b="1" dirty="0"/>
            </a:br>
            <a:r>
              <a:rPr lang="zh-TW" altLang="en-US" b="1" dirty="0"/>
              <a:t>結果是這個年輕人掏出</a:t>
            </a:r>
            <a:r>
              <a:rPr lang="en-US" altLang="zh-TW" b="1" dirty="0"/>
              <a:t>100</a:t>
            </a:r>
            <a:r>
              <a:rPr lang="zh-TW" altLang="en-US" b="1" dirty="0"/>
              <a:t>元要買這件禮物。</a:t>
            </a:r>
            <a:br>
              <a:rPr lang="zh-TW" altLang="en-US" b="1" dirty="0"/>
            </a:br>
            <a:br>
              <a:rPr lang="zh-TW" altLang="en-US" b="1" dirty="0"/>
            </a:br>
            <a:r>
              <a:rPr lang="zh-TW" altLang="en-US" b="1" dirty="0"/>
              <a:t>王老闆當時沒有零錢，用那</a:t>
            </a:r>
            <a:r>
              <a:rPr lang="en-US" altLang="zh-TW" b="1" dirty="0"/>
              <a:t>100</a:t>
            </a:r>
            <a:r>
              <a:rPr lang="zh-TW" altLang="en-US" b="1" dirty="0"/>
              <a:t>元向隔壁鄰居換了</a:t>
            </a:r>
            <a:r>
              <a:rPr lang="en-US" altLang="zh-TW" b="1" dirty="0"/>
              <a:t>100</a:t>
            </a:r>
            <a:r>
              <a:rPr lang="zh-TW" altLang="en-US" b="1" dirty="0"/>
              <a:t>元的零錢</a:t>
            </a:r>
            <a:endParaRPr lang="en-US" altLang="zh-TW" b="1" dirty="0"/>
          </a:p>
          <a:p>
            <a:pPr eaLnBrk="1" hangingPunct="1"/>
            <a:r>
              <a:rPr lang="zh-TW" altLang="en-US" b="1" dirty="0"/>
              <a:t>找給年輕人</a:t>
            </a:r>
            <a:r>
              <a:rPr lang="en-US" altLang="zh-TW" b="1" dirty="0"/>
              <a:t>79</a:t>
            </a:r>
            <a:r>
              <a:rPr lang="zh-TW" altLang="en-US" b="1" dirty="0"/>
              <a:t>元。</a:t>
            </a:r>
            <a:br>
              <a:rPr lang="zh-TW" altLang="en-US" b="1" dirty="0"/>
            </a:br>
            <a:br>
              <a:rPr lang="zh-TW" altLang="en-US" b="1" dirty="0"/>
            </a:br>
            <a:r>
              <a:rPr lang="zh-TW" altLang="en-US" b="1" dirty="0"/>
              <a:t>但是隔壁鄰居後來發現那</a:t>
            </a:r>
            <a:r>
              <a:rPr lang="en-US" altLang="zh-TW" b="1" dirty="0"/>
              <a:t>100 </a:t>
            </a:r>
            <a:r>
              <a:rPr lang="zh-TW" altLang="en-US" b="1" dirty="0"/>
              <a:t>元是假鈔，王老闆無奈還了隔壁鄰居</a:t>
            </a:r>
            <a:r>
              <a:rPr lang="en-US" altLang="zh-TW" b="1" dirty="0"/>
              <a:t>100</a:t>
            </a:r>
            <a:r>
              <a:rPr lang="zh-TW" altLang="en-US" b="1" dirty="0"/>
              <a:t>元。</a:t>
            </a:r>
            <a:br>
              <a:rPr lang="zh-TW" altLang="en-US" b="1" dirty="0"/>
            </a:br>
            <a:br>
              <a:rPr lang="zh-TW" altLang="en-US" b="1" dirty="0"/>
            </a:br>
            <a:r>
              <a:rPr lang="zh-TW" altLang="en-US" b="1" dirty="0"/>
              <a:t>現在問題是</a:t>
            </a:r>
            <a:r>
              <a:rPr lang="en-US" altLang="zh-TW" b="1" dirty="0"/>
              <a:t>︰</a:t>
            </a:r>
            <a:r>
              <a:rPr lang="zh-TW" altLang="en-US" b="1" dirty="0"/>
              <a:t>王老闆在這次交易中到底損失了多少錢 </a:t>
            </a:r>
            <a:r>
              <a:rPr lang="en-US" altLang="zh-TW" b="1" dirty="0"/>
              <a:t>???</a:t>
            </a:r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9A7BCB-DE45-449B-8656-8B64A9B35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折損計算題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答</a:t>
            </a:r>
          </a:p>
        </p:txBody>
      </p:sp>
      <p:sp>
        <p:nvSpPr>
          <p:cNvPr id="12291" name="內容版面配置區 2">
            <a:extLst>
              <a:ext uri="{FF2B5EF4-FFF2-40B4-BE49-F238E27FC236}">
                <a16:creationId xmlns:a16="http://schemas.microsoft.com/office/drawing/2014/main" id="{0C27AE45-666B-43A7-A4C7-CAAF641C1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2350" y="2286001"/>
            <a:ext cx="8242300" cy="4022725"/>
          </a:xfrm>
        </p:spPr>
        <p:txBody>
          <a:bodyPr/>
          <a:lstStyle/>
          <a:p>
            <a:pPr eaLnBrk="1" hangingPunct="1"/>
            <a:br>
              <a:rPr lang="zh-TW" altLang="en-US" sz="2800" b="1" dirty="0"/>
            </a:br>
            <a:r>
              <a:rPr lang="zh-TW" altLang="en-US" sz="2800" b="1" dirty="0"/>
              <a:t>王老闆付出禮物成本</a:t>
            </a:r>
            <a:r>
              <a:rPr lang="en-US" altLang="zh-TW" sz="2800" b="1" dirty="0"/>
              <a:t>18</a:t>
            </a:r>
            <a:r>
              <a:rPr lang="zh-TW" altLang="en-US" sz="2800" b="1" dirty="0"/>
              <a:t>元</a:t>
            </a:r>
            <a:r>
              <a:rPr lang="en-US" altLang="zh-TW" sz="2800" b="1" dirty="0"/>
              <a:t>,</a:t>
            </a:r>
            <a:r>
              <a:rPr lang="zh-TW" altLang="en-US" sz="2800" b="1" dirty="0"/>
              <a:t>給年輕人</a:t>
            </a:r>
            <a:r>
              <a:rPr lang="en-US" altLang="zh-TW" sz="2800" b="1" dirty="0"/>
              <a:t>79</a:t>
            </a:r>
            <a:r>
              <a:rPr lang="zh-TW" altLang="en-US" sz="2800" b="1" dirty="0"/>
              <a:t>元</a:t>
            </a:r>
            <a:r>
              <a:rPr lang="en-US" altLang="zh-TW" sz="2800" b="1" dirty="0"/>
              <a:t>,</a:t>
            </a:r>
            <a:r>
              <a:rPr lang="zh-TW" altLang="en-US" sz="2800" b="1" dirty="0"/>
              <a:t>還給隔壁鄰居</a:t>
            </a:r>
            <a:r>
              <a:rPr lang="en-US" altLang="zh-TW" sz="2800" b="1" dirty="0"/>
              <a:t>100</a:t>
            </a:r>
            <a:r>
              <a:rPr lang="zh-TW" altLang="en-US" sz="2800" b="1" dirty="0"/>
              <a:t>元</a:t>
            </a:r>
            <a:r>
              <a:rPr lang="en-US" altLang="zh-TW" sz="2800" b="1" dirty="0"/>
              <a:t>,</a:t>
            </a:r>
            <a:r>
              <a:rPr lang="zh-TW" altLang="en-US" sz="2800" b="1" dirty="0"/>
              <a:t>拿了街坊</a:t>
            </a:r>
            <a:r>
              <a:rPr lang="en-US" altLang="zh-TW" sz="2800" b="1" dirty="0"/>
              <a:t>100</a:t>
            </a:r>
            <a:r>
              <a:rPr lang="zh-TW" altLang="en-US" sz="2800" b="1" dirty="0"/>
              <a:t>元</a:t>
            </a:r>
            <a:endParaRPr lang="en-US" altLang="zh-TW" sz="2800" b="1" dirty="0"/>
          </a:p>
          <a:p>
            <a:pPr eaLnBrk="1" hangingPunct="1"/>
            <a:endParaRPr lang="zh-TW" altLang="en-US" sz="2800" b="1" dirty="0"/>
          </a:p>
          <a:p>
            <a:pPr eaLnBrk="1" hangingPunct="1"/>
            <a:r>
              <a:rPr lang="zh-TW" altLang="en-US" sz="2800" b="1" dirty="0"/>
              <a:t>總計</a:t>
            </a:r>
            <a:r>
              <a:rPr lang="en-US" altLang="zh-TW" sz="2800" b="1" dirty="0"/>
              <a:t>=-18-79-100+100=-97</a:t>
            </a:r>
            <a:r>
              <a:rPr lang="zh-TW" altLang="en-US" sz="2800" b="1" dirty="0"/>
              <a:t>元</a:t>
            </a:r>
            <a:endParaRPr lang="en-US" altLang="zh-TW" sz="2800" b="1" dirty="0"/>
          </a:p>
          <a:p>
            <a:pPr eaLnBrk="1" hangingPunct="1"/>
            <a:endParaRPr lang="en-US" altLang="zh-TW" sz="2800" dirty="0"/>
          </a:p>
          <a:p>
            <a:pPr eaLnBrk="1" hangingPunct="1"/>
            <a:r>
              <a:rPr lang="zh-TW" altLang="en-US" sz="2800" b="1" dirty="0">
                <a:solidFill>
                  <a:srgbClr val="FF0000"/>
                </a:solidFill>
              </a:rPr>
              <a:t>從混亂的訊息中，找出關鍵的資訊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4D4D4E-99A1-4477-BE82-70436E21E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03.</a:t>
            </a:r>
            <a:r>
              <a:rPr lang="zh-TW" altLang="en-US" sz="6700" b="1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發</a:t>
            </a:r>
            <a:r>
              <a:rPr lang="en-US" altLang="zh-TW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zh-TW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突破框架的</a:t>
            </a:r>
            <a:r>
              <a:rPr lang="zh-TW" altLang="en-US" b="1" dirty="0"/>
              <a:t>發散</a:t>
            </a:r>
            <a:r>
              <a:rPr lang="zh-TW" alt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思維</a:t>
            </a:r>
            <a:b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zh-TW" altLang="en-US" b="1" dirty="0">
                <a:solidFill>
                  <a:srgbClr val="C00000"/>
                </a:solidFill>
              </a:rPr>
              <a:t>推薦甄試面試題</a:t>
            </a:r>
            <a:r>
              <a:rPr lang="en-US" altLang="zh-TW" b="1" dirty="0">
                <a:solidFill>
                  <a:srgbClr val="C00000"/>
                </a:solidFill>
              </a:rPr>
              <a:t>-</a:t>
            </a:r>
            <a:r>
              <a:rPr lang="zh-TW" altLang="en-US" b="1" dirty="0">
                <a:solidFill>
                  <a:srgbClr val="C00000"/>
                </a:solidFill>
              </a:rPr>
              <a:t>問</a:t>
            </a:r>
          </a:p>
        </p:txBody>
      </p:sp>
      <p:sp>
        <p:nvSpPr>
          <p:cNvPr id="13315" name="內容版面配置區 2">
            <a:extLst>
              <a:ext uri="{FF2B5EF4-FFF2-40B4-BE49-F238E27FC236}">
                <a16:creationId xmlns:a16="http://schemas.microsoft.com/office/drawing/2014/main" id="{733C174A-E38D-47DB-88FF-E9ADAF4E4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dirty="0"/>
              <a:t>(1</a:t>
            </a:r>
            <a:r>
              <a:rPr lang="zh-TW" altLang="en-US" dirty="0"/>
              <a:t>、</a:t>
            </a:r>
            <a:r>
              <a:rPr lang="en-US" altLang="zh-TW" dirty="0"/>
              <a:t>3</a:t>
            </a:r>
            <a:r>
              <a:rPr lang="zh-TW" altLang="en-US" dirty="0"/>
              <a:t>、</a:t>
            </a:r>
            <a:r>
              <a:rPr lang="en-US" altLang="zh-TW" dirty="0"/>
              <a:t>7</a:t>
            </a:r>
            <a:r>
              <a:rPr lang="zh-TW" altLang="en-US" dirty="0"/>
              <a:t>、</a:t>
            </a:r>
            <a:r>
              <a:rPr lang="en-US" altLang="zh-TW" dirty="0"/>
              <a:t>8, )</a:t>
            </a:r>
            <a:br>
              <a:rPr lang="zh-TW" altLang="en-US" dirty="0"/>
            </a:br>
            <a:br>
              <a:rPr lang="zh-TW" altLang="en-US" dirty="0"/>
            </a:br>
            <a:r>
              <a:rPr lang="en-US" altLang="zh-TW" dirty="0"/>
              <a:t>(2</a:t>
            </a:r>
            <a:r>
              <a:rPr lang="zh-TW" altLang="en-US" dirty="0"/>
              <a:t>、</a:t>
            </a:r>
            <a:r>
              <a:rPr lang="en-US" altLang="zh-TW" dirty="0"/>
              <a:t>4</a:t>
            </a:r>
            <a:r>
              <a:rPr lang="zh-TW" altLang="en-US" dirty="0"/>
              <a:t>、</a:t>
            </a:r>
            <a:r>
              <a:rPr lang="en-US" altLang="zh-TW" dirty="0"/>
              <a:t>6, )</a:t>
            </a:r>
            <a:br>
              <a:rPr lang="zh-TW" altLang="en-US" dirty="0"/>
            </a:br>
            <a:br>
              <a:rPr lang="zh-TW" altLang="en-US" dirty="0"/>
            </a:br>
            <a:r>
              <a:rPr lang="en-US" altLang="zh-TW" dirty="0"/>
              <a:t>(5</a:t>
            </a:r>
            <a:r>
              <a:rPr lang="zh-TW" altLang="en-US" dirty="0"/>
              <a:t>、</a:t>
            </a:r>
            <a:r>
              <a:rPr lang="en-US" altLang="zh-TW" dirty="0"/>
              <a:t>9, )</a:t>
            </a:r>
            <a:br>
              <a:rPr lang="zh-TW" altLang="en-US" dirty="0"/>
            </a:br>
            <a:br>
              <a:rPr lang="zh-TW" altLang="en-US" dirty="0"/>
            </a:br>
            <a:r>
              <a:rPr lang="zh-TW" altLang="en-US" dirty="0"/>
              <a:t>你能猜出這</a:t>
            </a:r>
            <a:r>
              <a:rPr lang="en-US" altLang="zh-TW" dirty="0"/>
              <a:t>3</a:t>
            </a:r>
            <a:r>
              <a:rPr lang="zh-TW" altLang="en-US" dirty="0"/>
              <a:t>組數字間有何種關係嗎</a:t>
            </a:r>
            <a:r>
              <a:rPr lang="en-US" altLang="zh-TW" dirty="0"/>
              <a:t>?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zh-TW" altLang="en-US" dirty="0"/>
              <a:t>小學的能力就可以回答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8D4F00-F9C5-4579-ACFD-687573F5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推薦甄試面試題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答</a:t>
            </a:r>
          </a:p>
        </p:txBody>
      </p:sp>
      <p:sp>
        <p:nvSpPr>
          <p:cNvPr id="14339" name="內容版面配置區 2">
            <a:extLst>
              <a:ext uri="{FF2B5EF4-FFF2-40B4-BE49-F238E27FC236}">
                <a16:creationId xmlns:a16="http://schemas.microsoft.com/office/drawing/2014/main" id="{84DD4843-0E9D-49AE-ADBF-73A56EEFC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2350" y="2249489"/>
            <a:ext cx="7289800" cy="4022725"/>
          </a:xfrm>
        </p:spPr>
        <p:txBody>
          <a:bodyPr/>
          <a:lstStyle/>
          <a:p>
            <a:pPr eaLnBrk="1" hangingPunct="1"/>
            <a:r>
              <a:rPr lang="en-US" altLang="zh-TW" sz="2800" dirty="0"/>
              <a:t>1. 3. 7. 8 </a:t>
            </a:r>
            <a:r>
              <a:rPr lang="zh-TW" altLang="en-US" sz="2800" dirty="0"/>
              <a:t>注音都是一聲</a:t>
            </a:r>
            <a:br>
              <a:rPr lang="zh-TW" altLang="en-US" sz="2800" dirty="0"/>
            </a:br>
            <a:br>
              <a:rPr lang="zh-TW" altLang="en-US" sz="2800" dirty="0"/>
            </a:br>
            <a:r>
              <a:rPr lang="en-US" altLang="zh-TW" sz="2800" dirty="0"/>
              <a:t>2. 4. 6. </a:t>
            </a:r>
            <a:r>
              <a:rPr lang="zh-TW" altLang="en-US" sz="2800" dirty="0"/>
              <a:t>注音都是四聲</a:t>
            </a:r>
            <a:br>
              <a:rPr lang="zh-TW" altLang="en-US" sz="2800" dirty="0"/>
            </a:br>
            <a:br>
              <a:rPr lang="zh-TW" altLang="en-US" sz="2800" dirty="0"/>
            </a:br>
            <a:r>
              <a:rPr lang="en-US" altLang="zh-TW" sz="2800" dirty="0"/>
              <a:t>5. 9 </a:t>
            </a:r>
            <a:r>
              <a:rPr lang="zh-TW" altLang="en-US" sz="2800" dirty="0"/>
              <a:t>注音都是三聲</a:t>
            </a:r>
            <a:br>
              <a:rPr lang="zh-TW" altLang="en-US" sz="2800" dirty="0"/>
            </a:br>
            <a:br>
              <a:rPr lang="zh-TW" altLang="en-US" sz="2800" dirty="0"/>
            </a:br>
            <a:br>
              <a:rPr lang="zh-TW" altLang="en-US" sz="2800" dirty="0"/>
            </a:br>
            <a:r>
              <a:rPr lang="zh-TW" altLang="en-US" sz="2800" dirty="0">
                <a:solidFill>
                  <a:srgbClr val="FF0000"/>
                </a:solidFill>
              </a:rPr>
              <a:t>看到數字就想到要用數學的解題方法，我們的思想是不是都太僵化了呢？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A2B5FD-044C-4B1F-9A13-623613C32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altLang="zh-TW" dirty="0"/>
              <a:t>04.</a:t>
            </a:r>
            <a:r>
              <a:rPr lang="zh-TW" altLang="en-US" sz="6700" b="1" dirty="0">
                <a:highlight>
                  <a:srgbClr val="FFFF00"/>
                </a:highlight>
              </a:rPr>
              <a:t>收</a:t>
            </a:r>
            <a:r>
              <a:rPr lang="en-US" altLang="zh-TW" sz="6700" b="1" dirty="0"/>
              <a:t>-</a:t>
            </a:r>
            <a:r>
              <a:rPr lang="zh-TW" altLang="en-US" b="1" dirty="0"/>
              <a:t>跳脫刻板印象</a:t>
            </a:r>
            <a:br>
              <a:rPr lang="en-US" altLang="zh-TW" dirty="0"/>
            </a:br>
            <a:r>
              <a:rPr lang="zh-TW" altLang="en-US" b="1" dirty="0">
                <a:solidFill>
                  <a:srgbClr val="C00000"/>
                </a:solidFill>
              </a:rPr>
              <a:t>還原命案現場</a:t>
            </a:r>
            <a:r>
              <a:rPr lang="en-US" altLang="zh-TW" b="1" dirty="0">
                <a:solidFill>
                  <a:srgbClr val="C00000"/>
                </a:solidFill>
              </a:rPr>
              <a:t>-</a:t>
            </a:r>
            <a:r>
              <a:rPr lang="zh-TW" altLang="en-US" b="1" dirty="0">
                <a:solidFill>
                  <a:srgbClr val="C00000"/>
                </a:solidFill>
              </a:rPr>
              <a:t>問</a:t>
            </a:r>
          </a:p>
        </p:txBody>
      </p:sp>
      <p:sp>
        <p:nvSpPr>
          <p:cNvPr id="15363" name="內容版面配置區 2">
            <a:extLst>
              <a:ext uri="{FF2B5EF4-FFF2-40B4-BE49-F238E27FC236}">
                <a16:creationId xmlns:a16="http://schemas.microsoft.com/office/drawing/2014/main" id="{41AC6D2F-F239-4756-BB46-1397E05D9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036" y="2249424"/>
            <a:ext cx="11055927" cy="4023360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有一個命案現場，重要資訊如下：</a:t>
            </a:r>
            <a:endParaRPr lang="en-US" altLang="zh-TW" dirty="0"/>
          </a:p>
          <a:p>
            <a:r>
              <a:rPr lang="en-US" altLang="zh-TW" dirty="0"/>
              <a:t>01.</a:t>
            </a:r>
            <a:r>
              <a:rPr lang="zh-TW" altLang="en-US" dirty="0"/>
              <a:t>現場柔軟的地毯上倒臥了一對名為彼得和瑪莉的夫妻。</a:t>
            </a:r>
            <a:endParaRPr lang="en-US" altLang="zh-TW" dirty="0"/>
          </a:p>
          <a:p>
            <a:r>
              <a:rPr lang="en-US" altLang="zh-TW" dirty="0"/>
              <a:t>02.</a:t>
            </a:r>
            <a:r>
              <a:rPr lang="zh-TW" altLang="en-US" dirty="0"/>
              <a:t>死掉的彼得和瑪莉身上沒有任何外傷，同時也非死於疾病。</a:t>
            </a:r>
            <a:endParaRPr lang="en-US" altLang="zh-TW" dirty="0"/>
          </a:p>
          <a:p>
            <a:r>
              <a:rPr lang="en-US" altLang="zh-TW" dirty="0"/>
              <a:t>03.</a:t>
            </a:r>
            <a:r>
              <a:rPr lang="zh-TW" altLang="en-US" dirty="0"/>
              <a:t>現場有一大灘水，非常淩亂，還有被扯到一旁的地毯。</a:t>
            </a:r>
            <a:endParaRPr lang="en-US" altLang="zh-TW" dirty="0"/>
          </a:p>
          <a:p>
            <a:r>
              <a:rPr lang="en-US" altLang="zh-TW" dirty="0"/>
              <a:t>04.</a:t>
            </a:r>
            <a:r>
              <a:rPr lang="zh-TW" altLang="en-US" dirty="0"/>
              <a:t>現場有掉落的書籍、翻倒的書饋，拉扯掉的窗簾、散落一地的鍋碗瓢門，還有大量破碎的玻璃，與各種原本在桌上的東西都掉落滿地。</a:t>
            </a:r>
            <a:endParaRPr lang="en-US" altLang="zh-TW" dirty="0"/>
          </a:p>
          <a:p>
            <a:r>
              <a:rPr lang="en-US" altLang="zh-TW" dirty="0"/>
              <a:t>05.</a:t>
            </a:r>
            <a:r>
              <a:rPr lang="zh-TW" altLang="en-US" dirty="0"/>
              <a:t>現場有一隻盯著彼得和瑪莉看的大丹狗，牠是整場命案的目擊者。</a:t>
            </a:r>
            <a:endParaRPr lang="en-US" altLang="zh-TW" dirty="0"/>
          </a:p>
          <a:p>
            <a:r>
              <a:rPr lang="en-US" altLang="zh-TW" dirty="0"/>
              <a:t>06.</a:t>
            </a:r>
            <a:r>
              <a:rPr lang="zh-TW" altLang="en-US" dirty="0"/>
              <a:t>大門打開，門外也有兩隻盯著彼得和瑪莉看的野花貓，牠們也是整場命案的目擊者。</a:t>
            </a:r>
            <a:endParaRPr lang="en-US" altLang="zh-TW" dirty="0"/>
          </a:p>
          <a:p>
            <a:r>
              <a:rPr lang="zh-TW" altLang="en-US" dirty="0"/>
              <a:t>請問，能否從上述的資訊中，還原彼得和瑪莉的死因？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04D1E-C779-4CBA-BBA7-BB5F1604F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還原命案現場</a:t>
            </a:r>
            <a:r>
              <a:rPr lang="en-US" altLang="zh-TW" dirty="0"/>
              <a:t>-</a:t>
            </a:r>
            <a:r>
              <a:rPr lang="zh-TW" altLang="en-US" dirty="0"/>
              <a:t>答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652AE7-45CF-440D-BF9D-0432D4ABE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72235"/>
            <a:ext cx="9720073" cy="402336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zh-TW" altLang="en-US" dirty="0"/>
              <a:t> 起因：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大狗追逐著從門外的兩隻貓，追逐的過程，打翻了書櫃，打落了桌上的鍋碗瓢盆，也不小心推落了放在窗邊的水族箱。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死因：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彼得和瑪莉是生活在水族箱的一對金魚夫妻，掉落到鋪有柔軟地毯的地板上，因此沒有外傷，但卻因為沒有，活活缺水而死。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目前現場：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大丹狗停止了推竹兩隻野花貓，愧疚地看著死去的彼得與瑪莉，那兩隻野花貓則跑出了門外，也盯著死去的彼得與瑪莉，想趁大丹狗不注意時，叼走這對可憐的夫妻。</a:t>
            </a:r>
            <a:endParaRPr lang="en-US" altLang="zh-TW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22B607F-D58A-44C7-B237-F7FD1C0FD0A7}"/>
              </a:ext>
            </a:extLst>
          </p:cNvPr>
          <p:cNvSpPr txBox="1"/>
          <p:nvPr/>
        </p:nvSpPr>
        <p:spPr>
          <a:xfrm>
            <a:off x="2965431" y="5857285"/>
            <a:ext cx="87911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看到人名與夫妻關係就先想到人類，而不是其他動物，是否太過刻板印象了呢？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B02ECC-2252-4A1D-8D32-E7C294B2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altLang="zh-TW" sz="45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05.</a:t>
            </a:r>
            <a:r>
              <a:rPr lang="zh-TW" altLang="en-US" sz="6000" b="1" dirty="0">
                <a:solidFill>
                  <a:srgbClr val="C00000"/>
                </a:solidFill>
                <a:highlight>
                  <a:srgbClr val="FFFF00"/>
                </a:highlight>
              </a:rPr>
              <a:t>細</a:t>
            </a:r>
            <a:r>
              <a:rPr lang="en-US" altLang="zh-TW" sz="45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zh-TW" altLang="en-US" sz="45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細心的思維</a:t>
            </a:r>
            <a:br>
              <a:rPr lang="en-US" altLang="zh-TW" sz="45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zh-TW" altLang="en-US" sz="4500" b="1" dirty="0">
                <a:solidFill>
                  <a:srgbClr val="C00000"/>
                </a:solidFill>
              </a:rPr>
              <a:t>全面性的思考與計算</a:t>
            </a:r>
            <a:r>
              <a:rPr lang="en-US" altLang="zh-TW" sz="4500" b="1" dirty="0">
                <a:solidFill>
                  <a:srgbClr val="C00000"/>
                </a:solidFill>
              </a:rPr>
              <a:t>-</a:t>
            </a:r>
            <a:r>
              <a:rPr lang="zh-TW" altLang="en-US" sz="4500" b="1" dirty="0">
                <a:solidFill>
                  <a:srgbClr val="C00000"/>
                </a:solidFill>
              </a:rPr>
              <a:t>問</a:t>
            </a:r>
          </a:p>
        </p:txBody>
      </p:sp>
      <p:sp>
        <p:nvSpPr>
          <p:cNvPr id="17411" name="內容版面配置區 2">
            <a:extLst>
              <a:ext uri="{FF2B5EF4-FFF2-40B4-BE49-F238E27FC236}">
                <a16:creationId xmlns:a16="http://schemas.microsoft.com/office/drawing/2014/main" id="{8498E839-FDCF-44FF-97DA-4ACD371F5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sz="2400" dirty="0"/>
              <a:t>商店賣糖果，一個糖果有一個糖果紙，一個糖果</a:t>
            </a:r>
            <a:r>
              <a:rPr lang="en-US" altLang="zh-TW" sz="2400" dirty="0"/>
              <a:t>1</a:t>
            </a:r>
            <a:r>
              <a:rPr lang="zh-TW" altLang="en-US" sz="2400" dirty="0"/>
              <a:t>元</a:t>
            </a:r>
            <a:br>
              <a:rPr lang="zh-TW" altLang="en-US" sz="2400" dirty="0"/>
            </a:br>
            <a:r>
              <a:rPr lang="zh-TW" altLang="en-US" sz="2400" dirty="0"/>
              <a:t>現在商店在作促銷，</a:t>
            </a:r>
            <a:r>
              <a:rPr lang="en-US" altLang="zh-TW" sz="2400" dirty="0"/>
              <a:t>3</a:t>
            </a:r>
            <a:r>
              <a:rPr lang="zh-TW" altLang="en-US" sz="2400" dirty="0"/>
              <a:t>個糖果紙可以換</a:t>
            </a:r>
            <a:r>
              <a:rPr lang="en-US" altLang="zh-TW" sz="2400" dirty="0"/>
              <a:t>1</a:t>
            </a:r>
            <a:r>
              <a:rPr lang="zh-TW" altLang="en-US" sz="2400" dirty="0"/>
              <a:t>個糖果</a:t>
            </a:r>
            <a:br>
              <a:rPr lang="zh-TW" altLang="en-US" sz="2400" dirty="0"/>
            </a:br>
            <a:r>
              <a:rPr lang="zh-TW" altLang="en-US" sz="2400" dirty="0"/>
              <a:t>請問</a:t>
            </a:r>
            <a:r>
              <a:rPr lang="en-US" altLang="zh-TW" sz="2400" dirty="0"/>
              <a:t>15</a:t>
            </a:r>
            <a:r>
              <a:rPr lang="zh-TW" altLang="en-US" sz="2400" dirty="0"/>
              <a:t>元最多可以吃幾個糖果？</a:t>
            </a:r>
            <a:endParaRPr lang="en-US" altLang="zh-TW" sz="2400" dirty="0"/>
          </a:p>
          <a:p>
            <a:pPr eaLnBrk="1" hangingPunct="1"/>
            <a:endParaRPr lang="en-US" altLang="zh-TW" sz="2400" dirty="0"/>
          </a:p>
          <a:p>
            <a:pPr eaLnBrk="1" hangingPunct="1"/>
            <a:r>
              <a:rPr lang="en-US" altLang="zh-TW" sz="2400" dirty="0"/>
              <a:t>A.0</a:t>
            </a:r>
            <a:r>
              <a:rPr lang="zh-TW" altLang="en-US" sz="2400" dirty="0"/>
              <a:t>個</a:t>
            </a:r>
            <a:br>
              <a:rPr lang="zh-TW" altLang="en-US" sz="2400" dirty="0"/>
            </a:br>
            <a:r>
              <a:rPr lang="en-US" altLang="zh-TW" sz="2400" dirty="0"/>
              <a:t>B.15</a:t>
            </a:r>
            <a:r>
              <a:rPr lang="zh-TW" altLang="en-US" sz="2400" dirty="0"/>
              <a:t>個</a:t>
            </a:r>
            <a:br>
              <a:rPr lang="zh-TW" altLang="en-US" sz="2400" dirty="0"/>
            </a:br>
            <a:r>
              <a:rPr lang="en-US" altLang="zh-TW" sz="2400" dirty="0"/>
              <a:t>C.20</a:t>
            </a:r>
            <a:r>
              <a:rPr lang="zh-TW" altLang="en-US" sz="2400" dirty="0"/>
              <a:t>個</a:t>
            </a:r>
            <a:br>
              <a:rPr lang="zh-TW" altLang="en-US" sz="2400" dirty="0"/>
            </a:br>
            <a:r>
              <a:rPr lang="en-US" altLang="zh-TW" sz="2400" dirty="0"/>
              <a:t>D.21</a:t>
            </a:r>
            <a:r>
              <a:rPr lang="zh-TW" altLang="en-US" sz="2400" dirty="0"/>
              <a:t>個</a:t>
            </a:r>
            <a:br>
              <a:rPr lang="zh-TW" altLang="en-US" sz="2400" dirty="0"/>
            </a:br>
            <a:r>
              <a:rPr lang="en-US" altLang="zh-TW" sz="2400" dirty="0"/>
              <a:t>E.22</a:t>
            </a:r>
            <a:r>
              <a:rPr lang="zh-TW" altLang="en-US" sz="2400" dirty="0"/>
              <a:t>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423F9-F3BC-4FEF-8DE1-7A308CA07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全面性的思考與計算</a:t>
            </a:r>
            <a:r>
              <a:rPr lang="en-US" altLang="zh-TW" dirty="0">
                <a:solidFill>
                  <a:schemeClr val="tx1">
                    <a:lumMod val="95000"/>
                    <a:lumOff val="5000"/>
                  </a:schemeClr>
                </a:solidFill>
              </a:rPr>
              <a:t>-</a:t>
            </a:r>
            <a:r>
              <a:rPr lang="zh-TW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答</a:t>
            </a:r>
          </a:p>
        </p:txBody>
      </p:sp>
      <p:sp>
        <p:nvSpPr>
          <p:cNvPr id="18435" name="內容版面配置區 2">
            <a:extLst>
              <a:ext uri="{FF2B5EF4-FFF2-40B4-BE49-F238E27FC236}">
                <a16:creationId xmlns:a16="http://schemas.microsoft.com/office/drawing/2014/main" id="{55F4E2E0-6273-4142-8D0C-49076665F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TW" altLang="en-US" sz="3200"/>
              <a:t>花了</a:t>
            </a:r>
            <a:r>
              <a:rPr lang="en-US" altLang="zh-TW" sz="3200"/>
              <a:t>15</a:t>
            </a:r>
            <a:r>
              <a:rPr lang="zh-TW" altLang="en-US" sz="3200"/>
              <a:t>元→買了</a:t>
            </a:r>
            <a:r>
              <a:rPr lang="en-US" altLang="zh-TW" sz="3200"/>
              <a:t>15</a:t>
            </a:r>
            <a:r>
              <a:rPr lang="zh-TW" altLang="en-US" sz="3200"/>
              <a:t>個糖</a:t>
            </a:r>
            <a:br>
              <a:rPr lang="zh-TW" altLang="en-US" sz="3200"/>
            </a:br>
            <a:r>
              <a:rPr lang="zh-TW" altLang="en-US" sz="3200"/>
              <a:t>有</a:t>
            </a:r>
            <a:r>
              <a:rPr lang="en-US" altLang="zh-TW" sz="3200"/>
              <a:t>15</a:t>
            </a:r>
            <a:r>
              <a:rPr lang="zh-TW" altLang="en-US" sz="3200"/>
              <a:t>個包裝紙→換了</a:t>
            </a:r>
            <a:r>
              <a:rPr lang="en-US" altLang="zh-TW" sz="3200"/>
              <a:t>5</a:t>
            </a:r>
            <a:r>
              <a:rPr lang="zh-TW" altLang="en-US" sz="3200"/>
              <a:t>個糖</a:t>
            </a:r>
            <a:br>
              <a:rPr lang="zh-TW" altLang="en-US" sz="3200"/>
            </a:br>
            <a:r>
              <a:rPr lang="zh-TW" altLang="en-US" sz="3200"/>
              <a:t>有</a:t>
            </a:r>
            <a:r>
              <a:rPr lang="en-US" altLang="zh-TW" sz="3200"/>
              <a:t>5</a:t>
            </a:r>
            <a:r>
              <a:rPr lang="zh-TW" altLang="en-US" sz="3200"/>
              <a:t>個包裝紙→換了</a:t>
            </a:r>
            <a:r>
              <a:rPr lang="en-US" altLang="zh-TW" sz="3200"/>
              <a:t>1</a:t>
            </a:r>
            <a:r>
              <a:rPr lang="zh-TW" altLang="en-US" sz="3200"/>
              <a:t>個糖</a:t>
            </a:r>
            <a:br>
              <a:rPr lang="zh-TW" altLang="en-US" sz="3200"/>
            </a:br>
            <a:r>
              <a:rPr lang="zh-TW" altLang="en-US" sz="3200"/>
              <a:t>剩下</a:t>
            </a:r>
            <a:r>
              <a:rPr lang="en-US" altLang="zh-TW" sz="3200"/>
              <a:t>2</a:t>
            </a:r>
            <a:r>
              <a:rPr lang="zh-TW" altLang="en-US" sz="3200"/>
              <a:t>張，加上最後</a:t>
            </a:r>
            <a:r>
              <a:rPr lang="en-US" altLang="zh-TW" sz="3200"/>
              <a:t>1</a:t>
            </a:r>
            <a:r>
              <a:rPr lang="zh-TW" altLang="en-US" sz="3200"/>
              <a:t>張→又換了</a:t>
            </a:r>
            <a:r>
              <a:rPr lang="en-US" altLang="zh-TW" sz="3200"/>
              <a:t>1</a:t>
            </a:r>
            <a:r>
              <a:rPr lang="zh-TW" altLang="en-US" sz="3200"/>
              <a:t>個糖</a:t>
            </a:r>
            <a:br>
              <a:rPr lang="zh-TW" altLang="en-US" sz="3200"/>
            </a:br>
            <a:r>
              <a:rPr lang="zh-TW" altLang="en-US" sz="3200"/>
              <a:t>總共</a:t>
            </a:r>
            <a:r>
              <a:rPr lang="en-US" altLang="zh-TW" sz="3200"/>
              <a:t>:15+5+1+1=22</a:t>
            </a:r>
            <a:endParaRPr lang="zh-TW" altLang="en-US" sz="320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7A71539-1D6A-4703-B1F5-FCB84B66E13D}"/>
              </a:ext>
            </a:extLst>
          </p:cNvPr>
          <p:cNvSpPr txBox="1"/>
          <p:nvPr/>
        </p:nvSpPr>
        <p:spPr>
          <a:xfrm>
            <a:off x="2216110" y="6078527"/>
            <a:ext cx="97200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忘記算了最後一個還能兌換的糖果紙，很多人都失敗在最後一哩路。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35F45E-8478-449D-87E2-B8A6D26C1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500" b="1" dirty="0"/>
              <a:t>06.</a:t>
            </a:r>
            <a:r>
              <a:rPr lang="zh-TW" altLang="en-US" sz="6000" b="1" dirty="0">
                <a:solidFill>
                  <a:srgbClr val="C00000"/>
                </a:solidFill>
                <a:highlight>
                  <a:srgbClr val="FFFF00"/>
                </a:highlight>
              </a:rPr>
              <a:t>洞</a:t>
            </a:r>
            <a:r>
              <a:rPr lang="en-US" altLang="zh-TW" sz="4500" b="1" dirty="0"/>
              <a:t>-</a:t>
            </a:r>
            <a:r>
              <a:rPr lang="zh-TW" altLang="en-US" sz="4500" b="1" dirty="0"/>
              <a:t>提出自己的觀點</a:t>
            </a:r>
            <a:r>
              <a:rPr lang="en-US" altLang="zh-TW" sz="4500" b="1" dirty="0"/>
              <a:t>-</a:t>
            </a:r>
            <a:r>
              <a:rPr lang="zh-TW" altLang="en-US" sz="4500" b="1" dirty="0"/>
              <a:t>關聯度分析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353600-EB19-4BE8-A960-10361C1FD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16482"/>
            <a:ext cx="9720073" cy="4392878"/>
          </a:xfrm>
        </p:spPr>
        <p:txBody>
          <a:bodyPr/>
          <a:lstStyle/>
          <a:p>
            <a:r>
              <a:rPr lang="zh-TW" altLang="en-US" sz="3600" dirty="0"/>
              <a:t>關聯度分析</a:t>
            </a:r>
            <a:r>
              <a:rPr lang="en-US" altLang="zh-TW" sz="3600" dirty="0"/>
              <a:t>-</a:t>
            </a:r>
            <a:r>
              <a:rPr lang="zh-TW" altLang="en-US" sz="3600" dirty="0"/>
              <a:t>問</a:t>
            </a:r>
            <a:endParaRPr lang="en-US" altLang="zh-TW" sz="3600" dirty="0"/>
          </a:p>
          <a:p>
            <a:r>
              <a:rPr lang="zh-TW" altLang="en-US" sz="3600" dirty="0"/>
              <a:t>請寫出「鞋子」和「鉛筆」的共通點？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91F31D-24CF-4B02-9AED-6FBA41288A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552257" y="3429001"/>
            <a:ext cx="4735809" cy="313670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46D589B-6449-4D95-85DB-F4195B723F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530417" y="3424529"/>
            <a:ext cx="4735809" cy="315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924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EA35FC-25DB-47ED-BB4E-B1B221C75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關聯度分析</a:t>
            </a:r>
            <a:r>
              <a:rPr lang="en-US" altLang="zh-TW" dirty="0"/>
              <a:t>-</a:t>
            </a:r>
            <a:r>
              <a:rPr lang="zh-TW" altLang="en-US" dirty="0"/>
              <a:t>答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E0C75A-17E1-4EF6-8E27-424FEF342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59379"/>
            <a:ext cx="9720073" cy="4023360"/>
          </a:xfrm>
        </p:spPr>
        <p:txBody>
          <a:bodyPr/>
          <a:lstStyle/>
          <a:p>
            <a:r>
              <a:rPr lang="zh-TW" altLang="en-US" dirty="0"/>
              <a:t>最佳答案：鞋子與鉛筆都能創造痕跡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鞋子會創造足跡，而鉛筆會創造筆跡 </a:t>
            </a:r>
            <a:r>
              <a:rPr lang="en-US" altLang="zh-TW" dirty="0"/>
              <a:t>(</a:t>
            </a:r>
            <a:r>
              <a:rPr lang="zh-TW" altLang="en-US" dirty="0"/>
              <a:t>來自一位國小三年級同學的答案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另一種問法：</a:t>
            </a:r>
            <a:endParaRPr lang="en-US" altLang="zh-TW" dirty="0"/>
          </a:p>
          <a:p>
            <a:r>
              <a:rPr lang="zh-TW" altLang="en-US" dirty="0"/>
              <a:t>鞋子和鉛筆哪個地方最不一樣？</a:t>
            </a:r>
            <a:endParaRPr lang="en-US" altLang="zh-TW" dirty="0"/>
          </a:p>
          <a:p>
            <a:r>
              <a:rPr lang="zh-TW" altLang="en-US" dirty="0"/>
              <a:t>最佳答案：</a:t>
            </a:r>
            <a:endParaRPr lang="en-US" altLang="zh-TW" dirty="0"/>
          </a:p>
          <a:p>
            <a:r>
              <a:rPr lang="zh-TW" altLang="en-US" dirty="0"/>
              <a:t>鞋子需包住身體的一部分才能用，而鉛筆則要用身體的一部分來包住才能用。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1165A47-DB5B-4169-99DF-88E5A8B7F261}"/>
              </a:ext>
            </a:extLst>
          </p:cNvPr>
          <p:cNvSpPr txBox="1"/>
          <p:nvPr/>
        </p:nvSpPr>
        <p:spPr>
          <a:xfrm>
            <a:off x="6841671" y="865414"/>
            <a:ext cx="49802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各位能想到更有趣的關聯嗎？</a:t>
            </a:r>
            <a:endParaRPr lang="en-US" altLang="zh-TW" sz="2400" dirty="0">
              <a:solidFill>
                <a:srgbClr val="FF0000"/>
              </a:solidFill>
            </a:endParaRPr>
          </a:p>
          <a:p>
            <a:r>
              <a:rPr lang="zh-TW" altLang="en-US" sz="2400" dirty="0">
                <a:solidFill>
                  <a:srgbClr val="FF0000"/>
                </a:solidFill>
              </a:rPr>
              <a:t>有沒有想過，其實我們所認知的一切都是人為賦予意義的內容，是否有機會自己創造意義呢？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08518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5B59B6-5744-48AF-8A78-30BAC6FD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85216"/>
            <a:ext cx="10292621" cy="1499616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altLang="zh-TW" dirty="0"/>
              <a:t>07.</a:t>
            </a:r>
            <a:r>
              <a:rPr lang="zh-TW" altLang="en-US" sz="6700" b="1" dirty="0">
                <a:solidFill>
                  <a:srgbClr val="C00000"/>
                </a:solidFill>
                <a:highlight>
                  <a:srgbClr val="FFFF00"/>
                </a:highlight>
              </a:rPr>
              <a:t>真</a:t>
            </a:r>
            <a:r>
              <a:rPr lang="en-US" altLang="zh-TW" b="1" dirty="0"/>
              <a:t>-</a:t>
            </a:r>
            <a:r>
              <a:rPr lang="zh-TW" altLang="en-US" b="1" dirty="0"/>
              <a:t>找到表象內的真實</a:t>
            </a:r>
            <a:r>
              <a:rPr lang="en-US" altLang="zh-TW" b="1" dirty="0"/>
              <a:t>-</a:t>
            </a:r>
            <a:r>
              <a:rPr lang="zh-TW" altLang="en-US" b="1" dirty="0"/>
              <a:t>抽象思維訓練</a:t>
            </a:r>
            <a:br>
              <a:rPr lang="en-US" altLang="zh-TW" dirty="0"/>
            </a:br>
            <a:r>
              <a:rPr lang="zh-TW" altLang="en-US" b="1" dirty="0">
                <a:solidFill>
                  <a:srgbClr val="C00000"/>
                </a:solidFill>
              </a:rPr>
              <a:t>理性邏輯分析</a:t>
            </a:r>
            <a:r>
              <a:rPr lang="en-US" altLang="zh-TW" b="1" dirty="0">
                <a:solidFill>
                  <a:srgbClr val="C00000"/>
                </a:solidFill>
              </a:rPr>
              <a:t>-</a:t>
            </a:r>
            <a:r>
              <a:rPr lang="zh-TW" altLang="en-US" b="1" dirty="0">
                <a:solidFill>
                  <a:srgbClr val="C00000"/>
                </a:solidFill>
              </a:rPr>
              <a:t>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6016E71-32BF-40EC-9D91-0FD6107BA2B5}"/>
              </a:ext>
            </a:extLst>
          </p:cNvPr>
          <p:cNvSpPr/>
          <p:nvPr/>
        </p:nvSpPr>
        <p:spPr>
          <a:xfrm>
            <a:off x="550598" y="3532038"/>
            <a:ext cx="1856858" cy="1856858"/>
          </a:xfrm>
          <a:prstGeom prst="rect">
            <a:avLst/>
          </a:prstGeom>
          <a:solidFill>
            <a:srgbClr val="FF0000"/>
          </a:solidFill>
          <a:ln w="254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61D8C9-B153-4354-A44E-07A172C63DE2}"/>
              </a:ext>
            </a:extLst>
          </p:cNvPr>
          <p:cNvSpPr/>
          <p:nvPr/>
        </p:nvSpPr>
        <p:spPr>
          <a:xfrm>
            <a:off x="3017073" y="3531576"/>
            <a:ext cx="1856858" cy="1856858"/>
          </a:xfrm>
          <a:prstGeom prst="rect">
            <a:avLst/>
          </a:prstGeom>
          <a:solidFill>
            <a:srgbClr val="FF000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26CFF620-A272-4FB3-B472-B4315B96E405}"/>
              </a:ext>
            </a:extLst>
          </p:cNvPr>
          <p:cNvSpPr/>
          <p:nvPr/>
        </p:nvSpPr>
        <p:spPr>
          <a:xfrm>
            <a:off x="5483548" y="3531576"/>
            <a:ext cx="1856858" cy="1856858"/>
          </a:xfrm>
          <a:prstGeom prst="ellipse">
            <a:avLst/>
          </a:prstGeom>
          <a:solidFill>
            <a:srgbClr val="FF0000"/>
          </a:solidFill>
          <a:ln w="254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A34172-8C18-4509-88D8-EA3EDB3A9F06}"/>
              </a:ext>
            </a:extLst>
          </p:cNvPr>
          <p:cNvSpPr/>
          <p:nvPr/>
        </p:nvSpPr>
        <p:spPr>
          <a:xfrm>
            <a:off x="8031949" y="3532038"/>
            <a:ext cx="1856858" cy="1856858"/>
          </a:xfrm>
          <a:prstGeom prst="rect">
            <a:avLst/>
          </a:prstGeom>
          <a:solidFill>
            <a:schemeClr val="accent6"/>
          </a:solidFill>
          <a:ln w="254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FA3DE9B-A556-495E-BAE6-04CB3CF23FE0}"/>
              </a:ext>
            </a:extLst>
          </p:cNvPr>
          <p:cNvSpPr/>
          <p:nvPr/>
        </p:nvSpPr>
        <p:spPr>
          <a:xfrm>
            <a:off x="10744199" y="4020665"/>
            <a:ext cx="879603" cy="879603"/>
          </a:xfrm>
          <a:prstGeom prst="rect">
            <a:avLst/>
          </a:prstGeom>
          <a:solidFill>
            <a:srgbClr val="FF0000"/>
          </a:solidFill>
          <a:ln w="254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9D8ED5F-52C5-40BD-85DE-81669939370F}"/>
              </a:ext>
            </a:extLst>
          </p:cNvPr>
          <p:cNvSpPr txBox="1"/>
          <p:nvPr/>
        </p:nvSpPr>
        <p:spPr>
          <a:xfrm>
            <a:off x="1024127" y="5699991"/>
            <a:ext cx="6850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6000" dirty="0"/>
              <a:t>A</a:t>
            </a:r>
            <a:endParaRPr lang="zh-TW" altLang="en-US" sz="6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325A3B69-B38E-4434-9F3C-0A3DD30C06C8}"/>
              </a:ext>
            </a:extLst>
          </p:cNvPr>
          <p:cNvSpPr txBox="1"/>
          <p:nvPr/>
        </p:nvSpPr>
        <p:spPr>
          <a:xfrm>
            <a:off x="3602960" y="5699990"/>
            <a:ext cx="6850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6000" dirty="0"/>
              <a:t>B</a:t>
            </a:r>
            <a:endParaRPr lang="zh-TW" altLang="en-US" sz="60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E27F5CD-40F4-462E-9E75-42CB5077ED4F}"/>
              </a:ext>
            </a:extLst>
          </p:cNvPr>
          <p:cNvSpPr txBox="1"/>
          <p:nvPr/>
        </p:nvSpPr>
        <p:spPr>
          <a:xfrm>
            <a:off x="6095999" y="5699989"/>
            <a:ext cx="6850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6000" dirty="0"/>
              <a:t>C</a:t>
            </a:r>
            <a:endParaRPr lang="zh-TW" altLang="en-US" sz="6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298AE18-F97F-476E-93F8-F330DCD441E6}"/>
              </a:ext>
            </a:extLst>
          </p:cNvPr>
          <p:cNvSpPr txBox="1"/>
          <p:nvPr/>
        </p:nvSpPr>
        <p:spPr>
          <a:xfrm>
            <a:off x="8593765" y="5699988"/>
            <a:ext cx="6850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6000" dirty="0"/>
              <a:t>D</a:t>
            </a:r>
            <a:endParaRPr lang="zh-TW" altLang="en-US" sz="60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1EAC646-0AD5-4593-B7DF-EFFAA58BEA86}"/>
              </a:ext>
            </a:extLst>
          </p:cNvPr>
          <p:cNvSpPr txBox="1"/>
          <p:nvPr/>
        </p:nvSpPr>
        <p:spPr>
          <a:xfrm>
            <a:off x="10841458" y="5699987"/>
            <a:ext cx="6850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6000" dirty="0"/>
              <a:t>E</a:t>
            </a:r>
            <a:endParaRPr lang="zh-TW" altLang="en-US" sz="60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D60BF94-5CD4-4241-B03C-7FC1D515BB38}"/>
              </a:ext>
            </a:extLst>
          </p:cNvPr>
          <p:cNvSpPr txBox="1"/>
          <p:nvPr/>
        </p:nvSpPr>
        <p:spPr>
          <a:xfrm>
            <a:off x="682363" y="2217668"/>
            <a:ext cx="109414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400" dirty="0"/>
              <a:t>以下哪一個圖型更「獨特」於其他四個？</a:t>
            </a:r>
          </a:p>
        </p:txBody>
      </p:sp>
    </p:spTree>
    <p:extLst>
      <p:ext uri="{BB962C8B-B14F-4D97-AF65-F5344CB8AC3E}">
        <p14:creationId xmlns:p14="http://schemas.microsoft.com/office/powerpoint/2010/main" val="2347145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89B3F4-4991-4647-A478-2486D16F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理性邏輯分析</a:t>
            </a:r>
            <a:r>
              <a:rPr lang="en-US" altLang="zh-TW" dirty="0"/>
              <a:t>-</a:t>
            </a:r>
            <a:r>
              <a:rPr lang="zh-TW" altLang="en-US" dirty="0"/>
              <a:t>答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5541F48-166F-4DDD-806E-681450528ED7}"/>
              </a:ext>
            </a:extLst>
          </p:cNvPr>
          <p:cNvSpPr txBox="1"/>
          <p:nvPr/>
        </p:nvSpPr>
        <p:spPr>
          <a:xfrm>
            <a:off x="4560421" y="4122937"/>
            <a:ext cx="531294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zh-TW" altLang="en-US" sz="1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altLang="zh-TW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圖：</a:t>
            </a:r>
            <a:r>
              <a:rPr lang="en-US" altLang="zh-TW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紅、</a:t>
            </a:r>
            <a:r>
              <a:rPr lang="en-US" altLang="zh-TW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方、</a:t>
            </a:r>
            <a:r>
              <a:rPr lang="en-US" altLang="zh-TW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有框、</a:t>
            </a:r>
            <a:r>
              <a:rPr lang="en-US" altLang="zh-TW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大。</a:t>
            </a:r>
          </a:p>
          <a:p>
            <a:r>
              <a:rPr lang="en-US" altLang="zh-TW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圖：</a:t>
            </a:r>
            <a:r>
              <a:rPr lang="en-US" altLang="zh-TW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紅、</a:t>
            </a:r>
            <a:r>
              <a:rPr lang="en-US" altLang="zh-TW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方、</a:t>
            </a:r>
            <a:r>
              <a:rPr lang="en-US" altLang="zh-TW" sz="2800" b="0" i="0" u="none" strike="noStrike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b="0" i="0" u="none" strike="noStrike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無框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大。</a:t>
            </a:r>
          </a:p>
          <a:p>
            <a:r>
              <a:rPr lang="en-US" altLang="zh-TW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圖：</a:t>
            </a:r>
            <a:r>
              <a:rPr lang="en-US" altLang="zh-TW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紅、</a:t>
            </a:r>
            <a:r>
              <a:rPr lang="en-US" altLang="zh-TW" sz="2800" b="0" i="0" u="none" strike="noStrike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b="0" i="0" u="none" strike="noStrike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圓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有框、</a:t>
            </a:r>
            <a:r>
              <a:rPr lang="en-US" altLang="zh-TW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大。</a:t>
            </a:r>
          </a:p>
          <a:p>
            <a:r>
              <a:rPr lang="en-US" altLang="zh-TW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圖：</a:t>
            </a:r>
            <a:r>
              <a:rPr lang="en-US" altLang="zh-TW" sz="2800" b="0" i="0" u="none" strike="noStrike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b="0" i="0" u="none" strike="noStrike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藍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方、</a:t>
            </a:r>
            <a:r>
              <a:rPr lang="en-US" altLang="zh-TW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有框、</a:t>
            </a:r>
            <a:r>
              <a:rPr lang="en-US" altLang="zh-TW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大。</a:t>
            </a:r>
          </a:p>
          <a:p>
            <a:r>
              <a:rPr lang="en-US" altLang="zh-TW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圖：</a:t>
            </a:r>
            <a:r>
              <a:rPr lang="en-US" altLang="zh-TW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紅、</a:t>
            </a:r>
            <a:r>
              <a:rPr lang="en-US" altLang="zh-TW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方、</a:t>
            </a:r>
            <a:r>
              <a:rPr lang="en-US" altLang="zh-TW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800" b="0" i="0" u="none" strike="noStrike" baseline="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有框、</a:t>
            </a:r>
            <a:r>
              <a:rPr lang="en-US" altLang="zh-TW" sz="2800" b="0" i="0" u="none" strike="noStrike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b="0" i="0" u="none" strike="noStrike" baseline="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7998412-248F-4F54-AA5B-65B533A663F6}"/>
              </a:ext>
            </a:extLst>
          </p:cNvPr>
          <p:cNvSpPr txBox="1"/>
          <p:nvPr/>
        </p:nvSpPr>
        <p:spPr>
          <a:xfrm>
            <a:off x="4514635" y="1947780"/>
            <a:ext cx="69860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與其他</a:t>
            </a:r>
            <a:r>
              <a:rPr lang="en-US" altLang="zh-TW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BCDE</a:t>
            </a:r>
            <a:r>
              <a:rPr lang="zh-TW" altLang="en-US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都不同，沒有特殊的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地方</a:t>
            </a:r>
            <a:r>
              <a:rPr lang="zh-TW" altLang="en-US" sz="28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5996B17-DD96-40C1-9DDD-9F9D8F033651}"/>
              </a:ext>
            </a:extLst>
          </p:cNvPr>
          <p:cNvSpPr txBox="1"/>
          <p:nvPr/>
        </p:nvSpPr>
        <p:spPr>
          <a:xfrm>
            <a:off x="940445" y="1938173"/>
            <a:ext cx="23503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答案：</a:t>
            </a:r>
            <a:r>
              <a:rPr lang="en-US" altLang="zh-TW" sz="3600" b="0" i="0" u="none" strike="noStrike" baseline="0" dirty="0">
                <a:latin typeface="Calibri" panose="020F0502020204030204" pitchFamily="34" charset="0"/>
                <a:ea typeface="微軟正黑體" panose="020B0604030504040204" pitchFamily="34" charset="-120"/>
              </a:rPr>
              <a:t>A</a:t>
            </a:r>
            <a:r>
              <a:rPr lang="zh-TW" altLang="en-US" sz="36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3600" b="0" i="0" u="none" strike="noStrike" baseline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A81DFF4-A6B5-4649-8F8B-0E2088277DB6}"/>
              </a:ext>
            </a:extLst>
          </p:cNvPr>
          <p:cNvSpPr txBox="1"/>
          <p:nvPr/>
        </p:nvSpPr>
        <p:spPr>
          <a:xfrm>
            <a:off x="1032837" y="2646059"/>
            <a:ext cx="3041658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zh-TW" altLang="en-US" sz="900" b="0" i="0" u="none" strike="noStrike" baseline="0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ABCDE</a:t>
            </a:r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這五張圖</a:t>
            </a:r>
            <a:endParaRPr lang="en-US" altLang="zh-TW" sz="2400" b="0" i="0" u="none" strike="noStrike" baseline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有四種特質：</a:t>
            </a:r>
          </a:p>
          <a:p>
            <a:r>
              <a:rPr lang="en-US" altLang="zh-TW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顏色、</a:t>
            </a:r>
            <a:r>
              <a:rPr lang="en-US" altLang="zh-TW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形狀、</a:t>
            </a:r>
            <a:endParaRPr lang="en-US" altLang="zh-TW" sz="2400" b="0" i="0" u="none" strike="noStrike" baseline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邊框、</a:t>
            </a:r>
            <a:r>
              <a:rPr lang="en-US" altLang="zh-TW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</a:t>
            </a:r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尺寸。</a:t>
            </a:r>
          </a:p>
          <a:p>
            <a:endParaRPr lang="en-US" altLang="zh-TW" sz="2400" b="0" i="0" u="none" strike="noStrike" baseline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顏色：</a:t>
            </a:r>
            <a:r>
              <a:rPr lang="en-US" altLang="zh-TW" sz="2400" b="0" i="0" u="none" strike="noStrike" baseline="0" dirty="0">
                <a:latin typeface="Calibri" panose="020F0502020204030204" pitchFamily="34" charset="0"/>
                <a:ea typeface="微軟正黑體" panose="020B0604030504040204" pitchFamily="34" charset="-120"/>
              </a:rPr>
              <a:t>4</a:t>
            </a:r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紅</a:t>
            </a:r>
            <a:r>
              <a:rPr lang="en-US" altLang="zh-TW" sz="2400" b="0" i="0" u="none" strike="noStrike" baseline="0" dirty="0">
                <a:latin typeface="Calibri" panose="020F0502020204030204" pitchFamily="34" charset="0"/>
                <a:ea typeface="微軟正黑體" panose="020B0604030504040204" pitchFamily="34" charset="-120"/>
              </a:rPr>
              <a:t>1</a:t>
            </a:r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藍。</a:t>
            </a:r>
          </a:p>
          <a:p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形狀：</a:t>
            </a:r>
            <a:r>
              <a:rPr lang="en-US" altLang="zh-TW" sz="2400" b="0" i="0" u="none" strike="noStrike" baseline="0" dirty="0">
                <a:latin typeface="Calibri" panose="020F0502020204030204" pitchFamily="34" charset="0"/>
                <a:ea typeface="微軟正黑體" panose="020B0604030504040204" pitchFamily="34" charset="-120"/>
              </a:rPr>
              <a:t>4</a:t>
            </a:r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</a:t>
            </a:r>
            <a:r>
              <a:rPr lang="en-US" altLang="zh-TW" sz="2400" b="0" i="0" u="none" strike="noStrike" baseline="0" dirty="0">
                <a:latin typeface="Calibri" panose="020F0502020204030204" pitchFamily="34" charset="0"/>
                <a:ea typeface="微軟正黑體" panose="020B0604030504040204" pitchFamily="34" charset="-120"/>
              </a:rPr>
              <a:t>1</a:t>
            </a:r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圓。</a:t>
            </a:r>
          </a:p>
          <a:p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邊框：</a:t>
            </a:r>
            <a:r>
              <a:rPr lang="en-US" altLang="zh-TW" sz="2400" b="0" i="0" u="none" strike="noStrike" baseline="0" dirty="0">
                <a:latin typeface="Calibri" panose="020F0502020204030204" pitchFamily="34" charset="0"/>
                <a:ea typeface="微軟正黑體" panose="020B0604030504040204" pitchFamily="34" charset="-120"/>
              </a:rPr>
              <a:t>4</a:t>
            </a:r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框</a:t>
            </a:r>
            <a:r>
              <a:rPr lang="en-US" altLang="zh-TW" sz="2400" b="0" i="0" u="none" strike="noStrike" baseline="0" dirty="0">
                <a:latin typeface="Calibri" panose="020F0502020204030204" pitchFamily="34" charset="0"/>
                <a:ea typeface="微軟正黑體" panose="020B0604030504040204" pitchFamily="34" charset="-120"/>
              </a:rPr>
              <a:t>1</a:t>
            </a:r>
            <a:r>
              <a:rPr lang="zh-TW" altLang="en-US" sz="2400" b="0" i="0" u="none" strike="noStrike" baseline="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無框。</a:t>
            </a:r>
            <a:endParaRPr lang="en-US" altLang="zh-TW" sz="2400" b="0" i="0" u="none" strike="noStrike" baseline="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尺寸：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小。</a:t>
            </a:r>
            <a:endParaRPr lang="zh-TW" altLang="en-US" sz="2400" dirty="0"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5592CF6-1A95-4786-918F-4F1A88E43EB9}"/>
              </a:ext>
            </a:extLst>
          </p:cNvPr>
          <p:cNvSpPr txBox="1"/>
          <p:nvPr/>
        </p:nvSpPr>
        <p:spPr>
          <a:xfrm>
            <a:off x="5607095" y="219461"/>
            <a:ext cx="66512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思考本質，才能看到真相，也才能有好的人生。</a:t>
            </a:r>
            <a:endParaRPr lang="zh-TW" altLang="en-US" sz="2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BA238EB-0DA3-4783-98E1-013E45E27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635" y="2584504"/>
            <a:ext cx="4922328" cy="146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243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DB4824-50C1-4C2C-9FE6-67E9C762D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25" y="157704"/>
            <a:ext cx="9720072" cy="1499616"/>
          </a:xfrm>
        </p:spPr>
        <p:txBody>
          <a:bodyPr/>
          <a:lstStyle/>
          <a:p>
            <a:r>
              <a:rPr lang="zh-TW" altLang="en-US" b="1" dirty="0"/>
              <a:t>結論</a:t>
            </a:r>
            <a:r>
              <a:rPr lang="en-US" altLang="zh-TW" b="1" dirty="0"/>
              <a:t>-</a:t>
            </a:r>
            <a:r>
              <a:rPr lang="zh-TW" altLang="en-US" b="1" dirty="0"/>
              <a:t>創新策略的全面性思考原則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EE938D-4F3D-42D2-A25C-D32B85C9E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754" y="1657320"/>
            <a:ext cx="10400726" cy="483848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dirty="0"/>
              <a:t>我們需要不斷地思考，並且規劃與提出對全部利害關係人最</a:t>
            </a:r>
            <a:r>
              <a:rPr lang="zh-TW" altLang="en-US" sz="2800" dirty="0">
                <a:solidFill>
                  <a:srgbClr val="FF0000"/>
                </a:solidFill>
              </a:rPr>
              <a:t>合</a:t>
            </a:r>
            <a:r>
              <a:rPr lang="zh-TW" altLang="en-US" sz="3600" b="1" dirty="0">
                <a:solidFill>
                  <a:schemeClr val="bg1"/>
                </a:solidFill>
                <a:highlight>
                  <a:srgbClr val="000000"/>
                </a:highlight>
              </a:rPr>
              <a:t>理</a:t>
            </a:r>
            <a:r>
              <a:rPr lang="zh-TW" altLang="en-US" sz="2800" dirty="0">
                <a:solidFill>
                  <a:srgbClr val="FF0000"/>
                </a:solidFill>
              </a:rPr>
              <a:t>的安排</a:t>
            </a:r>
            <a:r>
              <a:rPr lang="zh-TW" altLang="en-US" sz="2800" dirty="0"/>
              <a:t>，並且從複雜環境中</a:t>
            </a:r>
            <a:r>
              <a:rPr lang="zh-TW" altLang="en-US" sz="3600" b="1" dirty="0">
                <a:solidFill>
                  <a:schemeClr val="bg1"/>
                </a:solidFill>
                <a:highlight>
                  <a:srgbClr val="000000"/>
                </a:highlight>
              </a:rPr>
              <a:t>問</a:t>
            </a:r>
            <a:r>
              <a:rPr lang="zh-TW" altLang="en-US" sz="2800" dirty="0">
                <a:solidFill>
                  <a:srgbClr val="FF0000"/>
                </a:solidFill>
              </a:rPr>
              <a:t>出問題的核心點</a:t>
            </a:r>
            <a:r>
              <a:rPr lang="zh-TW" altLang="en-US" sz="2800" dirty="0"/>
              <a:t>，</a:t>
            </a:r>
            <a:r>
              <a:rPr lang="zh-TW" altLang="en-US" sz="2800" dirty="0">
                <a:solidFill>
                  <a:srgbClr val="FF0000"/>
                </a:solidFill>
              </a:rPr>
              <a:t>突破框架，</a:t>
            </a:r>
            <a:r>
              <a:rPr lang="zh-TW" altLang="en-US" sz="3600" b="1" dirty="0">
                <a:solidFill>
                  <a:schemeClr val="bg1"/>
                </a:solidFill>
                <a:highlight>
                  <a:srgbClr val="000000"/>
                </a:highlight>
              </a:rPr>
              <a:t>發</a:t>
            </a:r>
            <a:r>
              <a:rPr lang="zh-TW" altLang="en-US" sz="2800" dirty="0"/>
              <a:t>散思考</a:t>
            </a:r>
            <a:r>
              <a:rPr lang="zh-TW" altLang="en-US" sz="2800" dirty="0">
                <a:solidFill>
                  <a:srgbClr val="FF0000"/>
                </a:solidFill>
              </a:rPr>
              <a:t>；</a:t>
            </a:r>
            <a:r>
              <a:rPr lang="zh-TW" altLang="en-US" sz="2800" dirty="0"/>
              <a:t>同時也要</a:t>
            </a:r>
            <a:r>
              <a:rPr lang="zh-TW" altLang="en-US" sz="2800" dirty="0">
                <a:solidFill>
                  <a:srgbClr val="FF0000"/>
                </a:solidFill>
              </a:rPr>
              <a:t>跳出刻板印象陷阱</a:t>
            </a:r>
            <a:r>
              <a:rPr lang="zh-TW" altLang="en-US" sz="2800" dirty="0"/>
              <a:t>，進行</a:t>
            </a:r>
            <a:r>
              <a:rPr lang="zh-TW" altLang="en-US" sz="3600" b="1" dirty="0">
                <a:solidFill>
                  <a:schemeClr val="bg1"/>
                </a:solidFill>
                <a:highlight>
                  <a:srgbClr val="000000"/>
                </a:highlight>
              </a:rPr>
              <a:t>收</a:t>
            </a:r>
            <a:r>
              <a:rPr lang="zh-TW" altLang="en-US" sz="2800" dirty="0"/>
              <a:t>歛整合。接著我們要盡量做到</a:t>
            </a:r>
            <a:r>
              <a:rPr lang="zh-TW" altLang="en-US" sz="3600" b="1" dirty="0">
                <a:solidFill>
                  <a:schemeClr val="bg1"/>
                </a:solidFill>
                <a:highlight>
                  <a:srgbClr val="000000"/>
                </a:highlight>
              </a:rPr>
              <a:t>細</a:t>
            </a:r>
            <a:r>
              <a:rPr lang="zh-TW" altLang="en-US" sz="2800" dirty="0"/>
              <a:t>心</a:t>
            </a:r>
            <a:r>
              <a:rPr lang="zh-TW" altLang="en-US" sz="2800" dirty="0">
                <a:solidFill>
                  <a:srgbClr val="FF0000"/>
                </a:solidFill>
              </a:rPr>
              <a:t>全面性思考</a:t>
            </a:r>
            <a:r>
              <a:rPr lang="zh-TW" altLang="en-US" sz="2800" dirty="0"/>
              <a:t>不要忘記</a:t>
            </a:r>
            <a:r>
              <a:rPr lang="zh-TW" altLang="en-US" sz="2800" dirty="0">
                <a:solidFill>
                  <a:srgbClr val="FF0000"/>
                </a:solidFill>
              </a:rPr>
              <a:t>最後一哩路</a:t>
            </a:r>
            <a:r>
              <a:rPr lang="zh-TW" altLang="en-US" sz="2800" dirty="0"/>
              <a:t>的重要，同時還要能提出自己的</a:t>
            </a:r>
            <a:r>
              <a:rPr lang="zh-TW" altLang="en-US" sz="3600" b="1" dirty="0">
                <a:solidFill>
                  <a:schemeClr val="bg1"/>
                </a:solidFill>
                <a:highlight>
                  <a:srgbClr val="000000"/>
                </a:highlight>
              </a:rPr>
              <a:t>洞</a:t>
            </a:r>
            <a:r>
              <a:rPr lang="zh-TW" altLang="en-US" sz="2800" dirty="0"/>
              <a:t>見與看法，對世間萬物</a:t>
            </a:r>
            <a:r>
              <a:rPr lang="zh-TW" altLang="en-US" sz="2800" dirty="0">
                <a:solidFill>
                  <a:srgbClr val="FF0000"/>
                </a:solidFill>
              </a:rPr>
              <a:t>賦予自己獨特的意義</a:t>
            </a:r>
            <a:r>
              <a:rPr lang="zh-TW" altLang="en-US" sz="2800" dirty="0"/>
              <a:t>，最後，再用</a:t>
            </a:r>
            <a:r>
              <a:rPr lang="zh-TW" altLang="en-US" sz="2800" dirty="0">
                <a:solidFill>
                  <a:srgbClr val="FF0000"/>
                </a:solidFill>
              </a:rPr>
              <a:t>邏輯與理性思考分析</a:t>
            </a:r>
            <a:r>
              <a:rPr lang="zh-TW" altLang="en-US" sz="2800" dirty="0"/>
              <a:t>找出事物的</a:t>
            </a:r>
            <a:r>
              <a:rPr lang="zh-TW" altLang="en-US" sz="2800" dirty="0">
                <a:solidFill>
                  <a:srgbClr val="FF0000"/>
                </a:solidFill>
              </a:rPr>
              <a:t>本質與</a:t>
            </a:r>
            <a:r>
              <a:rPr lang="zh-TW" altLang="en-US" sz="3600" b="1" dirty="0">
                <a:solidFill>
                  <a:schemeClr val="bg1"/>
                </a:solidFill>
                <a:highlight>
                  <a:srgbClr val="000000"/>
                </a:highlight>
              </a:rPr>
              <a:t>真</a:t>
            </a:r>
            <a:r>
              <a:rPr lang="zh-TW" altLang="en-US" sz="2800" dirty="0">
                <a:solidFill>
                  <a:srgbClr val="FF0000"/>
                </a:solidFill>
              </a:rPr>
              <a:t>實</a:t>
            </a:r>
            <a:r>
              <a:rPr lang="zh-TW" altLang="en-US" sz="2800" dirty="0"/>
              <a:t>，一起創造出更美好的世界。</a:t>
            </a:r>
          </a:p>
        </p:txBody>
      </p:sp>
    </p:spTree>
    <p:extLst>
      <p:ext uri="{BB962C8B-B14F-4D97-AF65-F5344CB8AC3E}">
        <p14:creationId xmlns:p14="http://schemas.microsoft.com/office/powerpoint/2010/main" val="13512467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要素">
  <a:themeElements>
    <a:clrScheme name="要素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要素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要素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1444</TotalTime>
  <Words>1680</Words>
  <Application>Microsoft Office PowerPoint</Application>
  <PresentationFormat>寬螢幕</PresentationFormat>
  <Paragraphs>110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3" baseType="lpstr">
      <vt:lpstr>微軟正黑體</vt:lpstr>
      <vt:lpstr>Calibri</vt:lpstr>
      <vt:lpstr>Tw Cen MT</vt:lpstr>
      <vt:lpstr>Tw Cen MT Condensed</vt:lpstr>
      <vt:lpstr>Wingdings 3</vt:lpstr>
      <vt:lpstr>要素</vt:lpstr>
      <vt:lpstr>創新策略 七大思維模式介紹</vt:lpstr>
      <vt:lpstr>創新策略需具備的七大思維模式 (使用問題模式體現創新思考應具備的模式重點)</vt:lpstr>
      <vt:lpstr>01.理-思考最合理的解決方案 大公司面試題-問</vt:lpstr>
      <vt:lpstr>大公司面試題-答</vt:lpstr>
      <vt:lpstr>02.問-找到核心的關鍵問題 折損計算題-問</vt:lpstr>
      <vt:lpstr>折損計算題-答</vt:lpstr>
      <vt:lpstr>03.發-突破框架的發散思維 推薦甄試面試題-問</vt:lpstr>
      <vt:lpstr>推薦甄試面試題-答</vt:lpstr>
      <vt:lpstr>04.收-跳脫刻板印象 還原命案現場-問</vt:lpstr>
      <vt:lpstr>還原命案現場-答</vt:lpstr>
      <vt:lpstr>05.細-細心的思維 全面性的思考與計算-問</vt:lpstr>
      <vt:lpstr>全面性的思考與計算-答</vt:lpstr>
      <vt:lpstr>06.洞-提出自己的觀點-關聯度分析</vt:lpstr>
      <vt:lpstr>關聯度分析-答</vt:lpstr>
      <vt:lpstr>07.真-找到表象內的真實-抽象思維訓練 理性邏輯分析-問</vt:lpstr>
      <vt:lpstr>理性邏輯分析-答</vt:lpstr>
      <vt:lpstr>結論-創新策略的全面性思考原則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封閉性創新 快速創新提案方法</dc:title>
  <dc:creator>白乃遠</dc:creator>
  <cp:lastModifiedBy>白乃遠</cp:lastModifiedBy>
  <cp:revision>44</cp:revision>
  <dcterms:created xsi:type="dcterms:W3CDTF">2015-03-08T06:48:23Z</dcterms:created>
  <dcterms:modified xsi:type="dcterms:W3CDTF">2022-11-03T16:40:07Z</dcterms:modified>
</cp:coreProperties>
</file>