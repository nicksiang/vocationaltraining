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94" r:id="rId3"/>
    <p:sldId id="478" r:id="rId4"/>
    <p:sldId id="477" r:id="rId5"/>
    <p:sldId id="257" r:id="rId6"/>
    <p:sldId id="260" r:id="rId7"/>
    <p:sldId id="261" r:id="rId8"/>
    <p:sldId id="476" r:id="rId9"/>
    <p:sldId id="493" r:id="rId10"/>
    <p:sldId id="406" r:id="rId11"/>
    <p:sldId id="407" r:id="rId12"/>
    <p:sldId id="489" r:id="rId13"/>
    <p:sldId id="479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88" r:id="rId23"/>
    <p:sldId id="490" r:id="rId24"/>
    <p:sldId id="263" r:id="rId25"/>
    <p:sldId id="264" r:id="rId26"/>
    <p:sldId id="265" r:id="rId27"/>
    <p:sldId id="491" r:id="rId28"/>
    <p:sldId id="266" r:id="rId29"/>
    <p:sldId id="267" r:id="rId30"/>
    <p:sldId id="49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07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42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23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67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53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23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287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07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85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900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98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A2D2DE4-BB58-42B4-9298-64ABFAF1AED7}" type="datetimeFigureOut">
              <a:rPr lang="zh-TW" altLang="en-US" smtClean="0"/>
              <a:t>2024/10/24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0C985F6-6767-4CB3-9EFA-5BE9CB05AB0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26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uturecity.cw.com.tw/article/186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tmp"/><Relationship Id="rId4" Type="http://schemas.openxmlformats.org/officeDocument/2006/relationships/image" Target="../media/image16.tm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tmp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tmp"/><Relationship Id="rId4" Type="http://schemas.openxmlformats.org/officeDocument/2006/relationships/image" Target="../media/image31.tm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15837-331E-4389-B89C-F265D6111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設計與創新思考</a:t>
            </a:r>
            <a:br>
              <a:rPr lang="en-US" altLang="zh-TW" dirty="0"/>
            </a:br>
            <a:r>
              <a:rPr lang="zh-TW" altLang="en-US" dirty="0"/>
              <a:t>課程大綱與作業說明</a:t>
            </a:r>
            <a:br>
              <a:rPr lang="en-US" altLang="zh-TW" dirty="0"/>
            </a:br>
            <a:r>
              <a:rPr lang="zh-TW" altLang="en-US" sz="4000" dirty="0"/>
              <a:t>平時作業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28E65B-461B-429E-826B-94C35163B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白乃遠 老師</a:t>
            </a:r>
            <a:br>
              <a:rPr lang="en-US" altLang="zh-TW" dirty="0"/>
            </a:br>
            <a:r>
              <a:rPr lang="en-US" altLang="zh-TW" dirty="0"/>
              <a:t>Line</a:t>
            </a:r>
            <a:r>
              <a:rPr lang="zh-TW" altLang="en-US" dirty="0"/>
              <a:t>：</a:t>
            </a:r>
            <a:r>
              <a:rPr lang="en-US" altLang="zh-TW" dirty="0" err="1"/>
              <a:t>billy_pai</a:t>
            </a:r>
            <a:endParaRPr lang="en-US" altLang="zh-TW" dirty="0"/>
          </a:p>
          <a:p>
            <a:r>
              <a:rPr lang="en-US" altLang="zh-TW" dirty="0"/>
              <a:t>FB</a:t>
            </a:r>
            <a:r>
              <a:rPr lang="zh-TW" altLang="en-US" dirty="0"/>
              <a:t>：</a:t>
            </a:r>
            <a:r>
              <a:rPr lang="en-US" altLang="zh-TW" dirty="0"/>
              <a:t>Pai Xiao Pai</a:t>
            </a:r>
          </a:p>
          <a:p>
            <a:r>
              <a:rPr lang="en-US" altLang="zh-TW" dirty="0"/>
              <a:t>Mail</a:t>
            </a:r>
            <a:r>
              <a:rPr lang="zh-TW" altLang="en-US" dirty="0"/>
              <a:t>：</a:t>
            </a:r>
            <a:r>
              <a:rPr lang="en-US" altLang="zh-TW" dirty="0"/>
              <a:t>billy_pai@hotmail.com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056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B3BBA0-24A7-4162-8E07-C896C9CD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設計與創新思考</a:t>
            </a:r>
            <a:br>
              <a:rPr lang="en-US" altLang="zh-TW" dirty="0"/>
            </a:br>
            <a:r>
              <a:rPr lang="zh-TW" altLang="en-US" dirty="0"/>
              <a:t>三次</a:t>
            </a:r>
            <a:r>
              <a:rPr lang="en-US" altLang="zh-TW" dirty="0"/>
              <a:t>(</a:t>
            </a:r>
            <a:r>
              <a:rPr lang="zh-TW" altLang="en-US" dirty="0"/>
              <a:t>天</a:t>
            </a:r>
            <a:r>
              <a:rPr lang="en-US" altLang="zh-TW" dirty="0"/>
              <a:t>)</a:t>
            </a:r>
            <a:r>
              <a:rPr lang="zh-TW" altLang="en-US" dirty="0"/>
              <a:t>上課日期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760CC1-A3E1-47C7-B298-370386F77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>
                <a:solidFill>
                  <a:srgbClr val="FF0000"/>
                </a:solidFill>
              </a:rPr>
              <a:t>2024/10/25</a:t>
            </a:r>
            <a:r>
              <a:rPr lang="en-US" altLang="zh-TW" dirty="0"/>
              <a:t> (</a:t>
            </a:r>
            <a:r>
              <a:rPr lang="zh-TW" altLang="en-US" dirty="0"/>
              <a:t>第一次課程</a:t>
            </a:r>
            <a:r>
              <a:rPr lang="en-US" altLang="zh-TW" dirty="0"/>
              <a:t>)</a:t>
            </a:r>
            <a:r>
              <a:rPr lang="zh-TW" altLang="en-US" dirty="0"/>
              <a:t>創意思維與概念矩陣應用</a:t>
            </a:r>
            <a:endParaRPr lang="en-US" altLang="zh-TW" dirty="0"/>
          </a:p>
          <a:p>
            <a:r>
              <a:rPr lang="en-US" altLang="zh-TW" sz="2800" dirty="0">
                <a:solidFill>
                  <a:srgbClr val="FF0000"/>
                </a:solidFill>
              </a:rPr>
              <a:t>2024/11/01</a:t>
            </a:r>
            <a:r>
              <a:rPr lang="en-US" altLang="zh-TW" dirty="0"/>
              <a:t> (</a:t>
            </a:r>
            <a:r>
              <a:rPr lang="zh-TW" altLang="en-US" dirty="0"/>
              <a:t>第二次課程</a:t>
            </a:r>
            <a:r>
              <a:rPr lang="en-US" altLang="zh-TW" dirty="0"/>
              <a:t>)</a:t>
            </a:r>
            <a:r>
              <a:rPr lang="zh-TW" altLang="en-US" dirty="0"/>
              <a:t>創新策略思考與策略矩陣應用</a:t>
            </a:r>
            <a:endParaRPr lang="en-US" altLang="zh-TW" dirty="0"/>
          </a:p>
          <a:p>
            <a:r>
              <a:rPr lang="en-US" altLang="zh-TW" sz="2800" dirty="0">
                <a:solidFill>
                  <a:srgbClr val="FF0000"/>
                </a:solidFill>
              </a:rPr>
              <a:t>2024/11/08</a:t>
            </a:r>
            <a:r>
              <a:rPr lang="en-US" altLang="zh-TW" dirty="0"/>
              <a:t> (</a:t>
            </a:r>
            <a:r>
              <a:rPr lang="zh-TW" altLang="en-US" dirty="0"/>
              <a:t>第三次課程</a:t>
            </a:r>
            <a:r>
              <a:rPr lang="en-US" altLang="zh-TW" dirty="0"/>
              <a:t>)</a:t>
            </a:r>
            <a:r>
              <a:rPr lang="zh-TW" altLang="en-US" dirty="0"/>
              <a:t>設計與創新整合企劃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276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4E9C0-0937-4BE7-BE42-96E80B68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創意思考</a:t>
            </a:r>
            <a:r>
              <a:rPr lang="en-US" altLang="zh-TW" sz="2800" dirty="0"/>
              <a:t>+</a:t>
            </a:r>
            <a:r>
              <a:rPr lang="zh-TW" altLang="en-US" sz="2800" dirty="0"/>
              <a:t>創新策略</a:t>
            </a:r>
            <a:r>
              <a:rPr lang="en-US" altLang="zh-TW" sz="2800" dirty="0"/>
              <a:t>+</a:t>
            </a:r>
            <a:r>
              <a:rPr lang="zh-TW" altLang="en-US" sz="2800" dirty="0"/>
              <a:t>創新管理</a:t>
            </a:r>
            <a:r>
              <a:rPr lang="en-US" altLang="zh-TW" sz="2800" dirty="0"/>
              <a:t>=</a:t>
            </a:r>
            <a:r>
              <a:rPr lang="zh-TW" altLang="en-US" sz="2800" b="1" dirty="0">
                <a:solidFill>
                  <a:srgbClr val="FF0000"/>
                </a:solidFill>
              </a:rPr>
              <a:t>創新策略課程</a:t>
            </a:r>
            <a:r>
              <a:rPr lang="zh-TW" altLang="en-US" sz="2800" dirty="0"/>
              <a:t>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8347A-7918-4CA3-A7AF-950B15DE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55433"/>
            <a:ext cx="10507965" cy="4912920"/>
          </a:xfrm>
        </p:spPr>
        <p:txBody>
          <a:bodyPr>
            <a:norm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01.</a:t>
            </a:r>
            <a:r>
              <a:rPr lang="zh-TW" altLang="en-US" sz="1600" b="1" dirty="0">
                <a:solidFill>
                  <a:srgbClr val="FF0000"/>
                </a:solidFill>
              </a:rPr>
              <a:t>創意學習</a:t>
            </a:r>
            <a:r>
              <a:rPr lang="zh-TW" altLang="en-US" sz="1600" dirty="0"/>
              <a:t>：以創新思維訓練進行啟發，搭配創意工具與矩陣思考工具進行分析，提升創意能力。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02.</a:t>
            </a:r>
            <a:r>
              <a:rPr lang="zh-TW" altLang="en-US" sz="1600" b="1" dirty="0">
                <a:solidFill>
                  <a:srgbClr val="FF0000"/>
                </a:solidFill>
              </a:rPr>
              <a:t>行銷企劃</a:t>
            </a:r>
            <a:r>
              <a:rPr lang="zh-TW" altLang="en-US" sz="1600" dirty="0"/>
              <a:t>：以行銷理論與消費者洞察分析為主，激發與訓練同學具備目標市場定位與行銷策略能力。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03.</a:t>
            </a:r>
            <a:r>
              <a:rPr lang="zh-TW" altLang="en-US" sz="1600" b="1" dirty="0">
                <a:solidFill>
                  <a:srgbClr val="FF0000"/>
                </a:solidFill>
              </a:rPr>
              <a:t>整合應用</a:t>
            </a:r>
            <a:r>
              <a:rPr lang="zh-TW" altLang="en-US" sz="1600" dirty="0"/>
              <a:t>：以實際案例整合創意、行銷、設計、產生實際範例演練，讓學生具備相關識能。</a:t>
            </a:r>
            <a:endParaRPr lang="en-US" altLang="zh-TW" sz="1600" dirty="0"/>
          </a:p>
          <a:p>
            <a:r>
              <a:rPr lang="en-US" altLang="zh-TW" sz="1600" b="1" dirty="0">
                <a:solidFill>
                  <a:srgbClr val="FF0000"/>
                </a:solidFill>
              </a:rPr>
              <a:t>04.</a:t>
            </a:r>
            <a:r>
              <a:rPr lang="zh-TW" altLang="en-US" sz="1600" b="1" dirty="0">
                <a:solidFill>
                  <a:srgbClr val="FF0000"/>
                </a:solidFill>
              </a:rPr>
              <a:t>創新創業</a:t>
            </a:r>
            <a:r>
              <a:rPr lang="zh-TW" altLang="en-US" sz="1600" dirty="0"/>
              <a:t>：整合上述創意與商業洞察能力，思考創新缺口與創業可能，為後續創業活動積能蓄力。</a:t>
            </a:r>
            <a:endParaRPr lang="en-US" altLang="zh-TW" sz="1600" dirty="0"/>
          </a:p>
          <a:p>
            <a:endParaRPr lang="en-US" altLang="zh-TW" sz="1600" dirty="0"/>
          </a:p>
          <a:p>
            <a:r>
              <a:rPr lang="zh-TW" altLang="en-US" sz="1600" b="1" dirty="0">
                <a:solidFill>
                  <a:srgbClr val="FF0000"/>
                </a:solidFill>
              </a:rPr>
              <a:t>課程主旨</a:t>
            </a:r>
            <a:r>
              <a:rPr lang="zh-TW" altLang="en-US" sz="1600" dirty="0"/>
              <a:t>：</a:t>
            </a:r>
            <a:endParaRPr lang="en-US" altLang="zh-TW" sz="1600" dirty="0"/>
          </a:p>
          <a:p>
            <a:pPr>
              <a:lnSpc>
                <a:spcPct val="120000"/>
              </a:lnSpc>
            </a:pPr>
            <a:r>
              <a:rPr lang="zh-TW" altLang="en-US" sz="1600" dirty="0"/>
              <a:t>本課程著重啟發學生的創新機會與創業市場洞察，並能依據創意概念進行發想</a:t>
            </a:r>
            <a:r>
              <a:rPr lang="en-US" altLang="zh-TW" sz="1600" dirty="0"/>
              <a:t>, </a:t>
            </a:r>
            <a:r>
              <a:rPr lang="zh-TW" altLang="en-US" sz="1600" dirty="0"/>
              <a:t>透過提案思考的實作、案例探討、以及創新思考與設計思考流程等方法訓練實作</a:t>
            </a:r>
            <a:r>
              <a:rPr lang="en-US" altLang="zh-TW" sz="1600" dirty="0"/>
              <a:t>, </a:t>
            </a:r>
            <a:r>
              <a:rPr lang="zh-TW" altLang="en-US" sz="1600" dirty="0"/>
              <a:t>讓同學定義問題，歸納分析，以找到傳達意念的創意，並將創意視覺化，</a:t>
            </a:r>
            <a:r>
              <a:rPr lang="en-US" altLang="zh-TW" sz="1600" dirty="0"/>
              <a:t> </a:t>
            </a:r>
            <a:r>
              <a:rPr lang="zh-TW" altLang="en-US" sz="1600" dirty="0"/>
              <a:t>視覺具象化；本課程最終針對合作廠商的商品作整合性的行銷規劃設計，並落實在真實市場。</a:t>
            </a:r>
            <a:endParaRPr lang="en-US" altLang="zh-TW" sz="1600" dirty="0"/>
          </a:p>
          <a:p>
            <a:r>
              <a:rPr lang="zh-TW" altLang="en-US" sz="1600" b="1" dirty="0">
                <a:solidFill>
                  <a:srgbClr val="FF0000"/>
                </a:solidFill>
              </a:rPr>
              <a:t>課程重點</a:t>
            </a:r>
            <a:r>
              <a:rPr lang="zh-TW" altLang="en-US" sz="1600" dirty="0"/>
              <a:t>：</a:t>
            </a:r>
            <a:endParaRPr lang="en-US" altLang="zh-TW" sz="1600" dirty="0"/>
          </a:p>
          <a:p>
            <a:pPr>
              <a:lnSpc>
                <a:spcPct val="120000"/>
              </a:lnSpc>
            </a:pPr>
            <a:r>
              <a:rPr lang="zh-TW" altLang="en-US" sz="1600" dirty="0"/>
              <a:t>對商業洞察實務運作、進行創新創意缺口思考、擬定商業策略溝通傳達</a:t>
            </a:r>
            <a:r>
              <a:rPr lang="en-US" altLang="zh-TW" sz="1600" dirty="0"/>
              <a:t>....</a:t>
            </a:r>
            <a:r>
              <a:rPr lang="zh-TW" altLang="en-US" sz="1600" dirty="0"/>
              <a:t>等實際工作必備能力，並輔以基礎實作，讓學員對所謂「創新機會」及「商業洞察」、「創意概念整理」的整體思考流程有概括暸解。</a:t>
            </a:r>
          </a:p>
        </p:txBody>
      </p:sp>
    </p:spTree>
    <p:extLst>
      <p:ext uri="{BB962C8B-B14F-4D97-AF65-F5344CB8AC3E}">
        <p14:creationId xmlns:p14="http://schemas.microsoft.com/office/powerpoint/2010/main" val="3279038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BC839-0CDC-C14A-B71C-2074B5BE6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773706"/>
            <a:ext cx="7772400" cy="1463040"/>
          </a:xfrm>
        </p:spPr>
        <p:txBody>
          <a:bodyPr>
            <a:normAutofit fontScale="90000"/>
          </a:bodyPr>
          <a:lstStyle/>
          <a:p>
            <a:br>
              <a:rPr kumimoji="1" lang="en-US" altLang="zh-TW" dirty="0">
                <a:latin typeface="DFHeiMedium-B5" panose="020B0509000000000000" pitchFamily="49" charset="-128"/>
                <a:ea typeface="DFHeiMedium-B5" panose="020B0509000000000000" pitchFamily="49" charset="-128"/>
                <a:cs typeface="DFHeiMedium-B5" panose="020B0509000000000000" pitchFamily="49" charset="-128"/>
              </a:rPr>
            </a:br>
            <a:r>
              <a:rPr kumimoji="1" lang="zh-TW" altLang="en-US" sz="4000" dirty="0">
                <a:latin typeface="DFHeiMedium-B5" panose="020B0509000000000000" pitchFamily="49" charset="-128"/>
                <a:ea typeface="DFHeiMedium-B5" panose="020B0509000000000000" pitchFamily="49" charset="-128"/>
                <a:cs typeface="DFHeiMedium-B5" panose="020B0509000000000000" pitchFamily="49" charset="-128"/>
              </a:rPr>
              <a:t>設計與創新思考兩次課程</a:t>
            </a:r>
            <a:br>
              <a:rPr kumimoji="1" lang="en-US" altLang="zh-TW" sz="4000" dirty="0">
                <a:latin typeface="DFHeiMedium-B5" panose="020B0509000000000000" pitchFamily="49" charset="-128"/>
                <a:ea typeface="DFHeiMedium-B5" panose="020B0509000000000000" pitchFamily="49" charset="-128"/>
                <a:cs typeface="DFHeiMedium-B5" panose="020B0509000000000000" pitchFamily="49" charset="-128"/>
              </a:rPr>
            </a:br>
            <a:r>
              <a:rPr kumimoji="1" lang="zh-TW" altLang="en-US" sz="4000" dirty="0">
                <a:latin typeface="+mj-ea"/>
                <a:ea typeface="DFHeiMedium-B5" panose="020B0509000000000000" pitchFamily="49" charset="-128"/>
                <a:cs typeface="DFHeiMedium-B5" panose="020B0509000000000000" pitchFamily="49" charset="-128"/>
              </a:rPr>
              <a:t>作業</a:t>
            </a:r>
            <a:r>
              <a:rPr kumimoji="1" lang="zh-TW" altLang="en-US" sz="4000" dirty="0">
                <a:latin typeface="+mj-ea"/>
                <a:cs typeface="DFHeiMedium-B5" panose="020B0509000000000000" pitchFamily="49" charset="-128"/>
              </a:rPr>
              <a:t>說明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6D5565CC-C010-4198-A4CF-C56F779BA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35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7FB7E-2421-4610-9642-FBA4868B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289428"/>
            <a:ext cx="10348167" cy="1499616"/>
          </a:xfrm>
        </p:spPr>
        <p:txBody>
          <a:bodyPr/>
          <a:lstStyle/>
          <a:p>
            <a:r>
              <a:rPr lang="zh-TW" altLang="en-US" dirty="0"/>
              <a:t>平時作業</a:t>
            </a:r>
            <a:r>
              <a:rPr lang="en-US" altLang="zh-TW" dirty="0"/>
              <a:t>-</a:t>
            </a:r>
            <a:r>
              <a:rPr lang="zh-TW" altLang="en-US" dirty="0"/>
              <a:t>創新策略提案作業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E1BF7A-D9C2-424F-9A81-F9715F6C9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89044"/>
            <a:ext cx="9720073" cy="47058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本課程平時作業採創意提案制，本次課程總共兩次提案每週提案日期如下：</a:t>
            </a:r>
            <a:endParaRPr lang="en-US" altLang="zh-TW" dirty="0"/>
          </a:p>
          <a:p>
            <a:r>
              <a:rPr lang="zh-TW" altLang="en-US" dirty="0"/>
              <a:t>第</a:t>
            </a:r>
            <a:r>
              <a:rPr lang="en-US" altLang="zh-TW" dirty="0"/>
              <a:t>1</a:t>
            </a:r>
            <a:r>
              <a:rPr lang="zh-TW" altLang="en-US" dirty="0"/>
              <a:t>次創意提案練習：</a:t>
            </a:r>
            <a:r>
              <a:rPr lang="en-US" altLang="zh-TW" sz="4000" b="1" dirty="0">
                <a:solidFill>
                  <a:srgbClr val="FF0000"/>
                </a:solidFill>
              </a:rPr>
              <a:t>2024/10/31</a:t>
            </a:r>
            <a:r>
              <a:rPr lang="zh-TW" altLang="en-US" b="1" dirty="0">
                <a:solidFill>
                  <a:srgbClr val="FF0000"/>
                </a:solidFill>
              </a:rPr>
              <a:t> 週四</a:t>
            </a:r>
            <a:r>
              <a:rPr lang="en-US" altLang="zh-TW" b="1" dirty="0">
                <a:solidFill>
                  <a:srgbClr val="FF0000"/>
                </a:solidFill>
              </a:rPr>
              <a:t>(</a:t>
            </a:r>
            <a:r>
              <a:rPr lang="zh-TW" altLang="en-US" b="1" dirty="0">
                <a:solidFill>
                  <a:srgbClr val="FF0000"/>
                </a:solidFill>
              </a:rPr>
              <a:t>晚上</a:t>
            </a:r>
            <a:r>
              <a:rPr lang="en-US" altLang="zh-TW" b="1" dirty="0">
                <a:solidFill>
                  <a:srgbClr val="FF0000"/>
                </a:solidFill>
              </a:rPr>
              <a:t>23:59</a:t>
            </a:r>
            <a:r>
              <a:rPr lang="zh-TW" altLang="en-US" b="1" dirty="0">
                <a:solidFill>
                  <a:srgbClr val="FF0000"/>
                </a:solidFill>
              </a:rPr>
              <a:t>前</a:t>
            </a:r>
            <a:r>
              <a:rPr lang="en-US" altLang="zh-TW" b="1" dirty="0">
                <a:solidFill>
                  <a:srgbClr val="FF0000"/>
                </a:solidFill>
              </a:rPr>
              <a:t>)</a:t>
            </a:r>
          </a:p>
          <a:p>
            <a:r>
              <a:rPr lang="zh-TW" altLang="en-US" dirty="0"/>
              <a:t>第</a:t>
            </a:r>
            <a:r>
              <a:rPr lang="en-US" altLang="zh-TW" dirty="0"/>
              <a:t>2</a:t>
            </a:r>
            <a:r>
              <a:rPr lang="zh-TW" altLang="en-US" dirty="0"/>
              <a:t>次創意提案：</a:t>
            </a:r>
            <a:r>
              <a:rPr lang="en-US" altLang="zh-TW" sz="4000" b="1" dirty="0">
                <a:solidFill>
                  <a:srgbClr val="FF0000"/>
                </a:solidFill>
              </a:rPr>
              <a:t>2024/10/07</a:t>
            </a:r>
            <a:r>
              <a:rPr lang="zh-TW" altLang="en-US" b="1" dirty="0">
                <a:solidFill>
                  <a:srgbClr val="FF0000"/>
                </a:solidFill>
              </a:rPr>
              <a:t> 週四</a:t>
            </a:r>
            <a:r>
              <a:rPr lang="en-US" altLang="zh-TW" b="1" dirty="0">
                <a:solidFill>
                  <a:srgbClr val="FF0000"/>
                </a:solidFill>
              </a:rPr>
              <a:t>(</a:t>
            </a:r>
            <a:r>
              <a:rPr lang="zh-TW" altLang="en-US" b="1" dirty="0">
                <a:solidFill>
                  <a:srgbClr val="FF0000"/>
                </a:solidFill>
              </a:rPr>
              <a:t>晚上</a:t>
            </a:r>
            <a:r>
              <a:rPr lang="en-US" altLang="zh-TW" b="1" dirty="0">
                <a:solidFill>
                  <a:srgbClr val="FF0000"/>
                </a:solidFill>
              </a:rPr>
              <a:t>23:59</a:t>
            </a:r>
            <a:r>
              <a:rPr lang="zh-TW" altLang="en-US" b="1" dirty="0">
                <a:solidFill>
                  <a:srgbClr val="FF0000"/>
                </a:solidFill>
              </a:rPr>
              <a:t>前</a:t>
            </a:r>
            <a:r>
              <a:rPr lang="en-US" altLang="zh-TW" b="1" dirty="0">
                <a:solidFill>
                  <a:srgbClr val="FF0000"/>
                </a:solidFill>
              </a:rPr>
              <a:t>)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再請學員們於上述日期前提交兩次創意提案練習。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我會於後續三次課程期間，統一觀看各位提案，並協助各位同學擇優提案，再把優秀提案整理給大家參考。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841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1DAD9E-E9BA-40D7-868B-2A30DBF4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創意思考與創新創業</a:t>
            </a:r>
            <a:br>
              <a:rPr lang="en-US" altLang="zh-TW" dirty="0"/>
            </a:br>
            <a:r>
              <a:rPr lang="zh-TW" altLang="en-US" dirty="0"/>
              <a:t>兩次提案作業繳交說明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70F2C-E8D9-4949-A427-C393F8D9B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A.</a:t>
            </a:r>
            <a:r>
              <a:rPr lang="zh-TW" altLang="en-US" b="1" dirty="0">
                <a:solidFill>
                  <a:srgbClr val="FF0000"/>
                </a:solidFill>
              </a:rPr>
              <a:t>個人提案</a:t>
            </a:r>
            <a:r>
              <a:rPr lang="zh-TW" altLang="en-US" dirty="0"/>
              <a:t>：為保護每位學員的創意內容，因此不分組，採取個人作業模式。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B.</a:t>
            </a:r>
            <a:r>
              <a:rPr lang="zh-TW" altLang="en-US" b="1" dirty="0">
                <a:solidFill>
                  <a:srgbClr val="FF0000"/>
                </a:solidFill>
              </a:rPr>
              <a:t>提案數目</a:t>
            </a:r>
            <a:r>
              <a:rPr lang="zh-TW" altLang="en-US" dirty="0"/>
              <a:t>：每次提案至少</a:t>
            </a:r>
            <a:r>
              <a:rPr lang="zh-TW" altLang="en-US" b="1" dirty="0">
                <a:solidFill>
                  <a:srgbClr val="00B0F0"/>
                </a:solidFill>
              </a:rPr>
              <a:t>每人要提出</a:t>
            </a:r>
            <a:r>
              <a:rPr lang="en-US" altLang="zh-TW" b="1" dirty="0">
                <a:solidFill>
                  <a:srgbClr val="00B0F0"/>
                </a:solidFill>
              </a:rPr>
              <a:t>5</a:t>
            </a:r>
            <a:r>
              <a:rPr lang="zh-TW" altLang="en-US" b="1" dirty="0">
                <a:solidFill>
                  <a:srgbClr val="00B0F0"/>
                </a:solidFill>
              </a:rPr>
              <a:t>件創意提案</a:t>
            </a:r>
            <a:r>
              <a:rPr lang="zh-TW" altLang="en-US" dirty="0"/>
              <a:t>，三次課程期間，</a:t>
            </a:r>
            <a:r>
              <a:rPr lang="zh-TW" altLang="en-US" b="1" dirty="0">
                <a:solidFill>
                  <a:srgbClr val="00B0F0"/>
                </a:solidFill>
              </a:rPr>
              <a:t>總共提案</a:t>
            </a:r>
            <a:r>
              <a:rPr lang="en-US" altLang="zh-TW" b="1" dirty="0">
                <a:solidFill>
                  <a:srgbClr val="00B0F0"/>
                </a:solidFill>
              </a:rPr>
              <a:t>2</a:t>
            </a:r>
            <a:r>
              <a:rPr lang="zh-TW" altLang="en-US" b="1" dirty="0">
                <a:solidFill>
                  <a:srgbClr val="00B0F0"/>
                </a:solidFill>
              </a:rPr>
              <a:t>次</a:t>
            </a:r>
            <a:r>
              <a:rPr lang="zh-TW" altLang="en-US" dirty="0"/>
              <a:t>，因此每位學員應會提出</a:t>
            </a:r>
            <a:r>
              <a:rPr lang="zh-TW" altLang="en-US" b="1" dirty="0">
                <a:solidFill>
                  <a:srgbClr val="00B0F0"/>
                </a:solidFill>
              </a:rPr>
              <a:t>共</a:t>
            </a:r>
            <a:r>
              <a:rPr lang="en-US" altLang="zh-TW" b="1" dirty="0">
                <a:solidFill>
                  <a:srgbClr val="00B0F0"/>
                </a:solidFill>
              </a:rPr>
              <a:t>10</a:t>
            </a:r>
            <a:r>
              <a:rPr lang="zh-TW" altLang="en-US" b="1" dirty="0">
                <a:solidFill>
                  <a:srgbClr val="00B0F0"/>
                </a:solidFill>
              </a:rPr>
              <a:t>件創意提案</a:t>
            </a:r>
            <a:r>
              <a:rPr lang="zh-TW" altLang="en-US" dirty="0"/>
              <a:t>。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C.</a:t>
            </a:r>
            <a:r>
              <a:rPr lang="zh-TW" altLang="en-US" b="1" dirty="0">
                <a:solidFill>
                  <a:srgbClr val="FF0000"/>
                </a:solidFill>
              </a:rPr>
              <a:t>提案格式</a:t>
            </a:r>
            <a:r>
              <a:rPr lang="zh-TW" altLang="en-US" dirty="0"/>
              <a:t>：每次提案請彙整成一份完整的提案</a:t>
            </a:r>
            <a:r>
              <a:rPr lang="en-US" altLang="zh-TW" dirty="0"/>
              <a:t>PPT</a:t>
            </a:r>
            <a:r>
              <a:rPr lang="zh-TW" altLang="en-US" dirty="0"/>
              <a:t>，要有封面</a:t>
            </a:r>
            <a:r>
              <a:rPr lang="en-US" altLang="zh-TW" dirty="0"/>
              <a:t>(</a:t>
            </a:r>
            <a:r>
              <a:rPr lang="zh-TW" altLang="en-US" dirty="0"/>
              <a:t>設計與創新思考</a:t>
            </a:r>
            <a:r>
              <a:rPr lang="en-US" altLang="zh-TW" dirty="0"/>
              <a:t>/</a:t>
            </a:r>
            <a:r>
              <a:rPr lang="zh-TW" altLang="en-US" dirty="0"/>
              <a:t>第</a:t>
            </a:r>
            <a:r>
              <a:rPr lang="en-US" altLang="zh-TW" dirty="0"/>
              <a:t>X</a:t>
            </a:r>
            <a:r>
              <a:rPr lang="zh-TW" altLang="en-US" dirty="0"/>
              <a:t>次創意提案</a:t>
            </a:r>
            <a:r>
              <a:rPr lang="en-US" altLang="zh-TW" dirty="0"/>
              <a:t>/</a:t>
            </a:r>
            <a:r>
              <a:rPr lang="zh-TW" altLang="en-US" dirty="0"/>
              <a:t>姓名</a:t>
            </a:r>
            <a:r>
              <a:rPr lang="en-US" altLang="zh-TW" dirty="0"/>
              <a:t>)</a:t>
            </a:r>
            <a:r>
              <a:rPr lang="zh-TW" altLang="en-US" dirty="0"/>
              <a:t>，整理彙整各個創意提案</a:t>
            </a:r>
            <a:r>
              <a:rPr lang="en-US" altLang="zh-TW" dirty="0"/>
              <a:t>(</a:t>
            </a:r>
            <a:r>
              <a:rPr lang="zh-TW" altLang="en-US" dirty="0"/>
              <a:t>請參考提案格式</a:t>
            </a:r>
            <a:r>
              <a:rPr lang="en-US" altLang="zh-TW" dirty="0"/>
              <a:t>)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D.</a:t>
            </a:r>
            <a:r>
              <a:rPr lang="zh-TW" altLang="en-US" b="1" dirty="0">
                <a:solidFill>
                  <a:srgbClr val="FF0000"/>
                </a:solidFill>
              </a:rPr>
              <a:t>提案內容</a:t>
            </a:r>
            <a:r>
              <a:rPr lang="zh-TW" altLang="en-US" dirty="0"/>
              <a:t>：具創意的設計</a:t>
            </a:r>
            <a:r>
              <a:rPr lang="en-US" altLang="zh-TW" dirty="0"/>
              <a:t>/</a:t>
            </a:r>
            <a:r>
              <a:rPr lang="zh-TW" altLang="en-US" dirty="0"/>
              <a:t>商務模式</a:t>
            </a:r>
            <a:r>
              <a:rPr lang="en-US" altLang="zh-TW" dirty="0"/>
              <a:t>/</a:t>
            </a:r>
            <a:r>
              <a:rPr lang="zh-TW" altLang="en-US" dirty="0"/>
              <a:t>行銷</a:t>
            </a:r>
            <a:r>
              <a:rPr lang="en-US" altLang="zh-TW" dirty="0"/>
              <a:t>/</a:t>
            </a:r>
            <a:r>
              <a:rPr lang="zh-TW" altLang="en-US" dirty="0"/>
              <a:t>活動企劃方案</a:t>
            </a:r>
            <a:r>
              <a:rPr lang="en-US" altLang="zh-TW" dirty="0"/>
              <a:t>(</a:t>
            </a:r>
            <a:r>
              <a:rPr lang="zh-TW" altLang="en-US" dirty="0"/>
              <a:t>解決問題的方法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E.</a:t>
            </a:r>
            <a:r>
              <a:rPr lang="zh-TW" altLang="en-US" b="1" dirty="0">
                <a:solidFill>
                  <a:srgbClr val="FF0000"/>
                </a:solidFill>
              </a:rPr>
              <a:t>繳交方式</a:t>
            </a:r>
            <a:r>
              <a:rPr lang="zh-TW" altLang="en-US" dirty="0"/>
              <a:t>：編輯好的提案</a:t>
            </a:r>
            <a:r>
              <a:rPr lang="en-US" altLang="zh-TW" dirty="0"/>
              <a:t>PPT</a:t>
            </a:r>
            <a:r>
              <a:rPr lang="zh-TW" altLang="en-US" dirty="0"/>
              <a:t>檔案，郵寄到老師信箱：</a:t>
            </a:r>
            <a:r>
              <a:rPr lang="en-US" altLang="zh-TW" dirty="0"/>
              <a:t>billy_pai@hotmail.com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F.</a:t>
            </a:r>
            <a:r>
              <a:rPr lang="zh-TW" altLang="en-US" b="1" dirty="0">
                <a:solidFill>
                  <a:srgbClr val="FF0000"/>
                </a:solidFill>
              </a:rPr>
              <a:t>繳交郵件主旨與提案檔案命名</a:t>
            </a:r>
            <a:r>
              <a:rPr lang="zh-TW" altLang="en-US" dirty="0"/>
              <a:t>：設計與創新思考</a:t>
            </a:r>
            <a:r>
              <a:rPr lang="en-US" altLang="zh-TW" dirty="0"/>
              <a:t>_</a:t>
            </a:r>
            <a:r>
              <a:rPr lang="zh-TW" altLang="en-US" dirty="0"/>
              <a:t>第</a:t>
            </a:r>
            <a:r>
              <a:rPr lang="en-US" altLang="zh-TW" dirty="0"/>
              <a:t>X</a:t>
            </a:r>
            <a:r>
              <a:rPr lang="zh-TW" altLang="en-US" dirty="0"/>
              <a:t>次創意提案</a:t>
            </a:r>
            <a:r>
              <a:rPr lang="en-US" altLang="zh-TW" dirty="0"/>
              <a:t>_</a:t>
            </a:r>
            <a:r>
              <a:rPr lang="zh-TW" altLang="en-US" dirty="0"/>
              <a:t>姓名</a:t>
            </a:r>
            <a:endParaRPr lang="en-US" altLang="zh-TW" dirty="0"/>
          </a:p>
          <a:p>
            <a:r>
              <a:rPr lang="en-US" altLang="zh-TW" b="1" dirty="0">
                <a:solidFill>
                  <a:srgbClr val="FF0000"/>
                </a:solidFill>
              </a:rPr>
              <a:t>G.</a:t>
            </a:r>
            <a:r>
              <a:rPr lang="zh-TW" altLang="en-US" b="1" dirty="0">
                <a:solidFill>
                  <a:srgbClr val="FF0000"/>
                </a:solidFill>
              </a:rPr>
              <a:t>繳交時間</a:t>
            </a:r>
            <a:r>
              <a:rPr lang="zh-TW" altLang="en-US" dirty="0"/>
              <a:t>：請於上述繳交日期當天晚上</a:t>
            </a:r>
            <a:r>
              <a:rPr lang="en-US" altLang="zh-TW" dirty="0"/>
              <a:t>23:59</a:t>
            </a:r>
            <a:r>
              <a:rPr lang="zh-TW" altLang="en-US" dirty="0"/>
              <a:t>前</a:t>
            </a:r>
            <a:r>
              <a:rPr lang="en-US" altLang="zh-TW" dirty="0"/>
              <a:t>Mail</a:t>
            </a:r>
            <a:r>
              <a:rPr lang="zh-TW" altLang="en-US" dirty="0"/>
              <a:t>到老師信箱。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438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D508CF-BFA2-49CC-A7FA-4F12A36B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創意思考與創新創業課程</a:t>
            </a:r>
            <a:br>
              <a:rPr lang="en-US" altLang="zh-TW" dirty="0"/>
            </a:br>
            <a:r>
              <a:rPr lang="zh-TW" altLang="en-US" dirty="0"/>
              <a:t>兩次創意提案作業提案內容規範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9E1E7F-CBB2-434C-9AE3-B46E21B3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提案內容需有以下四個必要內容：</a:t>
            </a:r>
            <a:endParaRPr lang="en-US" altLang="zh-TW" dirty="0"/>
          </a:p>
          <a:p>
            <a:r>
              <a:rPr lang="en-US" altLang="zh-TW" b="1" dirty="0">
                <a:solidFill>
                  <a:srgbClr val="FF0000"/>
                </a:solidFill>
              </a:rPr>
              <a:t>01.</a:t>
            </a:r>
            <a:r>
              <a:rPr lang="zh-TW" altLang="en-US" b="1" dirty="0">
                <a:solidFill>
                  <a:srgbClr val="FF0000"/>
                </a:solidFill>
              </a:rPr>
              <a:t>發現問題</a:t>
            </a:r>
            <a:r>
              <a:rPr lang="zh-TW" altLang="en-US" dirty="0"/>
              <a:t>：發現創新的需求，進行問題洞察。 </a:t>
            </a:r>
            <a:endParaRPr lang="en-US" altLang="zh-TW" dirty="0"/>
          </a:p>
          <a:p>
            <a:r>
              <a:rPr lang="en-US" altLang="zh-TW" b="1" dirty="0">
                <a:solidFill>
                  <a:srgbClr val="FF0000"/>
                </a:solidFill>
              </a:rPr>
              <a:t>02.</a:t>
            </a:r>
            <a:r>
              <a:rPr lang="zh-TW" altLang="en-US" b="1" dirty="0">
                <a:solidFill>
                  <a:srgbClr val="FF0000"/>
                </a:solidFill>
              </a:rPr>
              <a:t>解決問題</a:t>
            </a:r>
            <a:r>
              <a:rPr lang="zh-TW" altLang="en-US" dirty="0"/>
              <a:t>：進行創新策略的概念說明</a:t>
            </a:r>
            <a:r>
              <a:rPr lang="en-US" altLang="zh-TW" dirty="0"/>
              <a:t>(</a:t>
            </a:r>
            <a:r>
              <a:rPr lang="zh-TW" altLang="en-US" dirty="0"/>
              <a:t>主要創新內容</a:t>
            </a:r>
            <a:r>
              <a:rPr lang="en-US" altLang="zh-TW" dirty="0"/>
              <a:t>)</a:t>
            </a:r>
          </a:p>
          <a:p>
            <a:r>
              <a:rPr lang="en-US" altLang="zh-TW" b="1" dirty="0">
                <a:solidFill>
                  <a:srgbClr val="FF0000"/>
                </a:solidFill>
              </a:rPr>
              <a:t>03.</a:t>
            </a:r>
            <a:r>
              <a:rPr lang="zh-TW" altLang="en-US" b="1" dirty="0">
                <a:solidFill>
                  <a:srgbClr val="FF0000"/>
                </a:solidFill>
              </a:rPr>
              <a:t>創新特色</a:t>
            </a:r>
            <a:r>
              <a:rPr lang="zh-TW" altLang="en-US" dirty="0"/>
              <a:t>：利用圖文整合說明，提出具體創新內容說明</a:t>
            </a:r>
            <a:endParaRPr lang="en-US" altLang="zh-TW" dirty="0"/>
          </a:p>
          <a:p>
            <a:r>
              <a:rPr lang="en-US" altLang="zh-TW" b="1" dirty="0">
                <a:solidFill>
                  <a:srgbClr val="FF0000"/>
                </a:solidFill>
              </a:rPr>
              <a:t>04.</a:t>
            </a:r>
            <a:r>
              <a:rPr lang="zh-TW" altLang="en-US" b="1" dirty="0">
                <a:solidFill>
                  <a:srgbClr val="FF0000"/>
                </a:solidFill>
              </a:rPr>
              <a:t>類似創新</a:t>
            </a:r>
            <a:r>
              <a:rPr lang="zh-TW" altLang="en-US" dirty="0"/>
              <a:t>：類似的創新方案</a:t>
            </a:r>
            <a:r>
              <a:rPr lang="en-US" altLang="zh-TW" dirty="0"/>
              <a:t>/</a:t>
            </a:r>
            <a:r>
              <a:rPr lang="zh-TW" altLang="en-US" dirty="0"/>
              <a:t>現有的創新方法與模式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補充說明：可以加入老師每週提供的範例或相關議題或科技應用概念，進行思考提案的創意技術來源</a:t>
            </a:r>
            <a:r>
              <a:rPr lang="en-US" altLang="zh-TW" dirty="0"/>
              <a:t>(</a:t>
            </a:r>
            <a:r>
              <a:rPr lang="zh-TW" altLang="en-US" dirty="0"/>
              <a:t>不一定要與課堂上課內容相關，但可參考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7274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2A5D3-0EBF-48C2-8A0B-57BAFF792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設計與創新思考提案</a:t>
            </a:r>
            <a:br>
              <a:rPr lang="en-US" altLang="zh-TW" dirty="0"/>
            </a:br>
            <a:r>
              <a:rPr lang="zh-TW" altLang="en-US" dirty="0"/>
              <a:t>主題思考項目的選擇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DC05C48-9839-4C63-B79F-4DEE6EBA1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624839"/>
              </p:ext>
            </p:extLst>
          </p:nvPr>
        </p:nvGraphicFramePr>
        <p:xfrm>
          <a:off x="4687077" y="1923069"/>
          <a:ext cx="7237141" cy="4794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9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359">
                <a:tc gridSpan="4">
                  <a:txBody>
                    <a:bodyPr/>
                    <a:lstStyle/>
                    <a:p>
                      <a:pPr algn="ctr"/>
                      <a:r>
                        <a:rPr lang="zh-TW" altLang="en-US" sz="25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可進行創新策略思考的項目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23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項目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條件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特色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難度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29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產品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zh-TW" altLang="en-US" sz="2000" dirty="0"/>
                        <a:t>發明一個全新的產品或機械結構。</a:t>
                      </a:r>
                      <a:endParaRPr lang="zh-TW" alt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技術門檻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TW" alt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高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服務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提供有特色的服務產品或流程。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整合價值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中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行銷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提供一種有效地產品行銷方案。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市場洞察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中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管理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針對管銷人發財等系統進行管理創新。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專業背景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高</a:t>
                      </a:r>
                    </a:p>
                  </a:txBody>
                  <a:tcPr>
                    <a:solidFill>
                      <a:srgbClr val="EEF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整合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dirty="0"/>
                        <a:t>將上述統整。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設計思考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/>
                        <a:t>中</a:t>
                      </a:r>
                    </a:p>
                  </a:txBody>
                  <a:tcPr>
                    <a:solidFill>
                      <a:srgbClr val="DBE9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13D62CDD-9C1A-49FF-B5A0-DBB948EADD00}"/>
              </a:ext>
            </a:extLst>
          </p:cNvPr>
          <p:cNvSpPr txBox="1"/>
          <p:nvPr/>
        </p:nvSpPr>
        <p:spPr>
          <a:xfrm>
            <a:off x="119962" y="2660738"/>
            <a:ext cx="447089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1.</a:t>
            </a:r>
            <a:r>
              <a:rPr lang="zh-TW" altLang="en-US" sz="2400" dirty="0"/>
              <a:t>產品應用的創新</a:t>
            </a:r>
            <a:r>
              <a:rPr lang="en-US" altLang="zh-TW" sz="2400" dirty="0"/>
              <a:t>(</a:t>
            </a:r>
            <a:r>
              <a:rPr lang="zh-TW" altLang="en-US" sz="2400" dirty="0"/>
              <a:t>結構、開發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2.</a:t>
            </a:r>
            <a:r>
              <a:rPr lang="zh-TW" altLang="en-US" sz="2400" dirty="0"/>
              <a:t>服務流程創新</a:t>
            </a:r>
            <a:r>
              <a:rPr lang="en-US" altLang="zh-TW" sz="2400" dirty="0"/>
              <a:t>(</a:t>
            </a:r>
            <a:r>
              <a:rPr lang="zh-TW" altLang="en-US" sz="2400" dirty="0"/>
              <a:t>商務科技應用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3.</a:t>
            </a:r>
            <a:r>
              <a:rPr lang="zh-TW" altLang="en-US" sz="2400" dirty="0"/>
              <a:t>行銷企劃創新</a:t>
            </a:r>
            <a:r>
              <a:rPr lang="en-US" altLang="zh-TW" sz="2400" dirty="0"/>
              <a:t>(</a:t>
            </a:r>
            <a:r>
              <a:rPr lang="zh-TW" altLang="en-US" sz="2400" dirty="0"/>
              <a:t>機制、商業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4.</a:t>
            </a:r>
            <a:r>
              <a:rPr lang="zh-TW" altLang="en-US" sz="2400" dirty="0"/>
              <a:t>創新的管理解決方案</a:t>
            </a:r>
            <a:r>
              <a:rPr lang="en-US" altLang="zh-TW" sz="2400" dirty="0"/>
              <a:t>(</a:t>
            </a:r>
            <a:r>
              <a:rPr lang="zh-TW" altLang="en-US" sz="2400" dirty="0"/>
              <a:t>管理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5.</a:t>
            </a:r>
            <a:r>
              <a:rPr lang="zh-TW" altLang="en-US" sz="2400" dirty="0"/>
              <a:t>整合性創新</a:t>
            </a:r>
            <a:r>
              <a:rPr lang="en-US" altLang="zh-TW" sz="2400" dirty="0"/>
              <a:t>(</a:t>
            </a:r>
            <a:r>
              <a:rPr lang="zh-TW" altLang="en-US" sz="2400" dirty="0"/>
              <a:t>流程、服務、管理</a:t>
            </a:r>
            <a:r>
              <a:rPr lang="en-US" altLang="zh-TW" sz="2400" dirty="0"/>
              <a:t>)</a:t>
            </a:r>
          </a:p>
          <a:p>
            <a:endParaRPr lang="en-US" altLang="zh-TW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B598EF-C69B-4DE5-8A58-7C2C32A4CCF6}"/>
              </a:ext>
            </a:extLst>
          </p:cNvPr>
          <p:cNvSpPr txBox="1"/>
          <p:nvPr/>
        </p:nvSpPr>
        <p:spPr>
          <a:xfrm>
            <a:off x="119962" y="4876729"/>
            <a:ext cx="43012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思考更多種應用項目與可行性，思考「無形」的服務或者創新策畫，善用邏輯解決更多問題。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如果是以設計創意商品為提案主體，後續期末作業便以如何行銷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廣告該項商品為主要內容。</a:t>
            </a:r>
          </a:p>
        </p:txBody>
      </p:sp>
    </p:spTree>
    <p:extLst>
      <p:ext uri="{BB962C8B-B14F-4D97-AF65-F5344CB8AC3E}">
        <p14:creationId xmlns:p14="http://schemas.microsoft.com/office/powerpoint/2010/main" val="86444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65AB8-719A-4B2B-80CD-C64B290E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581" y="0"/>
            <a:ext cx="9720072" cy="1499616"/>
          </a:xfrm>
        </p:spPr>
        <p:txBody>
          <a:bodyPr/>
          <a:lstStyle/>
          <a:p>
            <a:r>
              <a:rPr lang="zh-TW" altLang="en-US" dirty="0"/>
              <a:t>提案架構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F80EDF-3ED0-4BBD-9E0F-28E1F96D8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299411"/>
            <a:ext cx="11007451" cy="5558589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sz="2900" b="1" dirty="0">
                <a:solidFill>
                  <a:srgbClr val="FF0000"/>
                </a:solidFill>
              </a:rPr>
              <a:t>基本內容</a:t>
            </a:r>
            <a:r>
              <a:rPr lang="zh-TW" altLang="en-US" sz="2900" dirty="0"/>
              <a:t>：</a:t>
            </a:r>
            <a:endParaRPr lang="en-US" altLang="zh-TW" sz="2900" dirty="0"/>
          </a:p>
          <a:p>
            <a:r>
              <a:rPr lang="zh-TW" altLang="en-US" sz="2900" dirty="0"/>
              <a:t>請依據：需求缺口</a:t>
            </a:r>
            <a:r>
              <a:rPr lang="en-US" altLang="zh-TW" sz="2900" dirty="0"/>
              <a:t>(</a:t>
            </a:r>
            <a:r>
              <a:rPr lang="zh-TW" altLang="en-US" sz="2900" dirty="0"/>
              <a:t>發現問題</a:t>
            </a:r>
            <a:r>
              <a:rPr lang="en-US" altLang="zh-TW" sz="2900" dirty="0"/>
              <a:t>)</a:t>
            </a:r>
            <a:r>
              <a:rPr lang="zh-TW" altLang="en-US" sz="2900" dirty="0"/>
              <a:t>、類似創意 </a:t>
            </a:r>
            <a:r>
              <a:rPr lang="en-US" altLang="zh-TW" sz="2900" dirty="0"/>
              <a:t>(</a:t>
            </a:r>
            <a:r>
              <a:rPr lang="zh-TW" altLang="en-US" sz="2900" dirty="0"/>
              <a:t>已有的方法說明</a:t>
            </a:r>
            <a:r>
              <a:rPr lang="en-US" altLang="zh-TW" sz="2900" dirty="0"/>
              <a:t>)</a:t>
            </a:r>
            <a:r>
              <a:rPr lang="zh-TW" altLang="en-US" sz="2900" dirty="0"/>
              <a:t>、創意說明</a:t>
            </a:r>
            <a:r>
              <a:rPr lang="en-US" altLang="zh-TW" sz="2900" dirty="0"/>
              <a:t>(</a:t>
            </a:r>
            <a:r>
              <a:rPr lang="zh-TW" altLang="en-US" sz="2900" dirty="0"/>
              <a:t>創新方法描述</a:t>
            </a:r>
            <a:r>
              <a:rPr lang="en-US" altLang="zh-TW" sz="2900" dirty="0"/>
              <a:t>)</a:t>
            </a:r>
            <a:r>
              <a:rPr lang="zh-TW" altLang="en-US" sz="2900" dirty="0"/>
              <a:t>、效益說明</a:t>
            </a:r>
            <a:r>
              <a:rPr lang="en-US" altLang="zh-TW" sz="2900" dirty="0"/>
              <a:t>(</a:t>
            </a:r>
            <a:r>
              <a:rPr lang="zh-TW" altLang="en-US" sz="2900" dirty="0"/>
              <a:t>預期分析</a:t>
            </a:r>
            <a:r>
              <a:rPr lang="en-US" altLang="zh-TW" sz="2900" dirty="0"/>
              <a:t>)</a:t>
            </a:r>
          </a:p>
          <a:p>
            <a:r>
              <a:rPr lang="zh-TW" altLang="en-US" sz="2900" b="1" dirty="0">
                <a:solidFill>
                  <a:srgbClr val="FF0000"/>
                </a:solidFill>
              </a:rPr>
              <a:t>提案模式</a:t>
            </a:r>
            <a:r>
              <a:rPr lang="zh-TW" altLang="en-US" sz="2900" dirty="0"/>
              <a:t>：</a:t>
            </a:r>
            <a:endParaRPr lang="en-US" altLang="zh-TW" sz="2900" dirty="0"/>
          </a:p>
          <a:p>
            <a:r>
              <a:rPr lang="zh-TW" altLang="en-US" sz="2900" dirty="0"/>
              <a:t>請以</a:t>
            </a:r>
            <a:r>
              <a:rPr lang="en-US" altLang="zh-TW" sz="2900" dirty="0"/>
              <a:t>PPT</a:t>
            </a:r>
            <a:r>
              <a:rPr lang="zh-TW" altLang="en-US" sz="2900" dirty="0"/>
              <a:t>為主，圖文說明，提出上述基本內容，每一個提案篇幅頁面不限，能充分描述內容即可。</a:t>
            </a:r>
            <a:endParaRPr lang="en-US" altLang="zh-TW" sz="2900" dirty="0"/>
          </a:p>
          <a:p>
            <a:r>
              <a:rPr lang="zh-TW" altLang="en-US" sz="2900" b="1" dirty="0">
                <a:solidFill>
                  <a:srgbClr val="FF0000"/>
                </a:solidFill>
              </a:rPr>
              <a:t>提案方向</a:t>
            </a:r>
            <a:r>
              <a:rPr lang="zh-TW" altLang="en-US" sz="2900" dirty="0"/>
              <a:t>：</a:t>
            </a:r>
            <a:endParaRPr lang="en-US" altLang="zh-TW" sz="2900" dirty="0"/>
          </a:p>
          <a:p>
            <a:r>
              <a:rPr lang="zh-TW" altLang="en-US" sz="2900" dirty="0"/>
              <a:t>產品創新、服務創新、行銷創新、廣告創新、各類型創新皆可，沒有限制。</a:t>
            </a:r>
            <a:endParaRPr lang="en-US" altLang="zh-TW" sz="2900" dirty="0"/>
          </a:p>
          <a:p>
            <a:r>
              <a:rPr lang="zh-TW" altLang="en-US" sz="2900" b="1" dirty="0">
                <a:solidFill>
                  <a:srgbClr val="FF0000"/>
                </a:solidFill>
              </a:rPr>
              <a:t>重點內容</a:t>
            </a:r>
            <a:r>
              <a:rPr lang="zh-TW" altLang="en-US" sz="2900" dirty="0"/>
              <a:t>：</a:t>
            </a:r>
            <a:endParaRPr lang="en-US" altLang="zh-TW" sz="2900" dirty="0"/>
          </a:p>
          <a:p>
            <a:r>
              <a:rPr lang="zh-TW" altLang="en-US" sz="2900" dirty="0"/>
              <a:t>如以產品創新進行提案，也請思考為什麼市場會需要該項產品，請以行銷的角度思考產品設計。</a:t>
            </a:r>
            <a:endParaRPr lang="en-US" altLang="zh-TW" sz="2900" dirty="0"/>
          </a:p>
          <a:p>
            <a:r>
              <a:rPr lang="zh-TW" altLang="en-US" sz="2900" dirty="0"/>
              <a:t>如以行銷創新進行提案，也請完整描述要行銷的對象與產品還有市場的相關性，並明確說明行銷方法。</a:t>
            </a:r>
            <a:endParaRPr lang="en-US" altLang="zh-TW" sz="29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919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364F8E9-EC0D-F34D-B71D-FB1CA2BA8C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26" name="Picture 2" descr="圖二、聯合國17項永續發展目標(SDGs)(中文)">
            <a:extLst>
              <a:ext uri="{FF2B5EF4-FFF2-40B4-BE49-F238E27FC236}">
                <a16:creationId xmlns:a16="http://schemas.microsoft.com/office/drawing/2014/main" id="{DF092BF4-EE2F-C943-869F-06FD383C5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185" y="1471920"/>
            <a:ext cx="8929630" cy="512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BA10137-5B18-46B4-A8F1-EF4296B45192}"/>
              </a:ext>
            </a:extLst>
          </p:cNvPr>
          <p:cNvSpPr txBox="1"/>
          <p:nvPr/>
        </p:nvSpPr>
        <p:spPr>
          <a:xfrm>
            <a:off x="412229" y="256975"/>
            <a:ext cx="115948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創意思考與創新創業</a:t>
            </a:r>
            <a:r>
              <a:rPr lang="en-US" altLang="zh-TW" sz="3200" dirty="0"/>
              <a:t>-</a:t>
            </a:r>
            <a:r>
              <a:rPr lang="zh-TW" altLang="en-US" sz="3200" dirty="0"/>
              <a:t>創意提案主題方向</a:t>
            </a:r>
            <a:endParaRPr lang="en-US" altLang="zh-TW" sz="3200" dirty="0"/>
          </a:p>
          <a:p>
            <a:r>
              <a:rPr lang="zh-TW" altLang="en-US" sz="3200" dirty="0"/>
              <a:t>可選擇聯合國發佈的</a:t>
            </a:r>
            <a:r>
              <a:rPr lang="en-US" altLang="zh-TW" sz="3200" b="1" dirty="0">
                <a:solidFill>
                  <a:srgbClr val="FF0000"/>
                </a:solidFill>
              </a:rPr>
              <a:t>17</a:t>
            </a:r>
            <a:r>
              <a:rPr lang="zh-TW" altLang="en-US" sz="3200" b="1" dirty="0">
                <a:solidFill>
                  <a:srgbClr val="FF0000"/>
                </a:solidFill>
              </a:rPr>
              <a:t>項永續發展指標</a:t>
            </a:r>
            <a:r>
              <a:rPr lang="en-US" altLang="zh-TW" sz="3200" b="1" dirty="0">
                <a:solidFill>
                  <a:srgbClr val="FF0000"/>
                </a:solidFill>
              </a:rPr>
              <a:t>(SDGS)</a:t>
            </a:r>
            <a:r>
              <a:rPr lang="zh-TW" altLang="en-US" sz="3200" dirty="0"/>
              <a:t>當作創新主題。</a:t>
            </a:r>
          </a:p>
        </p:txBody>
      </p:sp>
    </p:spTree>
    <p:extLst>
      <p:ext uri="{BB962C8B-B14F-4D97-AF65-F5344CB8AC3E}">
        <p14:creationId xmlns:p14="http://schemas.microsoft.com/office/powerpoint/2010/main" val="379525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圖三、17項永續發展目標(SDGs)的三大面向">
            <a:extLst>
              <a:ext uri="{FF2B5EF4-FFF2-40B4-BE49-F238E27FC236}">
                <a16:creationId xmlns:a16="http://schemas.microsoft.com/office/drawing/2014/main" id="{6FC30DFB-C4A4-9543-BDFD-AA6AFC7EA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084" y="1760325"/>
            <a:ext cx="6709579" cy="50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FF4947A-95EE-415F-90F4-6F6E710EB26E}"/>
              </a:ext>
            </a:extLst>
          </p:cNvPr>
          <p:cNvSpPr txBox="1"/>
          <p:nvPr/>
        </p:nvSpPr>
        <p:spPr>
          <a:xfrm>
            <a:off x="1068049" y="493798"/>
            <a:ext cx="107142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FF0000"/>
                </a:solidFill>
              </a:rPr>
              <a:t>17</a:t>
            </a:r>
            <a:r>
              <a:rPr lang="zh-TW" altLang="en-US" sz="3200" b="1" dirty="0">
                <a:solidFill>
                  <a:srgbClr val="FF0000"/>
                </a:solidFill>
              </a:rPr>
              <a:t>項永續發展指標</a:t>
            </a:r>
            <a:r>
              <a:rPr lang="en-US" altLang="zh-TW" sz="3200" b="1" dirty="0">
                <a:solidFill>
                  <a:srgbClr val="FF0000"/>
                </a:solidFill>
              </a:rPr>
              <a:t>(SDGS)</a:t>
            </a:r>
            <a:r>
              <a:rPr lang="zh-TW" altLang="en-US" sz="3200" b="1" dirty="0">
                <a:solidFill>
                  <a:srgbClr val="FF0000"/>
                </a:solidFill>
              </a:rPr>
              <a:t>介紹</a:t>
            </a:r>
            <a:r>
              <a:rPr lang="zh-TW" altLang="en-US" sz="3200" dirty="0"/>
              <a:t>：</a:t>
            </a:r>
            <a:r>
              <a:rPr lang="en-US" altLang="zh-TW" sz="3200" dirty="0">
                <a:hlinkClick r:id="rId3"/>
              </a:rPr>
              <a:t>https://futurecity.cw.com.tw/article/1867</a:t>
            </a:r>
            <a:endParaRPr lang="en-US" altLang="zh-TW" sz="3200" dirty="0"/>
          </a:p>
          <a:p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2975706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15837-331E-4389-B89C-F265D6111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主題式提案範例</a:t>
            </a:r>
            <a:br>
              <a:rPr lang="en-US" altLang="zh-TW" sz="4000" dirty="0"/>
            </a:br>
            <a:r>
              <a:rPr lang="zh-TW" altLang="en-US" sz="4000" dirty="0"/>
              <a:t>一個主題</a:t>
            </a:r>
            <a:r>
              <a:rPr lang="en-US" altLang="zh-TW" sz="4000" dirty="0"/>
              <a:t>-</a:t>
            </a:r>
            <a:r>
              <a:rPr lang="zh-TW" altLang="en-US" sz="4000" dirty="0"/>
              <a:t>思考多個創新提案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28E65B-461B-429E-826B-94C35163B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白乃遠 老師</a:t>
            </a:r>
            <a:br>
              <a:rPr lang="en-US" altLang="zh-TW" dirty="0"/>
            </a:br>
            <a:r>
              <a:rPr lang="en-US" altLang="zh-TW" dirty="0"/>
              <a:t>Line</a:t>
            </a:r>
            <a:r>
              <a:rPr lang="zh-TW" altLang="en-US" dirty="0"/>
              <a:t>：</a:t>
            </a:r>
            <a:r>
              <a:rPr lang="en-US" altLang="zh-TW" dirty="0" err="1"/>
              <a:t>billy_pai</a:t>
            </a:r>
            <a:endParaRPr lang="en-US" altLang="zh-TW" dirty="0"/>
          </a:p>
          <a:p>
            <a:r>
              <a:rPr lang="en-US" altLang="zh-TW" dirty="0"/>
              <a:t>FB</a:t>
            </a:r>
            <a:r>
              <a:rPr lang="zh-TW" altLang="en-US" dirty="0"/>
              <a:t>：</a:t>
            </a:r>
            <a:r>
              <a:rPr lang="en-US" altLang="zh-TW" dirty="0"/>
              <a:t>Pai Xiao Pai</a:t>
            </a:r>
          </a:p>
          <a:p>
            <a:r>
              <a:rPr lang="en-US" altLang="zh-TW" dirty="0"/>
              <a:t>Mail</a:t>
            </a:r>
            <a:r>
              <a:rPr lang="zh-TW" altLang="en-US" dirty="0"/>
              <a:t>：</a:t>
            </a:r>
            <a:r>
              <a:rPr lang="en-US" altLang="zh-TW" dirty="0"/>
              <a:t>billy_pai@hotmail.com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1285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01-1</a:t>
            </a:r>
            <a:r>
              <a:rPr lang="zh-TW" altLang="en-US" sz="2800" dirty="0"/>
              <a:t>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114AB8-0AA4-70F4-5AFF-29CAEC9D3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1172506"/>
            <a:ext cx="9720072" cy="547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35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01-2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781EF0-2528-4345-CE4A-A9F083804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420" y="1260985"/>
            <a:ext cx="10411326" cy="53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77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01-3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80E19DF-4F0F-692A-CFCD-C1E5001D7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04" y="1719246"/>
            <a:ext cx="11438021" cy="486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01-4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5C8CA72-FD23-22CD-A0D2-BC0BDB218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1110306"/>
            <a:ext cx="10744200" cy="543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01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01-5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7D7FBB-3EB5-B808-EDA6-BC9F8A629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924450"/>
            <a:ext cx="10571747" cy="59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01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01-6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CBC150-882A-D443-AC46-5D72070D0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" y="1317264"/>
            <a:ext cx="11167872" cy="514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37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01-7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98E3D2B-60BF-7129-559D-CDF3EB12F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3" y="1061461"/>
            <a:ext cx="10892589" cy="541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20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01-8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3FA965-C81A-CF49-CA49-CCAB116A7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84" y="1061266"/>
            <a:ext cx="10744200" cy="565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15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01-9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9B32F2-30FC-09CF-1587-DD23A74A8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1141493"/>
            <a:ext cx="10347158" cy="571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00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主題試提案範例</a:t>
            </a:r>
            <a:r>
              <a:rPr lang="en-US" altLang="zh-TW" sz="2800" dirty="0"/>
              <a:t>01-10</a:t>
            </a:r>
            <a:r>
              <a:rPr lang="zh-TW" altLang="en-US" sz="2800" dirty="0"/>
              <a:t>  </a:t>
            </a: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DDCE6C-6A06-00FE-8095-3DA28A6DD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19" y="1076262"/>
            <a:ext cx="10171053" cy="578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9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A15837-331E-4389-B89C-F265D6111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個別提案範例</a:t>
            </a:r>
            <a:br>
              <a:rPr lang="en-US" altLang="zh-TW" sz="4000" dirty="0"/>
            </a:br>
            <a:r>
              <a:rPr lang="zh-TW" altLang="en-US" sz="4000" dirty="0"/>
              <a:t>思考單個問題，提出創新提案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28E65B-461B-429E-826B-94C35163B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白乃遠 老師</a:t>
            </a:r>
            <a:br>
              <a:rPr lang="en-US" altLang="zh-TW" dirty="0"/>
            </a:br>
            <a:r>
              <a:rPr lang="en-US" altLang="zh-TW" dirty="0"/>
              <a:t>Line</a:t>
            </a:r>
            <a:r>
              <a:rPr lang="zh-TW" altLang="en-US" dirty="0"/>
              <a:t>：</a:t>
            </a:r>
            <a:r>
              <a:rPr lang="en-US" altLang="zh-TW" dirty="0" err="1"/>
              <a:t>billy_pai</a:t>
            </a:r>
            <a:endParaRPr lang="en-US" altLang="zh-TW" dirty="0"/>
          </a:p>
          <a:p>
            <a:r>
              <a:rPr lang="en-US" altLang="zh-TW" dirty="0"/>
              <a:t>FB</a:t>
            </a:r>
            <a:r>
              <a:rPr lang="zh-TW" altLang="en-US" dirty="0"/>
              <a:t>：</a:t>
            </a:r>
            <a:r>
              <a:rPr lang="en-US" altLang="zh-TW" dirty="0"/>
              <a:t>Pai Xiao Pai</a:t>
            </a:r>
          </a:p>
          <a:p>
            <a:r>
              <a:rPr lang="en-US" altLang="zh-TW" dirty="0"/>
              <a:t>Mail</a:t>
            </a:r>
            <a:r>
              <a:rPr lang="zh-TW" altLang="en-US" dirty="0"/>
              <a:t>：</a:t>
            </a:r>
            <a:r>
              <a:rPr lang="en-US" altLang="zh-TW" dirty="0"/>
              <a:t>billy_pai@hotmail.com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2971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263E42-2A7B-43EB-AEA1-DA33721FE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01561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範例欣賞</a:t>
            </a:r>
            <a:r>
              <a:rPr lang="en-US" altLang="zh-TW" sz="2800" dirty="0"/>
              <a:t>A</a:t>
            </a:r>
            <a:br>
              <a:rPr lang="en-US" altLang="zh-TW" sz="2800" dirty="0"/>
            </a:br>
            <a:r>
              <a:rPr lang="en-US" altLang="zh-TW" sz="2800" dirty="0"/>
              <a:t>(2019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6D7539-B1A3-42D0-9409-29A2F4A2D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44" y="2084832"/>
            <a:ext cx="4175614" cy="33213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911F6C1-5EF8-4A6B-8AD1-5F3CBB692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315" y="231131"/>
            <a:ext cx="3964959" cy="235525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881C40D-89AB-41C0-BAF5-6275E17B4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369" y="2728945"/>
            <a:ext cx="4502905" cy="253468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A1938EF-29AB-40FC-A9E3-6597DF2375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315" y="5406189"/>
            <a:ext cx="4656793" cy="11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32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C9209-FAF4-469C-80E9-B9A8A33D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037" y="0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範例欣賞</a:t>
            </a:r>
            <a:r>
              <a:rPr lang="en-US" altLang="zh-TW" sz="2800" dirty="0"/>
              <a:t>B</a:t>
            </a:r>
            <a:br>
              <a:rPr lang="en-US" altLang="zh-TW" sz="2800" dirty="0"/>
            </a:br>
            <a:r>
              <a:rPr lang="en-US" altLang="zh-TW" sz="2800" dirty="0"/>
              <a:t>(2019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357270-3ED6-4854-8F0B-4BB2F6F42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01" y="1321932"/>
            <a:ext cx="5902200" cy="283044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8D6DBCF-A846-4A0E-BD9F-2B9679941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94" y="4152380"/>
            <a:ext cx="6096000" cy="252085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E09C831-02AC-40CB-AD9C-E7055FA7E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01" y="526552"/>
            <a:ext cx="6020363" cy="29024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90C6AC1-F3DE-48B0-9D0E-88836DFAE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059" y="3429000"/>
            <a:ext cx="5763040" cy="316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50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09008-E62A-45D0-B0C4-2252D021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16" y="2317764"/>
            <a:ext cx="1895534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範例欣賞</a:t>
            </a:r>
            <a:r>
              <a:rPr lang="en-US" altLang="zh-TW" sz="2800" dirty="0"/>
              <a:t>C</a:t>
            </a:r>
            <a:br>
              <a:rPr lang="en-US" altLang="zh-TW" sz="2800" dirty="0"/>
            </a:b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08ECA33-3F04-FF0C-FECC-F989854BC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335" y="225621"/>
            <a:ext cx="8992854" cy="640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60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09008-E62A-45D0-B0C4-2252D021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16" y="2317764"/>
            <a:ext cx="1895534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範例欣賞</a:t>
            </a:r>
            <a:r>
              <a:rPr lang="en-US" altLang="zh-TW" sz="2800" dirty="0"/>
              <a:t>D</a:t>
            </a:r>
            <a:br>
              <a:rPr lang="en-US" altLang="zh-TW" sz="2800" dirty="0"/>
            </a:b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B7525C-1C32-4D8A-5EE8-71AFD1278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727" y="524941"/>
            <a:ext cx="9654557" cy="52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2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FF81D7-F837-4EB1-BF61-B60586D5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0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範例欣賞</a:t>
            </a:r>
            <a:r>
              <a:rPr lang="en-US" altLang="zh-TW" sz="2800" dirty="0"/>
              <a:t>E</a:t>
            </a:r>
            <a:br>
              <a:rPr lang="en-US" altLang="zh-TW" sz="2800" dirty="0"/>
            </a:br>
            <a:r>
              <a:rPr lang="en-US" altLang="zh-TW" sz="2800" dirty="0"/>
              <a:t>(2019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8A17D62-C9ED-4A29-BDA7-1ECC02488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74" y="1293230"/>
            <a:ext cx="2502029" cy="41277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4EC47A4-51F2-4C43-B0D0-04EB1B29C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514" y="2099739"/>
            <a:ext cx="1619333" cy="46357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30B82EE-8356-4173-9549-E672C9691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50" y="2563313"/>
            <a:ext cx="6401984" cy="116059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C6F800A-5B2F-44C7-9F5D-527FFEB779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3723907"/>
            <a:ext cx="5061770" cy="304471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AA04E1D-76AF-481C-A3B8-032D50D4CE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91" y="2331526"/>
            <a:ext cx="5042159" cy="351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86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範例欣賞</a:t>
            </a:r>
            <a:r>
              <a:rPr lang="en-US" altLang="zh-TW" sz="2800" dirty="0"/>
              <a:t>F</a:t>
            </a:r>
            <a:br>
              <a:rPr lang="en-US" altLang="zh-TW" sz="2800" dirty="0"/>
            </a:br>
            <a:r>
              <a:rPr lang="en-US" altLang="zh-TW" sz="2800" dirty="0"/>
              <a:t>(2019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EC5CB0-5655-49B8-B5C3-591BB283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7" y="1118842"/>
            <a:ext cx="5374549" cy="21786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A160C0E-DCA1-48A1-843A-FF8266F9C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3305030"/>
            <a:ext cx="5516343" cy="351904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74F81D6-2171-4934-A521-51C3A3648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471" y="1242812"/>
            <a:ext cx="5483177" cy="275410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F5F86C2-A64D-461E-9E1D-87491F1D29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472" y="4393698"/>
            <a:ext cx="5426939" cy="15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0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C077B1-60B5-4090-AE7B-B459C9B2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12834"/>
            <a:ext cx="9720072" cy="1499616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創新提案</a:t>
            </a:r>
            <a:r>
              <a:rPr lang="en-US" altLang="zh-TW" sz="2800" dirty="0"/>
              <a:t>-</a:t>
            </a:r>
            <a:r>
              <a:rPr lang="zh-TW" altLang="en-US" sz="2800" dirty="0"/>
              <a:t>範例欣賞</a:t>
            </a:r>
            <a:r>
              <a:rPr lang="en-US" altLang="zh-TW" sz="2800" dirty="0"/>
              <a:t>G</a:t>
            </a:r>
            <a:br>
              <a:rPr lang="en-US" altLang="zh-TW" sz="2800" dirty="0"/>
            </a:br>
            <a:r>
              <a:rPr lang="en-US" altLang="zh-TW" sz="2800" dirty="0"/>
              <a:t>(2022</a:t>
            </a:r>
            <a:r>
              <a:rPr lang="zh-TW" altLang="en-US" sz="2800" dirty="0"/>
              <a:t>年學生提案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607F2A-6342-BB63-AEAE-EA187AD3B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11" y="1226545"/>
            <a:ext cx="10074442" cy="555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33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要素">
  <a:themeElements>
    <a:clrScheme name="要素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要素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要素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497</TotalTime>
  <Words>1507</Words>
  <Application>Microsoft Office PowerPoint</Application>
  <PresentationFormat>寬螢幕</PresentationFormat>
  <Paragraphs>114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DFHeiMedium-B5</vt:lpstr>
      <vt:lpstr>微軟正黑體</vt:lpstr>
      <vt:lpstr>Tw Cen MT</vt:lpstr>
      <vt:lpstr>Tw Cen MT Condensed</vt:lpstr>
      <vt:lpstr>Wingdings 3</vt:lpstr>
      <vt:lpstr>要素</vt:lpstr>
      <vt:lpstr>設計與創新思考 課程大綱與作業說明 平時作業</vt:lpstr>
      <vt:lpstr>設計與創新思考 三次(天)上課日期</vt:lpstr>
      <vt:lpstr>創意思考+創新策略+創新管理=創新策略課程大綱</vt:lpstr>
      <vt:lpstr> 設計與創新思考兩次課程 作業說明</vt:lpstr>
      <vt:lpstr>平時作業-創新策略提案作業</vt:lpstr>
      <vt:lpstr>創意思考與創新創業 兩次提案作業繳交說明</vt:lpstr>
      <vt:lpstr>創意思考與創新創業課程 兩次創意提案作業提案內容規範</vt:lpstr>
      <vt:lpstr>設計與創新思考提案 主題思考項目的選擇</vt:lpstr>
      <vt:lpstr>提案架構</vt:lpstr>
      <vt:lpstr>PowerPoint 簡報</vt:lpstr>
      <vt:lpstr>PowerPoint 簡報</vt:lpstr>
      <vt:lpstr>主題式提案範例 一個主題-思考多個創新提案</vt:lpstr>
      <vt:lpstr>創新提案-主題試提案範例01-1 (2022年學生提案)</vt:lpstr>
      <vt:lpstr>創新提案-主題試提案範例01-2  (2022年學生提案)</vt:lpstr>
      <vt:lpstr>創新提案-主題試提案範例01-3  (2022年學生提案)</vt:lpstr>
      <vt:lpstr>創新提案-主題試提案範例01-4  (2022年學生提案)</vt:lpstr>
      <vt:lpstr>創新提案-主題試提案範例01-5  (2022年學生提案)</vt:lpstr>
      <vt:lpstr>創新提案-主題試提案範例01-6  (2022年學生提案)</vt:lpstr>
      <vt:lpstr>創新提案-主題試提案範例01-7  (2022年學生提案)</vt:lpstr>
      <vt:lpstr>創新提案-主題試提案範例01-8  (2022年學生提案)</vt:lpstr>
      <vt:lpstr>創新提案-主題試提案範例01-9  (2022年學生提案)</vt:lpstr>
      <vt:lpstr>創新提案-主題試提案範例01-10  (2022年學生提案)</vt:lpstr>
      <vt:lpstr>個別提案範例 思考單個問題，提出創新提案</vt:lpstr>
      <vt:lpstr>創新提案-範例欣賞A (2019年學生提案)</vt:lpstr>
      <vt:lpstr>創新提案-範例欣賞B (2019年學生提案)</vt:lpstr>
      <vt:lpstr>創新提案-範例欣賞C (2022年學生提案)</vt:lpstr>
      <vt:lpstr>創新提案-範例欣賞D (2022年學生提案)</vt:lpstr>
      <vt:lpstr>創新提案-範例欣賞E (2019年學生提案)</vt:lpstr>
      <vt:lpstr>創新提案-範例欣賞F (2019年學生提案)</vt:lpstr>
      <vt:lpstr>創新提案-範例欣賞G (2022年學生提案)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設計思維-作業說明</dc:title>
  <dc:creator>Billy</dc:creator>
  <cp:lastModifiedBy>乃遠 白</cp:lastModifiedBy>
  <cp:revision>35</cp:revision>
  <dcterms:created xsi:type="dcterms:W3CDTF">2020-03-16T04:46:39Z</dcterms:created>
  <dcterms:modified xsi:type="dcterms:W3CDTF">2024-10-24T16:01:21Z</dcterms:modified>
</cp:coreProperties>
</file>